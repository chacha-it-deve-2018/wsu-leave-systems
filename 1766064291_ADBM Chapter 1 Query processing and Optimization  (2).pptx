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440" r:id="rId3"/>
    <p:sldId id="270" r:id="rId5"/>
    <p:sldId id="439" r:id="rId6"/>
    <p:sldId id="259" r:id="rId7"/>
    <p:sldId id="376" r:id="rId8"/>
    <p:sldId id="441" r:id="rId9"/>
    <p:sldId id="377" r:id="rId10"/>
    <p:sldId id="378" r:id="rId11"/>
    <p:sldId id="379" r:id="rId12"/>
    <p:sldId id="380" r:id="rId13"/>
    <p:sldId id="385" r:id="rId14"/>
    <p:sldId id="442" r:id="rId15"/>
    <p:sldId id="381" r:id="rId16"/>
    <p:sldId id="382" r:id="rId17"/>
    <p:sldId id="383" r:id="rId18"/>
    <p:sldId id="384" r:id="rId19"/>
    <p:sldId id="443" r:id="rId20"/>
    <p:sldId id="444" r:id="rId21"/>
    <p:sldId id="388" r:id="rId22"/>
    <p:sldId id="389" r:id="rId23"/>
    <p:sldId id="390" r:id="rId24"/>
    <p:sldId id="391" r:id="rId25"/>
    <p:sldId id="446" r:id="rId26"/>
    <p:sldId id="447" r:id="rId27"/>
    <p:sldId id="280" r:id="rId28"/>
    <p:sldId id="394" r:id="rId29"/>
    <p:sldId id="396" r:id="rId30"/>
    <p:sldId id="397" r:id="rId31"/>
    <p:sldId id="445" r:id="rId32"/>
    <p:sldId id="412" r:id="rId33"/>
    <p:sldId id="398" r:id="rId34"/>
    <p:sldId id="399" r:id="rId35"/>
    <p:sldId id="400" r:id="rId36"/>
    <p:sldId id="401" r:id="rId37"/>
    <p:sldId id="425" r:id="rId38"/>
    <p:sldId id="402" r:id="rId39"/>
    <p:sldId id="419" r:id="rId40"/>
    <p:sldId id="420" r:id="rId41"/>
    <p:sldId id="421" r:id="rId42"/>
    <p:sldId id="422" r:id="rId43"/>
    <p:sldId id="423" r:id="rId44"/>
    <p:sldId id="405" r:id="rId45"/>
    <p:sldId id="406" r:id="rId46"/>
    <p:sldId id="407" r:id="rId47"/>
    <p:sldId id="448" r:id="rId48"/>
    <p:sldId id="449" r:id="rId49"/>
    <p:sldId id="450" r:id="rId50"/>
    <p:sldId id="409" r:id="rId51"/>
    <p:sldId id="403" r:id="rId52"/>
    <p:sldId id="41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74" autoAdjust="0"/>
    <p:restoredTop sz="76460" autoAdjust="0"/>
  </p:normalViewPr>
  <p:slideViewPr>
    <p:cSldViewPr snapToGrid="0">
      <p:cViewPr varScale="1">
        <p:scale>
          <a:sx n="86" d="100"/>
          <a:sy n="86" d="100"/>
        </p:scale>
        <p:origin x="138" y="90"/>
      </p:cViewPr>
      <p:guideLst/>
    </p:cSldViewPr>
  </p:slideViewPr>
  <p:outlineViewPr>
    <p:cViewPr>
      <p:scale>
        <a:sx n="33" d="100"/>
        <a:sy n="33" d="100"/>
      </p:scale>
      <p:origin x="0" y="-882"/>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C180D-AB51-4095-8CBE-12F5AF31881D}"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5BA9C1-D5D6-4DE9-9B1D-FB8F15D1463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
        <p:nvSpPr>
          <p:cNvPr id="4" name="Slide Number Placeholder 3"/>
          <p:cNvSpPr>
            <a:spLocks noGrp="1"/>
          </p:cNvSpPr>
          <p:nvPr>
            <p:ph type="sldNum" sz="quarter" idx="5"/>
          </p:nvPr>
        </p:nvSpPr>
        <p:spPr/>
        <p:txBody>
          <a:bodyPr/>
          <a:lstStyle/>
          <a:p>
            <a:pPr lvl="0" algn="r" eaLnBrk="1" hangingPunct="1">
              <a:buNone/>
            </a:pPr>
            <a:fld id="{9A0DB2DC-4C9A-4742-B13C-FB6460FD3503}" type="slidenum">
              <a:rPr lang="en-CA" altLang="en-US" sz="1200" dirty="0">
                <a:latin typeface="Tahoma" panose="020B0604030504040204" pitchFamily="34" charset="0"/>
              </a:rPr>
            </a:fld>
            <a:endParaRPr lang="en-CA" altLang="en-US" sz="1200" dirty="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query tree is used to represent a rela_x0002_tional algebra or extended relational algebra expression, whereas a query graph is </a:t>
            </a:r>
            <a:endParaRPr lang="en-US"/>
          </a:p>
          <a:p>
            <a:r>
              <a:rPr lang="en-US"/>
              <a:t>used to represent a relational calculus expression.,</a:t>
            </a:r>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The Optimizer determines the most efficient execution plan for each SQL statement based on the structure of the query, the available statistical information about the underlying objects, and all the relevant optimizer and execution features</a:t>
            </a:r>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65BA9C1-D5D6-4DE9-9B1D-FB8F15D14639}"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A8425DC4-F01E-4B71-BBAD-832B060EED7B}" type="datetime1">
              <a:rPr lang="en-US" smtClean="0"/>
            </a:fld>
            <a:endParaRPr lang="en-US"/>
          </a:p>
        </p:txBody>
      </p:sp>
      <p:sp>
        <p:nvSpPr>
          <p:cNvPr id="5" name="Footer Placeholder 4"/>
          <p:cNvSpPr>
            <a:spLocks noGrp="1"/>
          </p:cNvSpPr>
          <p:nvPr>
            <p:ph type="ftr" sz="quarter" idx="11"/>
          </p:nvPr>
        </p:nvSpPr>
        <p:spPr/>
        <p:txBody>
          <a:bodyPr/>
          <a:lstStyle/>
          <a:p>
            <a:r>
              <a:rPr lang="en-US"/>
              <a:t>MAD-Compiled by Biruk S.</a:t>
            </a:r>
            <a:endParaRPr lang="en-US"/>
          </a:p>
        </p:txBody>
      </p:sp>
      <p:sp>
        <p:nvSpPr>
          <p:cNvPr id="6" name="Slide Number Placeholder 5"/>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E1FA376-35E1-4366-82EF-2DB7D5CE024C}" type="datetime1">
              <a:rPr lang="en-US" smtClean="0"/>
            </a:fld>
            <a:endParaRPr lang="en-US"/>
          </a:p>
        </p:txBody>
      </p:sp>
      <p:sp>
        <p:nvSpPr>
          <p:cNvPr id="5" name="Footer Placeholder 4"/>
          <p:cNvSpPr>
            <a:spLocks noGrp="1"/>
          </p:cNvSpPr>
          <p:nvPr>
            <p:ph type="ftr" sz="quarter" idx="11"/>
          </p:nvPr>
        </p:nvSpPr>
        <p:spPr/>
        <p:txBody>
          <a:bodyPr/>
          <a:lstStyle/>
          <a:p>
            <a:r>
              <a:rPr lang="en-US"/>
              <a:t>MAD-Compiled by Biruk S.</a:t>
            </a:r>
            <a:endParaRPr lang="en-US"/>
          </a:p>
        </p:txBody>
      </p:sp>
      <p:sp>
        <p:nvSpPr>
          <p:cNvPr id="6" name="Slide Number Placeholder 5"/>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C613BE21-519E-45E8-8CC3-EA75B5A9A7DB}" type="datetime1">
              <a:rPr lang="en-US" smtClean="0"/>
            </a:fld>
            <a:endParaRPr lang="en-US"/>
          </a:p>
        </p:txBody>
      </p:sp>
      <p:sp>
        <p:nvSpPr>
          <p:cNvPr id="5" name="Footer Placeholder 4"/>
          <p:cNvSpPr>
            <a:spLocks noGrp="1"/>
          </p:cNvSpPr>
          <p:nvPr>
            <p:ph type="ftr" sz="quarter" idx="11"/>
          </p:nvPr>
        </p:nvSpPr>
        <p:spPr/>
        <p:txBody>
          <a:bodyPr/>
          <a:lstStyle/>
          <a:p>
            <a:r>
              <a:rPr lang="en-US"/>
              <a:t>MAD-Compiled by Biruk S.</a:t>
            </a:r>
            <a:endParaRPr lang="en-US"/>
          </a:p>
        </p:txBody>
      </p:sp>
      <p:sp>
        <p:nvSpPr>
          <p:cNvPr id="6" name="Slide Number Placeholder 5"/>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FE2071A-47AC-4F1E-8167-7A58A9FB3E43}" type="datetime1">
              <a:rPr lang="en-US" smtClean="0"/>
            </a:fld>
            <a:endParaRPr lang="en-US"/>
          </a:p>
        </p:txBody>
      </p:sp>
      <p:sp>
        <p:nvSpPr>
          <p:cNvPr id="6" name="Footer Placeholder 5"/>
          <p:cNvSpPr>
            <a:spLocks noGrp="1"/>
          </p:cNvSpPr>
          <p:nvPr>
            <p:ph type="ftr" sz="quarter" idx="11"/>
          </p:nvPr>
        </p:nvSpPr>
        <p:spPr/>
        <p:txBody>
          <a:bodyPr/>
          <a:lstStyle/>
          <a:p>
            <a:r>
              <a:rPr lang="en-US"/>
              <a:t>MAD-Compiled by Biruk S.</a:t>
            </a:r>
            <a:endParaRPr lang="en-US"/>
          </a:p>
        </p:txBody>
      </p:sp>
      <p:sp>
        <p:nvSpPr>
          <p:cNvPr id="7" name="Slide Number Placeholder 6"/>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33CB093-C2B3-4FFA-B5C1-4D83488E1B8C}" type="datetime1">
              <a:rPr lang="en-US" smtClean="0"/>
            </a:fld>
            <a:endParaRPr lang="en-US"/>
          </a:p>
        </p:txBody>
      </p:sp>
      <p:sp>
        <p:nvSpPr>
          <p:cNvPr id="8" name="Footer Placeholder 7"/>
          <p:cNvSpPr>
            <a:spLocks noGrp="1"/>
          </p:cNvSpPr>
          <p:nvPr>
            <p:ph type="ftr" sz="quarter" idx="11"/>
          </p:nvPr>
        </p:nvSpPr>
        <p:spPr/>
        <p:txBody>
          <a:bodyPr/>
          <a:lstStyle/>
          <a:p>
            <a:r>
              <a:rPr lang="en-US"/>
              <a:t>MAD-Compiled by Biruk S.</a:t>
            </a:r>
            <a:endParaRPr lang="en-US"/>
          </a:p>
        </p:txBody>
      </p:sp>
      <p:sp>
        <p:nvSpPr>
          <p:cNvPr id="9" name="Slide Number Placeholder 8"/>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B29EB108-1187-4BB7-A4D9-63868EAFB97B}" type="datetime1">
              <a:rPr lang="en-US" smtClean="0"/>
            </a:fld>
            <a:endParaRPr lang="en-US"/>
          </a:p>
        </p:txBody>
      </p:sp>
      <p:sp>
        <p:nvSpPr>
          <p:cNvPr id="4" name="Footer Placeholder 3"/>
          <p:cNvSpPr>
            <a:spLocks noGrp="1"/>
          </p:cNvSpPr>
          <p:nvPr>
            <p:ph type="ftr" sz="quarter" idx="11"/>
          </p:nvPr>
        </p:nvSpPr>
        <p:spPr/>
        <p:txBody>
          <a:bodyPr/>
          <a:lstStyle/>
          <a:p>
            <a:r>
              <a:rPr lang="en-US"/>
              <a:t>MAD-Compiled by Biruk S.</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C8E5CCE-D7C2-4338-B7A0-28FEAC027165}" type="datetime1">
              <a:rPr lang="en-US" smtClean="0"/>
            </a:fld>
            <a:endParaRPr lang="en-US"/>
          </a:p>
        </p:txBody>
      </p:sp>
      <p:sp>
        <p:nvSpPr>
          <p:cNvPr id="3" name="Footer Placeholder 2"/>
          <p:cNvSpPr>
            <a:spLocks noGrp="1"/>
          </p:cNvSpPr>
          <p:nvPr>
            <p:ph type="ftr" sz="quarter" idx="11"/>
          </p:nvPr>
        </p:nvSpPr>
        <p:spPr/>
        <p:txBody>
          <a:bodyPr/>
          <a:lstStyle/>
          <a:p>
            <a:r>
              <a:rPr lang="en-US"/>
              <a:t>MAD-Compiled by Biruk S.</a:t>
            </a:r>
            <a:endParaRPr lang="en-US"/>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39E85993-4F2F-4159-93B8-C2A51407C10E}" type="datetime1">
              <a:rPr lang="en-US" smtClean="0"/>
            </a:fld>
            <a:endParaRPr lang="en-US"/>
          </a:p>
        </p:txBody>
      </p:sp>
      <p:sp>
        <p:nvSpPr>
          <p:cNvPr id="6" name="Footer Placeholder 5"/>
          <p:cNvSpPr>
            <a:spLocks noGrp="1"/>
          </p:cNvSpPr>
          <p:nvPr>
            <p:ph type="ftr" sz="quarter" idx="11"/>
          </p:nvPr>
        </p:nvSpPr>
        <p:spPr/>
        <p:txBody>
          <a:bodyPr/>
          <a:lstStyle/>
          <a:p>
            <a:r>
              <a:rPr lang="en-US"/>
              <a:t>MAD-Compiled by Biruk S.</a:t>
            </a:r>
            <a:endParaRPr lang="en-US"/>
          </a:p>
        </p:txBody>
      </p:sp>
      <p:sp>
        <p:nvSpPr>
          <p:cNvPr id="7" name="Slide Number Placeholder 6"/>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A7A3862B-7945-4107-9580-F084B891EA2C}" type="datetime1">
              <a:rPr lang="en-US" smtClean="0"/>
            </a:fld>
            <a:endParaRPr lang="en-US"/>
          </a:p>
        </p:txBody>
      </p:sp>
      <p:sp>
        <p:nvSpPr>
          <p:cNvPr id="6" name="Footer Placeholder 5"/>
          <p:cNvSpPr>
            <a:spLocks noGrp="1"/>
          </p:cNvSpPr>
          <p:nvPr>
            <p:ph type="ftr" sz="quarter" idx="11"/>
          </p:nvPr>
        </p:nvSpPr>
        <p:spPr/>
        <p:txBody>
          <a:bodyPr/>
          <a:lstStyle/>
          <a:p>
            <a:r>
              <a:rPr lang="en-US"/>
              <a:t>MAD-Compiled by Biruk S.</a:t>
            </a:r>
            <a:endParaRPr lang="en-US"/>
          </a:p>
        </p:txBody>
      </p:sp>
      <p:sp>
        <p:nvSpPr>
          <p:cNvPr id="7" name="Slide Number Placeholder 6"/>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B5673E74-BD8D-4A07-8D0D-2F8F8F5F7599}" type="datetime1">
              <a:rPr lang="en-US" smtClean="0"/>
            </a:fld>
            <a:endParaRPr lang="en-US"/>
          </a:p>
        </p:txBody>
      </p:sp>
      <p:sp>
        <p:nvSpPr>
          <p:cNvPr id="5" name="Footer Placeholder 4"/>
          <p:cNvSpPr>
            <a:spLocks noGrp="1"/>
          </p:cNvSpPr>
          <p:nvPr>
            <p:ph type="ftr" sz="quarter" idx="11"/>
          </p:nvPr>
        </p:nvSpPr>
        <p:spPr/>
        <p:txBody>
          <a:bodyPr/>
          <a:lstStyle/>
          <a:p>
            <a:r>
              <a:rPr lang="en-US"/>
              <a:t>MAD-Compiled by Biruk S.</a:t>
            </a:r>
            <a:endParaRPr lang="en-US"/>
          </a:p>
        </p:txBody>
      </p:sp>
      <p:sp>
        <p:nvSpPr>
          <p:cNvPr id="6" name="Slide Number Placeholder 5"/>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DFEB7985-6E78-4FE4-9F3E-3F01A50B150D}" type="datetime1">
              <a:rPr lang="en-US" smtClean="0"/>
            </a:fld>
            <a:endParaRPr lang="en-US"/>
          </a:p>
        </p:txBody>
      </p:sp>
      <p:sp>
        <p:nvSpPr>
          <p:cNvPr id="5" name="Footer Placeholder 4"/>
          <p:cNvSpPr>
            <a:spLocks noGrp="1"/>
          </p:cNvSpPr>
          <p:nvPr>
            <p:ph type="ftr" sz="quarter" idx="11"/>
          </p:nvPr>
        </p:nvSpPr>
        <p:spPr/>
        <p:txBody>
          <a:bodyPr/>
          <a:lstStyle/>
          <a:p>
            <a:r>
              <a:rPr lang="en-US"/>
              <a:t>MAD-Compiled by Biruk S.</a:t>
            </a:r>
            <a:endParaRPr lang="en-US"/>
          </a:p>
        </p:txBody>
      </p:sp>
      <p:sp>
        <p:nvSpPr>
          <p:cNvPr id="6" name="Slide Number Placeholder 5"/>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B2D3844-32A8-447E-B96C-8EA6E5782272}" type="datetime1">
              <a:rPr lang="en-US" smtClean="0"/>
            </a:fld>
            <a:endParaRPr lang="en-US"/>
          </a:p>
        </p:txBody>
      </p:sp>
      <p:sp>
        <p:nvSpPr>
          <p:cNvPr id="5" name="Footer Placeholder 4"/>
          <p:cNvSpPr>
            <a:spLocks noGrp="1"/>
          </p:cNvSpPr>
          <p:nvPr>
            <p:ph type="ftr" sz="quarter" idx="11"/>
          </p:nvPr>
        </p:nvSpPr>
        <p:spPr/>
        <p:txBody>
          <a:bodyPr/>
          <a:lstStyle/>
          <a:p>
            <a:r>
              <a:rPr lang="en-US"/>
              <a:t>MAD-Compiled by Biruk S.</a:t>
            </a:r>
            <a:endParaRPr lang="en-US"/>
          </a:p>
        </p:txBody>
      </p:sp>
      <p:sp>
        <p:nvSpPr>
          <p:cNvPr id="6" name="Slide Number Placeholder 5"/>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2D3844-32A8-447E-B96C-8EA6E5782272}"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MAD-Compiled by Biruk S.</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2B4C7C-EF45-43C3-A509-CBD9E58B894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cover/>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4.xml"/><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4.xml"/><Relationship Id="rId2" Type="http://schemas.openxmlformats.org/officeDocument/2006/relationships/image" Target="../media/image1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4.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image" Target="../media/image22.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image" Target="../media/image23.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8.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0.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4.xml"/><Relationship Id="rId2" Type="http://schemas.openxmlformats.org/officeDocument/2006/relationships/image" Target="../media/image36.png"/><Relationship Id="rId1"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1431234" y="291549"/>
            <a:ext cx="8984975" cy="1447310"/>
          </a:xfrm>
        </p:spPr>
        <p:txBody>
          <a:bodyPr>
            <a:normAutofit fontScale="90000"/>
          </a:bodyPr>
          <a:lstStyle/>
          <a:p>
            <a: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Advanced Database Management </a:t>
            </a:r>
            <a:b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br>
            <a: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a:t>
            </a:r>
            <a:r>
              <a:rPr lang="en-US" altLang="en-US" sz="3600" b="1"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Advanced</a:t>
            </a:r>
            <a: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 </a:t>
            </a:r>
            <a:r>
              <a:rPr lang="en-US" altLang="en-US" sz="3600" b="1" i="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DBM</a:t>
            </a:r>
            <a: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a:t>
            </a:r>
            <a:b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altLang="en-US" sz="3600" b="1" i="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(ITec3071)</a:t>
            </a:r>
            <a:endParaRPr lang="en-US" dirty="0"/>
          </a:p>
        </p:txBody>
      </p:sp>
      <p:pic>
        <p:nvPicPr>
          <p:cNvPr id="9" name="Picture 8"/>
          <p:cNvPicPr>
            <a:picLocks noChangeAspect="1"/>
          </p:cNvPicPr>
          <p:nvPr/>
        </p:nvPicPr>
        <p:blipFill>
          <a:blip r:embed="rId1"/>
          <a:stretch>
            <a:fillRect/>
          </a:stretch>
        </p:blipFill>
        <p:spPr>
          <a:xfrm>
            <a:off x="3164010" y="1903751"/>
            <a:ext cx="5024530" cy="2394896"/>
          </a:xfrm>
          <a:prstGeom prst="rect">
            <a:avLst/>
          </a:prstGeom>
        </p:spPr>
      </p:pic>
      <p:sp>
        <p:nvSpPr>
          <p:cNvPr id="10" name="Rectangle 9"/>
          <p:cNvSpPr/>
          <p:nvPr/>
        </p:nvSpPr>
        <p:spPr>
          <a:xfrm>
            <a:off x="564738" y="4463539"/>
            <a:ext cx="10699610" cy="1908040"/>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sz="2000" b="1" u="sng" dirty="0">
                <a:latin typeface="Times New Roman" panose="02020603050405020304" pitchFamily="18" charset="0"/>
                <a:cs typeface="Times New Roman" panose="02020603050405020304" pitchFamily="18" charset="0"/>
              </a:rPr>
              <a:t>The most useful Resources for this chapter:-</a:t>
            </a:r>
            <a:endParaRPr lang="en-US" sz="2000" b="1" u="sng" dirty="0">
              <a:latin typeface="Times New Roman" panose="02020603050405020304" pitchFamily="18" charset="0"/>
              <a:cs typeface="Times New Roman" panose="02020603050405020304" pitchFamily="18" charset="0"/>
            </a:endParaRPr>
          </a:p>
          <a:p>
            <a:pPr algn="ctr"/>
            <a:endParaRPr lang="en-US" sz="2000" b="1" u="sng"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 National open university of Nigeria,  course code: CIT 905, </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course title: advanced database management system (from page 66-94)</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 Fundamentals of Database  Systems.  By:- Ramez Elmasri and Shamkant B. Navathe, 7</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edition (part 8,chapter 18 and 19)</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7500" y="129561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10300" y="1340753"/>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17500" y="514147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210300" y="51401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1351280" y="3665220"/>
            <a:ext cx="10661650" cy="14751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fontAlgn="base"/>
            <a:r>
              <a:rPr lang="en-US" sz="4000" b="1" dirty="0">
                <a:solidFill>
                  <a:srgbClr val="002060"/>
                </a:solidFill>
                <a:latin typeface="Times New Roman" panose="02020603050405020304" pitchFamily="18" charset="0"/>
                <a:cs typeface="Times New Roman" panose="02020603050405020304" pitchFamily="18" charset="0"/>
              </a:rPr>
              <a:t>Query Processing and Optimization</a:t>
            </a:r>
            <a:endParaRPr lang="en-US" sz="4000" b="1" dirty="0">
              <a:solidFill>
                <a:srgbClr val="002060"/>
              </a:solidFill>
              <a:latin typeface="Times New Roman" panose="02020603050405020304" pitchFamily="18" charset="0"/>
              <a:cs typeface="Times New Roman" panose="02020603050405020304" pitchFamily="18" charset="0"/>
            </a:endParaRPr>
          </a:p>
        </p:txBody>
      </p:sp>
      <p:sp>
        <p:nvSpPr>
          <p:cNvPr id="10" name="Title 1"/>
          <p:cNvSpPr txBox="1"/>
          <p:nvPr/>
        </p:nvSpPr>
        <p:spPr>
          <a:xfrm>
            <a:off x="1696085" y="2174875"/>
            <a:ext cx="7726045" cy="100647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002060"/>
                </a:solidFill>
                <a:latin typeface="Times New Roman" panose="02020603050405020304" pitchFamily="18" charset="0"/>
                <a:cs typeface="Times New Roman" panose="02020603050405020304" pitchFamily="18" charset="0"/>
              </a:rPr>
              <a:t>CHAPTER ONE</a:t>
            </a:r>
            <a:endParaRPr lang="en-US" sz="3200" b="1" dirty="0">
              <a:solidFill>
                <a:srgbClr val="002060"/>
              </a:solidFill>
              <a:latin typeface="Times New Roman" panose="02020603050405020304" pitchFamily="18" charset="0"/>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dirty="0"/>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2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Outline</a:t>
            </a:r>
            <a:endParaRPr lang="en-US" sz="320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021080" y="1825625"/>
            <a:ext cx="9775825" cy="4351655"/>
          </a:xfrm>
        </p:spPr>
        <p:txBody>
          <a:bodyPr/>
          <a:lstStyle/>
          <a:p>
            <a:pPr>
              <a:lnSpc>
                <a:spcPct val="150000"/>
              </a:lnSpc>
              <a:buClr>
                <a:srgbClr val="5B9BD5"/>
              </a:buClr>
              <a:buFont typeface="Wingdings" panose="05000000000000000000" charset="0"/>
              <a:buChar char="@"/>
            </a:pP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cs typeface="Times New Roman" panose="02020603050405020304" pitchFamily="18" charset="0"/>
              </a:rPr>
              <a:t>Translating SQL Queries into Relational Algebra</a:t>
            </a:r>
            <a:endParaRPr lang="en-US" sz="2400" dirty="0">
              <a:effectLst/>
              <a:latin typeface="Times New Roman" panose="02020603050405020304" pitchFamily="18" charset="0"/>
              <a:cs typeface="Times New Roman" panose="02020603050405020304" pitchFamily="18" charset="0"/>
            </a:endParaRPr>
          </a:p>
          <a:p>
            <a:pPr>
              <a:lnSpc>
                <a:spcPct val="150000"/>
              </a:lnSpc>
              <a:buClr>
                <a:srgbClr val="5B9BD5"/>
              </a:buClr>
              <a:buFont typeface="Wingdings" panose="05000000000000000000" charset="0"/>
              <a:buChar char="@"/>
            </a:pPr>
            <a:r>
              <a:rPr lang="en-US" sz="2400" dirty="0">
                <a:effectLst/>
                <a:latin typeface="Times New Roman" panose="02020603050405020304" pitchFamily="18" charset="0"/>
                <a:cs typeface="Times New Roman" panose="02020603050405020304" pitchFamily="18" charset="0"/>
              </a:rPr>
              <a:t>   Basic Algorithms for Executing Query Operations</a:t>
            </a:r>
            <a:endParaRPr lang="en-US" sz="2400" dirty="0">
              <a:effectLst/>
              <a:latin typeface="Times New Roman" panose="02020603050405020304" pitchFamily="18" charset="0"/>
              <a:cs typeface="Times New Roman" panose="02020603050405020304" pitchFamily="18" charset="0"/>
            </a:endParaRPr>
          </a:p>
          <a:p>
            <a:pPr>
              <a:lnSpc>
                <a:spcPct val="150000"/>
              </a:lnSpc>
              <a:buClr>
                <a:srgbClr val="5B9BD5"/>
              </a:buClr>
              <a:buFont typeface="Wingdings" panose="05000000000000000000" charset="0"/>
              <a:buChar char="@"/>
            </a:pPr>
            <a:r>
              <a:rPr lang="en-US" sz="2400" dirty="0">
                <a:effectLst/>
                <a:latin typeface="Times New Roman" panose="02020603050405020304" pitchFamily="18" charset="0"/>
                <a:cs typeface="Times New Roman" panose="02020603050405020304" pitchFamily="18" charset="0"/>
              </a:rPr>
              <a:t>   Using Heuristic in Query Optimization</a:t>
            </a:r>
            <a:endParaRPr lang="en-US" sz="2400" dirty="0">
              <a:effectLst/>
              <a:latin typeface="Times New Roman" panose="02020603050405020304" pitchFamily="18" charset="0"/>
              <a:cs typeface="Times New Roman" panose="02020603050405020304" pitchFamily="18" charset="0"/>
            </a:endParaRPr>
          </a:p>
          <a:p>
            <a:pPr>
              <a:lnSpc>
                <a:spcPct val="150000"/>
              </a:lnSpc>
              <a:buClr>
                <a:srgbClr val="5B9BD5"/>
              </a:buClr>
              <a:buFont typeface="Wingdings" panose="05000000000000000000" charset="0"/>
              <a:buChar char="@"/>
            </a:pPr>
            <a:r>
              <a:rPr lang="en-US" sz="2400" dirty="0">
                <a:effectLst/>
                <a:latin typeface="Times New Roman" panose="02020603050405020304" pitchFamily="18" charset="0"/>
                <a:cs typeface="Times New Roman" panose="02020603050405020304" pitchFamily="18" charset="0"/>
              </a:rPr>
              <a:t>   Using Selectivity and Cost Estimates in Query Optimization</a:t>
            </a:r>
            <a:endParaRPr lang="en-US" sz="2400" dirty="0">
              <a:effectLst/>
              <a:latin typeface="Times New Roman" panose="02020603050405020304" pitchFamily="18" charset="0"/>
              <a:cs typeface="Times New Roman" panose="02020603050405020304" pitchFamily="18" charset="0"/>
            </a:endParaRPr>
          </a:p>
          <a:p>
            <a:pPr>
              <a:lnSpc>
                <a:spcPct val="150000"/>
              </a:lnSpc>
              <a:buClr>
                <a:srgbClr val="5B9BD5"/>
              </a:buClr>
              <a:buFont typeface="Wingdings" panose="05000000000000000000" charset="0"/>
              <a:buChar char="@"/>
            </a:pPr>
            <a:r>
              <a:rPr lang="en-US" sz="2400" dirty="0">
                <a:effectLst/>
                <a:latin typeface="Times New Roman" panose="02020603050405020304" pitchFamily="18" charset="0"/>
                <a:cs typeface="Times New Roman" panose="02020603050405020304" pitchFamily="18" charset="0"/>
              </a:rPr>
              <a:t>   Semantic Query Optimization</a:t>
            </a:r>
            <a:endParaRPr lang="en-US" sz="2400" dirty="0">
              <a:effectLst/>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sp>
        <p:nvSpPr>
          <p:cNvPr id="7" name="Rectangle 6"/>
          <p:cNvSpPr/>
          <p:nvPr/>
        </p:nvSpPr>
        <p:spPr>
          <a:xfrm>
            <a:off x="518795" y="1556385"/>
            <a:ext cx="5462905" cy="123825"/>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6"/>
          <p:cNvSpPr/>
          <p:nvPr/>
        </p:nvSpPr>
        <p:spPr>
          <a:xfrm>
            <a:off x="6314440" y="1556385"/>
            <a:ext cx="5196840" cy="9017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6"/>
          <p:cNvSpPr/>
          <p:nvPr/>
        </p:nvSpPr>
        <p:spPr>
          <a:xfrm>
            <a:off x="6314440" y="5902325"/>
            <a:ext cx="5429885" cy="9017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p:cNvSpPr/>
          <p:nvPr/>
        </p:nvSpPr>
        <p:spPr>
          <a:xfrm>
            <a:off x="519430" y="5902325"/>
            <a:ext cx="5462270" cy="9017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6"/>
          <p:cNvSpPr/>
          <p:nvPr/>
        </p:nvSpPr>
        <p:spPr>
          <a:xfrm flipH="1">
            <a:off x="11225530" y="1210945"/>
            <a:ext cx="128905" cy="514604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6"/>
          <p:cNvSpPr/>
          <p:nvPr/>
        </p:nvSpPr>
        <p:spPr>
          <a:xfrm>
            <a:off x="698500" y="1211580"/>
            <a:ext cx="132080" cy="5145405"/>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935815" y="114907"/>
            <a:ext cx="5142562" cy="58477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What is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76864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43307" y="723505"/>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9" y="813774"/>
            <a:ext cx="11651615" cy="5763260"/>
          </a:xfrm>
          <a:prstGeom prst="rect">
            <a:avLst/>
          </a:prstGeom>
        </p:spPr>
        <p:txBody>
          <a:bodyPr wrap="square">
            <a:noAutofit/>
          </a:bodyPr>
          <a:lstStyle/>
          <a:p>
            <a:pPr marL="457200" indent="-457200">
              <a:lnSpc>
                <a:spcPct val="150000"/>
              </a:lnSpc>
              <a:spcBef>
                <a:spcPts val="600"/>
              </a:spcBef>
              <a:buBlip>
                <a:blip r:embed="rId1"/>
              </a:buBlip>
              <a:defRPr/>
            </a:pPr>
            <a:r>
              <a:rPr lang="en-US" sz="2400" b="1" dirty="0">
                <a:solidFill>
                  <a:srgbClr val="FF0000"/>
                </a:solidFill>
                <a:latin typeface="Times New Roman" panose="02020603050405020304" pitchFamily="18" charset="0"/>
                <a:cs typeface="Times New Roman" panose="02020603050405020304" pitchFamily="18" charset="0"/>
              </a:rPr>
              <a:t>Relational Algebra: </a:t>
            </a:r>
            <a:r>
              <a:rPr lang="en-US" sz="2400" dirty="0">
                <a:latin typeface="Times New Roman" panose="02020603050405020304" pitchFamily="18" charset="0"/>
                <a:cs typeface="Times New Roman" panose="02020603050405020304" pitchFamily="18" charset="0"/>
              </a:rPr>
              <a:t>refers to a procedural query language that takes </a:t>
            </a:r>
            <a:r>
              <a:rPr lang="en-US" sz="2400" b="1" dirty="0">
                <a:latin typeface="Times New Roman" panose="02020603050405020304" pitchFamily="18" charset="0"/>
                <a:cs typeface="Times New Roman" panose="02020603050405020304" pitchFamily="18" charset="0"/>
              </a:rPr>
              <a:t>relation instances </a:t>
            </a:r>
            <a:r>
              <a:rPr lang="en-US" sz="2400" dirty="0">
                <a:latin typeface="Times New Roman" panose="02020603050405020304" pitchFamily="18" charset="0"/>
                <a:cs typeface="Times New Roman" panose="02020603050405020304" pitchFamily="18" charset="0"/>
              </a:rPr>
              <a:t>as </a:t>
            </a:r>
            <a:r>
              <a:rPr lang="en-US" sz="2400" dirty="0">
                <a:solidFill>
                  <a:srgbClr val="0070C0"/>
                </a:solidFill>
                <a:latin typeface="Times New Roman" panose="02020603050405020304" pitchFamily="18" charset="0"/>
                <a:cs typeface="Times New Roman" panose="02020603050405020304" pitchFamily="18" charset="0"/>
              </a:rPr>
              <a:t>input</a:t>
            </a:r>
            <a:r>
              <a:rPr lang="en-US" sz="2400" dirty="0">
                <a:latin typeface="Times New Roman" panose="02020603050405020304" pitchFamily="18" charset="0"/>
                <a:cs typeface="Times New Roman" panose="02020603050405020304" pitchFamily="18" charset="0"/>
              </a:rPr>
              <a:t> and returns relation instances as </a:t>
            </a:r>
            <a:r>
              <a:rPr lang="en-US" sz="2400" dirty="0">
                <a:solidFill>
                  <a:srgbClr val="0070C0"/>
                </a:solidFill>
                <a:latin typeface="Times New Roman" panose="02020603050405020304" pitchFamily="18" charset="0"/>
                <a:cs typeface="Times New Roman" panose="02020603050405020304" pitchFamily="18" charset="0"/>
              </a:rPr>
              <a:t>output</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It performs queries with the help of </a:t>
            </a:r>
            <a:r>
              <a:rPr lang="en-US" sz="2400" dirty="0">
                <a:solidFill>
                  <a:srgbClr val="0070C0"/>
                </a:solidFill>
                <a:latin typeface="Times New Roman" panose="02020603050405020304" pitchFamily="18" charset="0"/>
                <a:cs typeface="Times New Roman" panose="02020603050405020304" pitchFamily="18" charset="0"/>
              </a:rPr>
              <a:t>operators</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A binary or unary operator can be used.</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Also, basic set of operations for the relational model is known as the relational algebra. These operations enable a user to specify basic </a:t>
            </a:r>
            <a:r>
              <a:rPr lang="en-US" sz="2400" dirty="0">
                <a:solidFill>
                  <a:srgbClr val="0070C0"/>
                </a:solidFill>
                <a:latin typeface="Times New Roman" panose="02020603050405020304" pitchFamily="18" charset="0"/>
                <a:cs typeface="Times New Roman" panose="02020603050405020304" pitchFamily="18" charset="0"/>
              </a:rPr>
              <a:t>retrieval requests</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The </a:t>
            </a:r>
            <a:r>
              <a:rPr lang="en-US" sz="2400" dirty="0">
                <a:solidFill>
                  <a:srgbClr val="0070C0"/>
                </a:solidFill>
                <a:latin typeface="Times New Roman" panose="02020603050405020304" pitchFamily="18" charset="0"/>
                <a:cs typeface="Times New Roman" panose="02020603050405020304" pitchFamily="18" charset="0"/>
              </a:rPr>
              <a:t>result of retrieval </a:t>
            </a:r>
            <a:r>
              <a:rPr lang="en-US" sz="2400" dirty="0">
                <a:latin typeface="Times New Roman" panose="02020603050405020304" pitchFamily="18" charset="0"/>
                <a:cs typeface="Times New Roman" panose="02020603050405020304" pitchFamily="18" charset="0"/>
              </a:rPr>
              <a:t>is a </a:t>
            </a:r>
            <a:r>
              <a:rPr lang="en-US" sz="2400" dirty="0">
                <a:solidFill>
                  <a:srgbClr val="FF0000"/>
                </a:solidFill>
                <a:latin typeface="Times New Roman" panose="02020603050405020304" pitchFamily="18" charset="0"/>
                <a:cs typeface="Times New Roman" panose="02020603050405020304" pitchFamily="18" charset="0"/>
              </a:rPr>
              <a:t>new relation</a:t>
            </a:r>
            <a:r>
              <a:rPr lang="en-US" sz="2400" dirty="0">
                <a:latin typeface="Times New Roman" panose="02020603050405020304" pitchFamily="18" charset="0"/>
                <a:cs typeface="Times New Roman" panose="02020603050405020304" pitchFamily="18" charset="0"/>
              </a:rPr>
              <a:t>, which may have been formed from one or more relations.</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The algebra operations thus produce new relations, which can be further manipulated using operations of the same algebra.</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0844487" cy="3724096"/>
          </a:xfrm>
          <a:prstGeom prst="rect">
            <a:avLst/>
          </a:prstGeom>
        </p:spPr>
        <p:txBody>
          <a:bodyPr wrap="square">
            <a:spAutoFit/>
          </a:bodyPr>
          <a:lstStyle/>
          <a:p>
            <a:pPr>
              <a:lnSpc>
                <a:spcPct val="150000"/>
              </a:lnSpc>
              <a:spcBef>
                <a:spcPts val="600"/>
              </a:spcBef>
              <a:defRPr/>
            </a:pPr>
            <a:r>
              <a:rPr lang="en-US" sz="2400" b="1" dirty="0">
                <a:solidFill>
                  <a:srgbClr val="FF0000"/>
                </a:solidFill>
                <a:latin typeface="Times New Roman" panose="02020603050405020304" pitchFamily="18" charset="0"/>
                <a:cs typeface="Times New Roman" panose="02020603050405020304" pitchFamily="18" charset="0"/>
              </a:rPr>
              <a:t>Query block</a:t>
            </a:r>
            <a:endParaRPr lang="en-US" sz="2400" b="1" dirty="0">
              <a:solidFill>
                <a:srgbClr val="FF0000"/>
              </a:solidFill>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The basic unit that can be translated into the algebraic operators and optimized.  </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A query block contains a single </a:t>
            </a:r>
            <a:r>
              <a:rPr lang="en-US" sz="2400" dirty="0">
                <a:solidFill>
                  <a:srgbClr val="00B0F0"/>
                </a:solidFill>
                <a:latin typeface="Times New Roman" panose="02020603050405020304" pitchFamily="18" charset="0"/>
                <a:cs typeface="Times New Roman" panose="02020603050405020304" pitchFamily="18" charset="0"/>
              </a:rPr>
              <a:t>SELECT-FROM-WHERE </a:t>
            </a:r>
            <a:r>
              <a:rPr lang="en-US" sz="2400" dirty="0">
                <a:latin typeface="Times New Roman" panose="02020603050405020304" pitchFamily="18" charset="0"/>
                <a:cs typeface="Times New Roman" panose="02020603050405020304" pitchFamily="18" charset="0"/>
              </a:rPr>
              <a:t>expression, as well as </a:t>
            </a:r>
            <a:r>
              <a:rPr lang="en-US" sz="2400" dirty="0">
                <a:solidFill>
                  <a:srgbClr val="00B0F0"/>
                </a:solidFill>
                <a:latin typeface="Times New Roman" panose="02020603050405020304" pitchFamily="18" charset="0"/>
                <a:cs typeface="Times New Roman" panose="02020603050405020304" pitchFamily="18" charset="0"/>
              </a:rPr>
              <a:t>GROUP BY </a:t>
            </a:r>
            <a:r>
              <a:rPr lang="en-US" sz="2400" dirty="0">
                <a:latin typeface="Times New Roman" panose="02020603050405020304" pitchFamily="18" charset="0"/>
                <a:cs typeface="Times New Roman" panose="02020603050405020304" pitchFamily="18" charset="0"/>
              </a:rPr>
              <a:t>and </a:t>
            </a:r>
            <a:r>
              <a:rPr lang="en-US" sz="2400" dirty="0">
                <a:solidFill>
                  <a:srgbClr val="00B0F0"/>
                </a:solidFill>
                <a:latin typeface="Times New Roman" panose="02020603050405020304" pitchFamily="18" charset="0"/>
                <a:cs typeface="Times New Roman" panose="02020603050405020304" pitchFamily="18" charset="0"/>
              </a:rPr>
              <a:t>HAVING</a:t>
            </a:r>
            <a:r>
              <a:rPr lang="en-US" sz="2400" dirty="0">
                <a:latin typeface="Times New Roman" panose="02020603050405020304" pitchFamily="18" charset="0"/>
                <a:cs typeface="Times New Roman" panose="02020603050405020304" pitchFamily="18" charset="0"/>
              </a:rPr>
              <a:t> clause if these are part of the block. </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Nested queries within a query are identified as separate query blocks. </a:t>
            </a:r>
            <a:endParaRPr lang="en-US" sz="2400" dirty="0">
              <a:latin typeface="Times New Roman" panose="02020603050405020304" pitchFamily="18" charset="0"/>
              <a:cs typeface="Times New Roman" panose="02020603050405020304" pitchFamily="18" charset="0"/>
            </a:endParaRPr>
          </a:p>
          <a:p>
            <a:pPr marL="457200"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Aggregate operators in SQL must be included in the extended algebra</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44417" y="147180"/>
            <a:ext cx="4229874" cy="523220"/>
          </a:xfrm>
          <a:prstGeom prst="rect">
            <a:avLst/>
          </a:prstGeom>
          <a:noFill/>
        </p:spPr>
        <p:txBody>
          <a:bodyPr wrap="square" lIns="91440" tIns="45720" rIns="91440" bIns="45720">
            <a:spAutoFit/>
          </a:bodyPr>
          <a:lstStyle/>
          <a:p>
            <a:r>
              <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Basic Mapping Rules</a:t>
            </a:r>
            <a:endPar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Rectangle 6"/>
          <p:cNvSpPr/>
          <p:nvPr/>
        </p:nvSpPr>
        <p:spPr>
          <a:xfrm>
            <a:off x="317498" y="705162"/>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07430" y="68682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graphicFrame>
        <p:nvGraphicFramePr>
          <p:cNvPr id="2" name="Table 1"/>
          <p:cNvGraphicFramePr>
            <a:graphicFrameLocks noGrp="1"/>
          </p:cNvGraphicFramePr>
          <p:nvPr/>
        </p:nvGraphicFramePr>
        <p:xfrm>
          <a:off x="1828798" y="1027720"/>
          <a:ext cx="7094674" cy="5328630"/>
        </p:xfrm>
        <a:graphic>
          <a:graphicData uri="http://schemas.openxmlformats.org/drawingml/2006/table">
            <a:tbl>
              <a:tblPr>
                <a:tableStyleId>{0660B408-B3CF-4A94-85FC-2B1E0A45F4A2}</a:tableStyleId>
              </a:tblPr>
              <a:tblGrid>
                <a:gridCol w="2920238"/>
                <a:gridCol w="4174436"/>
              </a:tblGrid>
              <a:tr h="532863">
                <a:tc>
                  <a:txBody>
                    <a:bodyPr/>
                    <a:lstStyle/>
                    <a:p>
                      <a:pPr>
                        <a:buNone/>
                      </a:pPr>
                      <a:r>
                        <a:rPr lang="en-US" sz="2000" b="1" u="sng" dirty="0"/>
                        <a:t>SQL Component</a:t>
                      </a:r>
                      <a:endParaRPr lang="en-US" sz="2000" b="1" u="sng"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b="1" u="sng" dirty="0"/>
                        <a:t>Relational Algebra(RA) Operation</a:t>
                      </a:r>
                      <a:endParaRPr lang="en-US" sz="2000" b="1" u="sng" dirty="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dirty="0"/>
                        <a:t>SELECT (columns)</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Projection (</a:t>
                      </a:r>
                      <a:r>
                        <a:rPr lang="el-GR" sz="2000" dirty="0"/>
                        <a:t>π)</a:t>
                      </a:r>
                      <a:endParaRPr lang="el-GR" sz="2000" dirty="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dirty="0"/>
                        <a:t>FROM (tables)</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Cartesian Product (×) or Join (⋈)</a:t>
                      </a:r>
                      <a:endParaRPr lang="en-US" sz="200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dirty="0"/>
                        <a:t>WHERE (row condition)</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Selection (</a:t>
                      </a:r>
                      <a:r>
                        <a:rPr lang="el-GR" sz="2000" dirty="0"/>
                        <a:t>σ)</a:t>
                      </a:r>
                      <a:endParaRPr lang="el-GR" sz="2000" dirty="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dirty="0"/>
                        <a:t>JOIN ... ON</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Join (⋈)</a:t>
                      </a:r>
                      <a:endParaRPr lang="en-US" sz="2000" dirty="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a:t>UNION</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Union (∪)</a:t>
                      </a:r>
                      <a:endParaRPr lang="en-US" sz="200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a:t>EXCEPT</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Set Difference (−)</a:t>
                      </a:r>
                      <a:endParaRPr lang="en-US" sz="200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a:t>INTERSECT</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Intersection (∩)</a:t>
                      </a:r>
                      <a:endParaRPr lang="en-US" sz="200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a:t>DISTINCT</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Duplicate elimination (</a:t>
                      </a:r>
                      <a:r>
                        <a:rPr lang="el-GR" sz="2000"/>
                        <a:t>δ)</a:t>
                      </a:r>
                      <a:endParaRPr lang="el-GR" sz="2000">
                        <a:latin typeface="Times New Roman" panose="02020603050405020304" pitchFamily="18" charset="0"/>
                        <a:cs typeface="Times New Roman" panose="02020603050405020304" pitchFamily="18" charset="0"/>
                      </a:endParaRPr>
                    </a:p>
                  </a:txBody>
                  <a:tcPr anchor="ctr"/>
                </a:tc>
              </a:tr>
              <a:tr h="532863">
                <a:tc>
                  <a:txBody>
                    <a:bodyPr/>
                    <a:lstStyle/>
                    <a:p>
                      <a:pPr>
                        <a:buNone/>
                      </a:pPr>
                      <a:r>
                        <a:rPr lang="en-US" sz="2000" dirty="0"/>
                        <a:t>GROUP BY + Aggregates</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Extended RA (</a:t>
                      </a:r>
                      <a:r>
                        <a:rPr lang="el-GR" sz="2000" dirty="0"/>
                        <a:t>γ)</a:t>
                      </a:r>
                      <a:endParaRPr lang="el-GR" sz="2000"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42085" y="1630680"/>
            <a:ext cx="9139555" cy="4368165"/>
          </a:xfrm>
          <a:prstGeom prst="rect">
            <a:avLst/>
          </a:prstGeom>
        </p:spPr>
      </p:pic>
      <p:sp>
        <p:nvSpPr>
          <p:cNvPr id="4" name="Rectangle 3"/>
          <p:cNvSpPr/>
          <p:nvPr/>
        </p:nvSpPr>
        <p:spPr>
          <a:xfrm>
            <a:off x="1442061" y="1168045"/>
            <a:ext cx="1191352" cy="369332"/>
          </a:xfrm>
          <a:prstGeom prst="rect">
            <a:avLst/>
          </a:prstGeom>
        </p:spPr>
        <p:txBody>
          <a:bodyPr wrap="none">
            <a:spAutoFit/>
          </a:bodyPr>
          <a:lstStyle/>
          <a:p>
            <a:r>
              <a:rPr lang="en-US" b="1" dirty="0">
                <a:solidFill>
                  <a:srgbClr val="FF0000"/>
                </a:solidFill>
                <a:latin typeface="Times New Roman" panose="02020603050405020304" pitchFamily="18" charset="0"/>
                <a:cs typeface="Times New Roman" panose="02020603050405020304" pitchFamily="18" charset="0"/>
              </a:rPr>
              <a:t>Example: </a:t>
            </a:r>
            <a:endParaRPr lang="en-US" dirty="0"/>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0844487" cy="4801314"/>
          </a:xfrm>
          <a:prstGeom prst="rect">
            <a:avLst/>
          </a:prstGeom>
        </p:spPr>
        <p:txBody>
          <a:bodyPr wrap="square">
            <a:spAutoFit/>
          </a:bodyPr>
          <a:lstStyle/>
          <a:p>
            <a:pPr>
              <a:lnSpc>
                <a:spcPct val="150000"/>
              </a:lnSpc>
              <a:spcBef>
                <a:spcPts val="600"/>
              </a:spcBef>
              <a:defRPr/>
            </a:pPr>
            <a:r>
              <a:rPr lang="en-US" sz="2400" dirty="0">
                <a:solidFill>
                  <a:srgbClr val="FF0000"/>
                </a:solidFill>
                <a:latin typeface="Times New Roman" panose="02020603050405020304" pitchFamily="18" charset="0"/>
                <a:cs typeface="Times New Roman" panose="02020603050405020304" pitchFamily="18" charset="0"/>
              </a:rPr>
              <a:t>Relational Algebra </a:t>
            </a:r>
            <a:r>
              <a:rPr lang="en-US" sz="2400" dirty="0">
                <a:latin typeface="Times New Roman" panose="02020603050405020304" pitchFamily="18" charset="0"/>
                <a:cs typeface="Times New Roman" panose="02020603050405020304" pitchFamily="18" charset="0"/>
              </a:rPr>
              <a:t>consists of several groups of </a:t>
            </a:r>
            <a:r>
              <a:rPr lang="en-US" sz="2400" dirty="0">
                <a:solidFill>
                  <a:srgbClr val="00B0F0"/>
                </a:solidFill>
                <a:latin typeface="Times New Roman" panose="02020603050405020304" pitchFamily="18" charset="0"/>
                <a:cs typeface="Times New Roman" panose="02020603050405020304" pitchFamily="18" charset="0"/>
              </a:rPr>
              <a:t>operations</a:t>
            </a:r>
            <a:endParaRPr lang="en-US" sz="2400" dirty="0">
              <a:solidFill>
                <a:srgbClr val="00B0F0"/>
              </a:solidFill>
              <a:latin typeface="Times New Roman" panose="02020603050405020304" pitchFamily="18" charset="0"/>
              <a:cs typeface="Times New Roman" panose="02020603050405020304" pitchFamily="18" charset="0"/>
            </a:endParaRPr>
          </a:p>
          <a:p>
            <a:pPr>
              <a:lnSpc>
                <a:spcPct val="150000"/>
              </a:lnSpc>
              <a:spcBef>
                <a:spcPts val="600"/>
              </a:spcBef>
              <a:defRPr/>
            </a:pPr>
            <a:r>
              <a:rPr lang="en-US" sz="2400" dirty="0">
                <a:solidFill>
                  <a:schemeClr val="accent1">
                    <a:lumMod val="50000"/>
                  </a:schemeClr>
                </a:solidFill>
                <a:latin typeface="Times New Roman" panose="02020603050405020304" pitchFamily="18" charset="0"/>
                <a:cs typeface="Times New Roman" panose="02020603050405020304" pitchFamily="18" charset="0"/>
              </a:rPr>
              <a:t>I</a:t>
            </a:r>
            <a:r>
              <a:rPr lang="en-US" sz="2400" dirty="0">
                <a:solidFill>
                  <a:schemeClr val="accent1"/>
                </a:solidFill>
                <a:latin typeface="Times New Roman" panose="02020603050405020304" pitchFamily="18" charset="0"/>
                <a:cs typeface="Times New Roman" panose="02020603050405020304" pitchFamily="18" charset="0"/>
              </a:rPr>
              <a:t>. Unary</a:t>
            </a:r>
            <a:r>
              <a:rPr lang="en-US" sz="2400" dirty="0">
                <a:latin typeface="Times New Roman" panose="02020603050405020304" pitchFamily="18" charset="0"/>
                <a:cs typeface="Times New Roman" panose="02020603050405020304" pitchFamily="18" charset="0"/>
              </a:rPr>
              <a:t> Relational Operations</a:t>
            </a:r>
            <a:endParaRPr lang="en-US" sz="2400" dirty="0">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PROJECT (symbol: </a:t>
            </a:r>
            <a:r>
              <a:rPr lang="el-GR" sz="2400" dirty="0">
                <a:latin typeface="Times New Roman" panose="02020603050405020304" pitchFamily="18" charset="0"/>
                <a:cs typeface="Times New Roman" panose="02020603050405020304" pitchFamily="18" charset="0"/>
              </a:rPr>
              <a:t>π (</a:t>
            </a:r>
            <a:r>
              <a:rPr lang="en-US" sz="2400" dirty="0">
                <a:latin typeface="Times New Roman" panose="02020603050405020304" pitchFamily="18" charset="0"/>
                <a:cs typeface="Times New Roman" panose="02020603050405020304" pitchFamily="18" charset="0"/>
              </a:rPr>
              <a:t>pi))</a:t>
            </a:r>
            <a:endParaRPr lang="en-US" sz="2400" dirty="0">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SELECT (symbol: </a:t>
            </a:r>
            <a:r>
              <a:rPr lang="el-GR" sz="2400" dirty="0">
                <a:latin typeface="Times New Roman" panose="02020603050405020304" pitchFamily="18" charset="0"/>
                <a:cs typeface="Times New Roman" panose="02020603050405020304" pitchFamily="18" charset="0"/>
              </a:rPr>
              <a:t>σ (</a:t>
            </a:r>
            <a:r>
              <a:rPr lang="en-US" sz="2400" dirty="0">
                <a:latin typeface="Times New Roman" panose="02020603050405020304" pitchFamily="18" charset="0"/>
                <a:cs typeface="Times New Roman" panose="02020603050405020304" pitchFamily="18" charset="0"/>
              </a:rPr>
              <a:t>sigma))</a:t>
            </a:r>
            <a:endParaRPr lang="en-US" sz="2400" dirty="0">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RENAME (symbol: </a:t>
            </a:r>
            <a:r>
              <a:rPr lang="el-GR" sz="2400" dirty="0">
                <a:latin typeface="Times New Roman" panose="02020603050405020304" pitchFamily="18" charset="0"/>
                <a:cs typeface="Times New Roman" panose="02020603050405020304" pitchFamily="18" charset="0"/>
              </a:rPr>
              <a:t>ρ (</a:t>
            </a:r>
            <a:r>
              <a:rPr lang="en-US" sz="2400" dirty="0">
                <a:latin typeface="Times New Roman" panose="02020603050405020304" pitchFamily="18" charset="0"/>
                <a:cs typeface="Times New Roman" panose="02020603050405020304" pitchFamily="18" charset="0"/>
              </a:rPr>
              <a:t>rho))</a:t>
            </a:r>
            <a:endParaRPr lang="en-US" sz="2400" dirty="0">
              <a:latin typeface="Times New Roman" panose="02020603050405020304" pitchFamily="18" charset="0"/>
              <a:cs typeface="Times New Roman" panose="02020603050405020304" pitchFamily="18" charset="0"/>
            </a:endParaRPr>
          </a:p>
          <a:p>
            <a:pPr marL="0" lvl="2" indent="0">
              <a:lnSpc>
                <a:spcPct val="150000"/>
              </a:lnSpc>
              <a:spcBef>
                <a:spcPts val="600"/>
              </a:spcBef>
              <a:buNone/>
              <a:defRPr/>
            </a:pPr>
            <a:r>
              <a:rPr lang="en-US" sz="2400" dirty="0">
                <a:solidFill>
                  <a:schemeClr val="accent1">
                    <a:lumMod val="50000"/>
                  </a:schemeClr>
                </a:solidFill>
                <a:latin typeface="Times New Roman" panose="02020603050405020304" pitchFamily="18" charset="0"/>
                <a:cs typeface="Times New Roman" panose="02020603050405020304" pitchFamily="18" charset="0"/>
              </a:rPr>
              <a:t>II</a:t>
            </a:r>
            <a:r>
              <a:rPr lang="en-US" sz="2400" dirty="0">
                <a:latin typeface="Times New Roman" panose="02020603050405020304" pitchFamily="18" charset="0"/>
                <a:cs typeface="Times New Roman" panose="02020603050405020304" pitchFamily="18" charset="0"/>
              </a:rPr>
              <a:t>. Relational Algebra Operations from </a:t>
            </a:r>
            <a:r>
              <a:rPr lang="en-US" sz="2400" dirty="0">
                <a:solidFill>
                  <a:schemeClr val="accent1"/>
                </a:solidFill>
                <a:latin typeface="Times New Roman" panose="02020603050405020304" pitchFamily="18" charset="0"/>
                <a:cs typeface="Times New Roman" panose="02020603050405020304" pitchFamily="18" charset="0"/>
              </a:rPr>
              <a:t>Set Theory</a:t>
            </a:r>
            <a:endParaRPr lang="en-US" sz="2400" dirty="0">
              <a:solidFill>
                <a:schemeClr val="accent1"/>
              </a:solidFill>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UNION (∪), INTERSECTION (∩), DIFFERENCE (or MINUS, –)</a:t>
            </a:r>
            <a:endParaRPr lang="en-US" sz="2400" dirty="0">
              <a:latin typeface="Times New Roman" panose="02020603050405020304" pitchFamily="18" charset="0"/>
              <a:cs typeface="Times New Roman" panose="02020603050405020304" pitchFamily="18" charset="0"/>
            </a:endParaRPr>
          </a:p>
          <a:p>
            <a:pPr lvl="0"/>
            <a:r>
              <a:rPr lang="en-US" sz="2400" dirty="0">
                <a:latin typeface="Times New Roman" panose="02020603050405020304" pitchFamily="18" charset="0"/>
                <a:cs typeface="Times New Roman" panose="02020603050405020304" pitchFamily="18" charset="0"/>
              </a:rPr>
              <a:t>                  CARTESIAN PRODUCT (X)</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500" y="1056005"/>
            <a:ext cx="11120755" cy="4757420"/>
          </a:xfrm>
          <a:prstGeom prst="rect">
            <a:avLst/>
          </a:prstGeom>
        </p:spPr>
        <p:txBody>
          <a:bodyPr wrap="square">
            <a:noAutofit/>
          </a:bodyPr>
          <a:lstStyle/>
          <a:p>
            <a:pPr marL="0" lvl="2" indent="0">
              <a:lnSpc>
                <a:spcPct val="150000"/>
              </a:lnSpc>
              <a:spcBef>
                <a:spcPts val="600"/>
              </a:spcBef>
              <a:buNone/>
              <a:defRPr/>
            </a:pPr>
            <a:r>
              <a:rPr lang="en-US" sz="2400" dirty="0">
                <a:solidFill>
                  <a:schemeClr val="accent1">
                    <a:lumMod val="50000"/>
                  </a:schemeClr>
                </a:solidFill>
                <a:latin typeface="Times New Roman" panose="02020603050405020304" pitchFamily="18" charset="0"/>
                <a:cs typeface="Times New Roman" panose="02020603050405020304" pitchFamily="18" charset="0"/>
              </a:rPr>
              <a:t>III</a:t>
            </a:r>
            <a:r>
              <a:rPr lang="en-US" sz="2400" dirty="0">
                <a:solidFill>
                  <a:schemeClr val="accent1"/>
                </a:solidFill>
                <a:latin typeface="Times New Roman" panose="02020603050405020304" pitchFamily="18" charset="0"/>
                <a:cs typeface="Times New Roman" panose="02020603050405020304" pitchFamily="18" charset="0"/>
              </a:rPr>
              <a:t>. Binary</a:t>
            </a:r>
            <a:r>
              <a:rPr lang="en-US" sz="2400" dirty="0">
                <a:latin typeface="Times New Roman" panose="02020603050405020304" pitchFamily="18" charset="0"/>
                <a:cs typeface="Times New Roman" panose="02020603050405020304" pitchFamily="18" charset="0"/>
              </a:rPr>
              <a:t> Relational Operations</a:t>
            </a:r>
            <a:endParaRPr lang="en-US" sz="2400" dirty="0">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JOIN (several variations of JOIN exist like OUTER JOINS, OUTER UNION)</a:t>
            </a:r>
            <a:endParaRPr lang="en-US" sz="2400" dirty="0">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DIVISION</a:t>
            </a:r>
            <a:endParaRPr lang="en-US" sz="2400" dirty="0">
              <a:latin typeface="Times New Roman" panose="02020603050405020304" pitchFamily="18" charset="0"/>
              <a:cs typeface="Times New Roman" panose="02020603050405020304" pitchFamily="18" charset="0"/>
            </a:endParaRPr>
          </a:p>
          <a:p>
            <a:pPr marL="0" lvl="2" indent="0">
              <a:lnSpc>
                <a:spcPct val="150000"/>
              </a:lnSpc>
              <a:spcBef>
                <a:spcPts val="600"/>
              </a:spcBef>
              <a:buNone/>
              <a:defRPr/>
            </a:pPr>
            <a:r>
              <a:rPr lang="en-US" sz="2400" dirty="0">
                <a:solidFill>
                  <a:schemeClr val="accent1">
                    <a:lumMod val="50000"/>
                  </a:schemeClr>
                </a:solidFill>
                <a:latin typeface="Times New Roman" panose="02020603050405020304" pitchFamily="18" charset="0"/>
                <a:cs typeface="Times New Roman" panose="02020603050405020304" pitchFamily="18" charset="0"/>
              </a:rPr>
              <a:t>IV</a:t>
            </a:r>
            <a:r>
              <a:rPr lang="en-US" sz="2400" dirty="0">
                <a:latin typeface="Times New Roman" panose="02020603050405020304" pitchFamily="18" charset="0"/>
                <a:cs typeface="Times New Roman" panose="02020603050405020304" pitchFamily="18" charset="0"/>
              </a:rPr>
              <a:t>. Additional Relational Operations</a:t>
            </a:r>
            <a:endParaRPr lang="en-US" sz="2400" dirty="0">
              <a:latin typeface="Times New Roman" panose="02020603050405020304" pitchFamily="18" charset="0"/>
              <a:cs typeface="Times New Roman" panose="02020603050405020304" pitchFamily="18" charset="0"/>
            </a:endParaRPr>
          </a:p>
          <a:p>
            <a:pPr marL="1257300" lvl="2" indent="-3429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AGGREGATE FUNCTIONS (These compute summary of information: for example, SUM, COUNT, AVG, MIN, MAX)</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317500" y="732155"/>
                <a:ext cx="11675717" cy="6195863"/>
              </a:xfrm>
              <a:prstGeom prst="rect">
                <a:avLst/>
              </a:prstGeom>
            </p:spPr>
            <p:txBody>
              <a:bodyPr wrap="square">
                <a:spAutoFit/>
              </a:bodyPr>
              <a:lstStyle/>
              <a:p>
                <a:pPr lvl="0"/>
                <a:endParaRPr lang="en-US" sz="2400" b="1" dirty="0">
                  <a:solidFill>
                    <a:srgbClr val="FF0000"/>
                  </a:solidFill>
                  <a:latin typeface="Times New Roman" panose="02020603050405020304" pitchFamily="18" charset="0"/>
                  <a:cs typeface="Times New Roman" panose="02020603050405020304" pitchFamily="18" charset="0"/>
                </a:endParaRPr>
              </a:p>
              <a:p>
                <a:pPr lvl="0"/>
                <a:r>
                  <a:rPr lang="en-US" sz="2400" b="1" dirty="0">
                    <a:solidFill>
                      <a:srgbClr val="FF0000"/>
                    </a:solidFill>
                    <a:latin typeface="Times New Roman" panose="02020603050405020304" pitchFamily="18" charset="0"/>
                    <a:cs typeface="Times New Roman" panose="02020603050405020304" pitchFamily="18" charset="0"/>
                  </a:rPr>
                  <a:t>I. Unary Relational Operations</a:t>
                </a:r>
                <a:endParaRPr lang="en-US" sz="2400" b="1" dirty="0">
                  <a:solidFill>
                    <a:srgbClr val="FF0000"/>
                  </a:solidFill>
                  <a:latin typeface="Times New Roman" panose="02020603050405020304" pitchFamily="18" charset="0"/>
                  <a:cs typeface="Times New Roman" panose="02020603050405020304" pitchFamily="18" charset="0"/>
                </a:endParaRPr>
              </a:p>
              <a:p>
                <a:r>
                  <a:rPr lang="en-US" sz="2400" dirty="0">
                    <a:solidFill>
                      <a:srgbClr val="00B0F0"/>
                    </a:solidFill>
                    <a:latin typeface="Times New Roman" panose="02020603050405020304" pitchFamily="18" charset="0"/>
                    <a:cs typeface="Times New Roman" panose="02020603050405020304" pitchFamily="18" charset="0"/>
                  </a:rPr>
                  <a:t>A) </a:t>
                </a:r>
                <a:r>
                  <a:rPr lang="en-US" sz="2400" b="1" dirty="0">
                    <a:solidFill>
                      <a:srgbClr val="FF0000"/>
                    </a:solidFill>
                  </a:rPr>
                  <a:t>PROJECTION (</a:t>
                </a:r>
                <a:r>
                  <a:rPr lang="el-GR" sz="2400" b="1" dirty="0"/>
                  <a:t>π</a:t>
                </a:r>
                <a:r>
                  <a:rPr lang="el-GR"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pi</a:t>
                </a:r>
                <a:r>
                  <a:rPr lang="en-US" sz="2400" dirty="0">
                    <a:latin typeface="Times New Roman" panose="02020603050405020304" pitchFamily="18" charset="0"/>
                    <a:cs typeface="Times New Roman" panose="02020603050405020304" pitchFamily="18" charset="0"/>
                  </a:rPr>
                  <a:t>)</a:t>
                </a:r>
                <a:r>
                  <a:rPr lang="el-GR" sz="2400" b="1" dirty="0">
                    <a:solidFill>
                      <a:srgbClr val="FF0000"/>
                    </a:solidFill>
                  </a:rPr>
                  <a:t>)</a:t>
                </a:r>
                <a:endParaRPr lang="el-GR" sz="2400" b="1" dirty="0">
                  <a:solidFill>
                    <a:srgbClr val="FF0000"/>
                  </a:solidFill>
                </a:endParaRPr>
              </a:p>
              <a:p>
                <a:r>
                  <a:rPr lang="en-US" sz="2400" b="1" dirty="0">
                    <a:latin typeface="Times New Roman" panose="02020603050405020304" pitchFamily="18" charset="0"/>
                    <a:cs typeface="Times New Roman" panose="02020603050405020304" pitchFamily="18" charset="0"/>
                  </a:rPr>
                  <a:t>Projection</a:t>
                </a:r>
                <a:r>
                  <a:rPr lang="en-US" sz="2400" dirty="0">
                    <a:latin typeface="Times New Roman" panose="02020603050405020304" pitchFamily="18" charset="0"/>
                    <a:cs typeface="Times New Roman" panose="02020603050405020304" pitchFamily="18" charset="0"/>
                  </a:rPr>
                  <a:t> in relational algebra is used to </a:t>
                </a:r>
                <a:r>
                  <a:rPr lang="en-US" sz="2400" b="1" dirty="0">
                    <a:latin typeface="Times New Roman" panose="02020603050405020304" pitchFamily="18" charset="0"/>
                    <a:cs typeface="Times New Roman" panose="02020603050405020304" pitchFamily="18" charset="0"/>
                  </a:rPr>
                  <a:t>select specific columns (attributes)</a:t>
                </a:r>
                <a:r>
                  <a:rPr lang="en-US" sz="2400" dirty="0">
                    <a:latin typeface="Times New Roman" panose="02020603050405020304" pitchFamily="18" charset="0"/>
                    <a:cs typeface="Times New Roman" panose="02020603050405020304" pitchFamily="18" charset="0"/>
                  </a:rPr>
                  <a:t> from a relation.</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It eliminates unwanted attributes and returns only the required ones.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Denoted as: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𝜋</m:t>
                        </m:r>
                      </m:e>
                      <m:sub>
                        <m:r>
                          <a:rPr lang="ar-AE" sz="2000" i="1">
                            <a:latin typeface="Cambria Math" panose="02040503050406030204" pitchFamily="18" charset="0"/>
                          </a:rPr>
                          <m:t>𝑎𝑡𝑡𝑟𝑖𝑏𝑢𝑡𝑒</m:t>
                        </m:r>
                        <m:r>
                          <m:rPr>
                            <m:lit/>
                          </m:rPr>
                          <a:rPr lang="ar-AE" sz="2000">
                            <a:latin typeface="Cambria Math" panose="02040503050406030204" pitchFamily="18" charset="0"/>
                          </a:rPr>
                          <m:t>_</m:t>
                        </m:r>
                        <m:r>
                          <a:rPr lang="ar-AE" sz="2000" i="1">
                            <a:latin typeface="Cambria Math" panose="02040503050406030204" pitchFamily="18" charset="0"/>
                          </a:rPr>
                          <m:t>𝑙𝑖𝑠𝑡</m:t>
                        </m:r>
                      </m:sub>
                    </m:sSub>
                    <m:d>
                      <m:dPr>
                        <m:ctrlPr>
                          <a:rPr lang="ar-AE" sz="2000" i="1">
                            <a:latin typeface="Cambria Math" panose="02040503050406030204" pitchFamily="18" charset="0"/>
                          </a:rPr>
                        </m:ctrlPr>
                      </m:dPr>
                      <m:e>
                        <m:r>
                          <a:rPr lang="ar-AE" sz="2000" i="1">
                            <a:latin typeface="Cambria Math" panose="02040503050406030204" pitchFamily="18" charset="0"/>
                          </a:rPr>
                          <m:t>𝑅𝑒𝑙𝑎𝑡𝑖𝑜𝑛</m:t>
                        </m:r>
                      </m:e>
                    </m:d>
                  </m:oMath>
                </a14:m>
                <a:endParaRPr lang="ar-AE"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400" dirty="0">
                    <a:solidFill>
                      <a:srgbClr val="00B0F0"/>
                    </a:solidFill>
                    <a:latin typeface="Times New Roman" panose="02020603050405020304" pitchFamily="18" charset="0"/>
                    <a:cs typeface="Times New Roman" panose="02020603050405020304" pitchFamily="18" charset="0"/>
                  </a:rPr>
                  <a:t>Example</a:t>
                </a:r>
                <a:r>
                  <a:rPr lang="en-US" sz="2400" dirty="0">
                    <a:latin typeface="Times New Roman" panose="02020603050405020304" pitchFamily="18" charset="0"/>
                    <a:cs typeface="Times New Roman" panose="02020603050405020304" pitchFamily="18" charset="0"/>
                  </a:rPr>
                  <a:t>: </a:t>
                </a:r>
                <a:r>
                  <a:rPr lang="en-US" sz="2400" dirty="0"/>
                  <a:t>Simple Projection on Relation (Student):</a:t>
                </a:r>
                <a:endParaRPr lang="en-US" sz="2400" dirty="0"/>
              </a:p>
              <a:p>
                <a:pPr marL="0" lvl="2">
                  <a:lnSpc>
                    <a:spcPct val="150000"/>
                  </a:lnSpc>
                  <a:spcBef>
                    <a:spcPts val="600"/>
                  </a:spcBef>
                  <a:defRPr/>
                </a:pPr>
                <a:r>
                  <a:rPr lang="en-US" sz="2400" dirty="0"/>
                  <a:t>					</a:t>
                </a:r>
                <a:r>
                  <a:rPr lang="en-US" sz="2400" i="1" dirty="0">
                    <a:latin typeface="Times New Roman" panose="02020603050405020304" pitchFamily="18" charset="0"/>
                    <a:cs typeface="Times New Roman" panose="02020603050405020304" pitchFamily="18" charset="0"/>
                  </a:rPr>
                  <a:t>SQL Equivalent</a:t>
                </a:r>
                <a:r>
                  <a:rPr lang="en-US" sz="2400" dirty="0"/>
                  <a:t>: SELECT Name, Age  FROM Student;</a:t>
                </a:r>
                <a:endParaRPr lang="en-US" sz="2400" dirty="0"/>
              </a:p>
              <a:p>
                <a:pPr marL="457200" lvl="2" indent="-457200">
                  <a:lnSpc>
                    <a:spcPct val="150000"/>
                  </a:lnSpc>
                  <a:spcBef>
                    <a:spcPts val="600"/>
                  </a:spcBef>
                  <a:buBlip>
                    <a:blip r:embed="rId1"/>
                  </a:buBlip>
                  <a:defRPr/>
                </a:pPr>
                <a:endParaRPr lang="en-US" sz="2400" dirty="0"/>
              </a:p>
              <a:p>
                <a:pPr algn="ctr"/>
                <a:r>
                  <a:rPr lang="en-US" b="1" dirty="0"/>
                  <a:t>				</a:t>
                </a:r>
                <a:r>
                  <a:rPr lang="en-US" b="1" i="1" dirty="0">
                    <a:latin typeface="Times New Roman" panose="02020603050405020304" pitchFamily="18" charset="0"/>
                    <a:cs typeface="Times New Roman" panose="02020603050405020304" pitchFamily="18" charset="0"/>
                  </a:rPr>
                  <a:t>Relational Algebra: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𝜋</m:t>
                        </m:r>
                      </m:e>
                      <m:sub>
                        <m:r>
                          <a:rPr lang="ar-AE" sz="2000" i="1">
                            <a:latin typeface="Cambria Math" panose="02040503050406030204" pitchFamily="18" charset="0"/>
                          </a:rPr>
                          <m:t>𝑁𝑎𝑚𝑒</m:t>
                        </m:r>
                        <m:r>
                          <a:rPr lang="ar-AE" sz="2000">
                            <a:latin typeface="Cambria Math" panose="02040503050406030204" pitchFamily="18" charset="0"/>
                          </a:rPr>
                          <m:t>,</m:t>
                        </m:r>
                        <m:r>
                          <a:rPr lang="ar-AE" sz="2000" i="1">
                            <a:latin typeface="Cambria Math" panose="02040503050406030204" pitchFamily="18" charset="0"/>
                          </a:rPr>
                          <m:t>𝐴𝑔𝑒</m:t>
                        </m:r>
                      </m:sub>
                    </m:sSub>
                    <m:d>
                      <m:dPr>
                        <m:ctrlPr>
                          <a:rPr lang="ar-AE" sz="2000" i="1">
                            <a:latin typeface="Cambria Math" panose="02040503050406030204" pitchFamily="18" charset="0"/>
                          </a:rPr>
                        </m:ctrlPr>
                      </m:dPr>
                      <m:e>
                        <m:r>
                          <a:rPr lang="ar-AE" sz="2000" i="1">
                            <a:latin typeface="Cambria Math" panose="02040503050406030204" pitchFamily="18" charset="0"/>
                          </a:rPr>
                          <m:t>𝑆𝑡𝑢𝑑𝑒𝑛𝑡</m:t>
                        </m:r>
                      </m:e>
                    </m:d>
                  </m:oMath>
                </a14:m>
                <a:endParaRPr lang="en-US" sz="2400" dirty="0">
                  <a:latin typeface="Times New Roman" panose="02020603050405020304" pitchFamily="18" charset="0"/>
                  <a:cs typeface="Times New Roman" panose="02020603050405020304" pitchFamily="18" charset="0"/>
                </a:endParaRPr>
              </a:p>
              <a:p>
                <a:pPr algn="ctr"/>
                <a:endParaRPr lang="en-US" sz="2400" dirty="0">
                  <a:latin typeface="Times New Roman" panose="02020603050405020304" pitchFamily="18" charset="0"/>
                  <a:cs typeface="Times New Roman" panose="02020603050405020304" pitchFamily="18" charset="0"/>
                </a:endParaRPr>
              </a:p>
              <a:p>
                <a:pPr algn="ctr"/>
                <a:r>
                  <a:rPr lang="en-US" sz="2400" dirty="0">
                    <a:latin typeface="Times New Roman" panose="02020603050405020304" pitchFamily="18" charset="0"/>
                    <a:cs typeface="Times New Roman" panose="02020603050405020304" pitchFamily="18" charset="0"/>
                  </a:rPr>
                  <a:t>What is output: ?</a:t>
                </a:r>
                <a:endParaRPr lang="en-US" dirty="0"/>
              </a:p>
              <a:p>
                <a:r>
                  <a:rPr lang="en-US" dirty="0"/>
                  <a:t>By default, </a:t>
                </a:r>
                <a:r>
                  <a:rPr lang="en-US" b="1" dirty="0"/>
                  <a:t>projection removes duplicates</a:t>
                </a:r>
                <a:r>
                  <a:rPr lang="en-US" dirty="0"/>
                  <a:t> because a relation is a set of tuples.</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317500" y="732155"/>
                <a:ext cx="11675717" cy="6195863"/>
              </a:xfrm>
              <a:prstGeom prst="rect">
                <a:avLst/>
              </a:prstGeom>
              <a:blipFill rotWithShape="1">
                <a:blip r:embed="rId2"/>
                <a:stretch>
                  <a:fillRect r="5" b="3"/>
                </a:stretch>
              </a:blipFill>
            </p:spPr>
            <p:txBody>
              <a:bodyPr/>
              <a:lstStyle/>
              <a:p>
                <a:r>
                  <a:rPr lang="en-GB" altLang="en-US">
                    <a:noFill/>
                  </a:rPr>
                  <a:t> </a:t>
                </a:r>
              </a:p>
            </p:txBody>
          </p:sp>
        </mc:Fallback>
      </mc:AlternateContent>
      <p:graphicFrame>
        <p:nvGraphicFramePr>
          <p:cNvPr id="2" name="Table 1"/>
          <p:cNvGraphicFramePr>
            <a:graphicFrameLocks noGrp="1"/>
          </p:cNvGraphicFramePr>
          <p:nvPr/>
        </p:nvGraphicFramePr>
        <p:xfrm>
          <a:off x="609048" y="4342561"/>
          <a:ext cx="4012516" cy="1783284"/>
        </p:xfrm>
        <a:graphic>
          <a:graphicData uri="http://schemas.openxmlformats.org/drawingml/2006/table">
            <a:tbl>
              <a:tblPr>
                <a:tableStyleId>{0505E3EF-67EA-436B-97B2-0124C06EBD24}</a:tableStyleId>
              </a:tblPr>
              <a:tblGrid>
                <a:gridCol w="1003129"/>
                <a:gridCol w="1003129"/>
                <a:gridCol w="1003129"/>
                <a:gridCol w="1003129"/>
              </a:tblGrid>
              <a:tr h="445821">
                <a:tc>
                  <a:txBody>
                    <a:bodyPr/>
                    <a:lstStyle/>
                    <a:p>
                      <a:pPr>
                        <a:buNone/>
                      </a:pPr>
                      <a:r>
                        <a:rPr lang="en-US" sz="2000" dirty="0" err="1"/>
                        <a:t>Stu_ID</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Name</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2000" dirty="0"/>
                        <a:t>Age</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Dept</a:t>
                      </a:r>
                      <a:endParaRPr lang="en-US" sz="2000" dirty="0">
                        <a:latin typeface="Times New Roman" panose="02020603050405020304" pitchFamily="18" charset="0"/>
                        <a:cs typeface="Times New Roman" panose="02020603050405020304" pitchFamily="18" charset="0"/>
                      </a:endParaRPr>
                    </a:p>
                  </a:txBody>
                  <a:tcPr anchor="ctr"/>
                </a:tc>
              </a:tr>
              <a:tr h="445821">
                <a:tc>
                  <a:txBody>
                    <a:bodyPr/>
                    <a:lstStyle/>
                    <a:p>
                      <a:pPr>
                        <a:buNone/>
                      </a:pPr>
                      <a:r>
                        <a:rPr lang="en-US" sz="2000" dirty="0"/>
                        <a:t>101</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Abel</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21</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CS</a:t>
                      </a:r>
                      <a:endParaRPr lang="en-US" sz="2000" dirty="0">
                        <a:latin typeface="Times New Roman" panose="02020603050405020304" pitchFamily="18" charset="0"/>
                        <a:cs typeface="Times New Roman" panose="02020603050405020304" pitchFamily="18" charset="0"/>
                      </a:endParaRPr>
                    </a:p>
                  </a:txBody>
                  <a:tcPr anchor="ctr"/>
                </a:tc>
              </a:tr>
              <a:tr h="445821">
                <a:tc>
                  <a:txBody>
                    <a:bodyPr/>
                    <a:lstStyle/>
                    <a:p>
                      <a:pPr>
                        <a:buNone/>
                      </a:pPr>
                      <a:r>
                        <a:rPr lang="en-US" sz="2000"/>
                        <a:t>102</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Haniel</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20</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IT</a:t>
                      </a:r>
                      <a:endParaRPr lang="en-US" sz="2000">
                        <a:latin typeface="Times New Roman" panose="02020603050405020304" pitchFamily="18" charset="0"/>
                        <a:cs typeface="Times New Roman" panose="02020603050405020304" pitchFamily="18" charset="0"/>
                      </a:endParaRPr>
                    </a:p>
                  </a:txBody>
                  <a:tcPr anchor="ctr"/>
                </a:tc>
              </a:tr>
              <a:tr h="445821">
                <a:tc>
                  <a:txBody>
                    <a:bodyPr/>
                    <a:lstStyle/>
                    <a:p>
                      <a:pPr>
                        <a:buNone/>
                      </a:pPr>
                      <a:r>
                        <a:rPr lang="en-US" sz="2000"/>
                        <a:t>103</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a:t>Samuel</a:t>
                      </a:r>
                      <a:endParaRPr lang="en-US" sz="200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22</a:t>
                      </a:r>
                      <a:endParaRPr lang="en-US"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t>CS</a:t>
                      </a:r>
                      <a:endParaRPr lang="en-US" sz="2000" dirty="0">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718511" y="904043"/>
                <a:ext cx="11194775" cy="5306060"/>
              </a:xfrm>
              <a:prstGeom prst="rect">
                <a:avLst/>
              </a:prstGeom>
            </p:spPr>
            <p:txBody>
              <a:bodyPr wrap="square">
                <a:noAutofit/>
              </a:bodyPr>
              <a:lstStyle/>
              <a:p>
                <a:pPr marL="0" lvl="2">
                  <a:lnSpc>
                    <a:spcPct val="150000"/>
                  </a:lnSpc>
                  <a:spcBef>
                    <a:spcPts val="600"/>
                  </a:spcBef>
                  <a:defRPr/>
                </a:pPr>
                <a:r>
                  <a:rPr lang="en-US" sz="2400" b="1" dirty="0">
                    <a:solidFill>
                      <a:srgbClr val="FF0000"/>
                    </a:solidFill>
                    <a:latin typeface="Times New Roman" panose="02020603050405020304" pitchFamily="18" charset="0"/>
                    <a:cs typeface="Times New Roman" panose="02020603050405020304" pitchFamily="18" charset="0"/>
                  </a:rPr>
                  <a:t>B) SELECTION Operation (</a:t>
                </a:r>
                <a14:m>
                  <m:oMath xmlns:m="http://schemas.openxmlformats.org/officeDocument/2006/math">
                    <m:r>
                      <a:rPr lang="ar-AE" sz="2400" i="1">
                        <a:latin typeface="Cambria Math" panose="02040503050406030204" pitchFamily="18" charset="0"/>
                      </a:rPr>
                      <m:t>𝜎</m:t>
                    </m:r>
                  </m:oMath>
                </a14:m>
                <a:r>
                  <a:rPr lang="en-US" sz="2400" b="1" dirty="0">
                    <a:solidFill>
                      <a:srgbClr val="FF0000"/>
                    </a:solidFill>
                    <a:latin typeface="Times New Roman" panose="02020603050405020304" pitchFamily="18" charset="0"/>
                    <a:cs typeface="Times New Roman" panose="02020603050405020304" pitchFamily="18" charset="0"/>
                  </a:rPr>
                  <a:t>(Sigma))</a:t>
                </a:r>
                <a:endParaRPr lang="en-US" sz="2400" b="1" dirty="0">
                  <a:solidFill>
                    <a:srgbClr val="FF0000"/>
                  </a:solidFill>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Selection</a:t>
                </a:r>
                <a:r>
                  <a:rPr lang="en-US" sz="2400" dirty="0">
                    <a:latin typeface="Times New Roman" panose="02020603050405020304" pitchFamily="18" charset="0"/>
                    <a:cs typeface="Times New Roman" panose="02020603050405020304" pitchFamily="18" charset="0"/>
                  </a:rPr>
                  <a:t> is a relational algebra operation used to </a:t>
                </a:r>
                <a:r>
                  <a:rPr lang="en-US" sz="2400" b="1" dirty="0">
                    <a:latin typeface="Times New Roman" panose="02020603050405020304" pitchFamily="18" charset="0"/>
                    <a:cs typeface="Times New Roman" panose="02020603050405020304" pitchFamily="18" charset="0"/>
                  </a:rPr>
                  <a:t>filter rows (tuples)</a:t>
                </a:r>
                <a:r>
                  <a:rPr lang="en-US" sz="2400" dirty="0">
                    <a:latin typeface="Times New Roman" panose="02020603050405020304" pitchFamily="18" charset="0"/>
                    <a:cs typeface="Times New Roman" panose="02020603050405020304" pitchFamily="18" charset="0"/>
                  </a:rPr>
                  <a:t> from a relation based on a </a:t>
                </a:r>
                <a:r>
                  <a:rPr lang="en-US" sz="2400" b="1" dirty="0">
                    <a:latin typeface="Times New Roman" panose="02020603050405020304" pitchFamily="18" charset="0"/>
                    <a:cs typeface="Times New Roman" panose="02020603050405020304" pitchFamily="18" charset="0"/>
                  </a:rPr>
                  <a:t>condition</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It is denoted by: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𝜎</m:t>
                        </m:r>
                      </m:e>
                      <m:sub>
                        <m:r>
                          <a:rPr lang="ar-AE" sz="2400" i="1">
                            <a:latin typeface="Cambria Math" panose="02040503050406030204" pitchFamily="18" charset="0"/>
                          </a:rPr>
                          <m:t>𝑐𝑜𝑛𝑑𝑖𝑡𝑖𝑜𝑛</m:t>
                        </m:r>
                      </m:sub>
                    </m:sSub>
                    <m:d>
                      <m:dPr>
                        <m:ctrlPr>
                          <a:rPr lang="ar-AE" sz="2400" i="1">
                            <a:latin typeface="Cambria Math" panose="02040503050406030204" pitchFamily="18" charset="0"/>
                          </a:rPr>
                        </m:ctrlPr>
                      </m:dPr>
                      <m:e>
                        <m:r>
                          <a:rPr lang="ar-AE" sz="2400" i="1">
                            <a:latin typeface="Cambria Math" panose="02040503050406030204" pitchFamily="18" charset="0"/>
                          </a:rPr>
                          <m:t>𝑅𝑒𝑙𝑎𝑡𝑖𝑜𝑛</m:t>
                        </m:r>
                      </m:e>
                    </m:d>
                  </m:oMath>
                </a14:m>
                <a:endParaRPr lang="en-US" sz="2400" dirty="0">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Only those tuples (rows) that satisfy the </a:t>
                </a:r>
                <a:r>
                  <a:rPr lang="en-US" sz="2400" b="1" dirty="0">
                    <a:latin typeface="Times New Roman" panose="02020603050405020304" pitchFamily="18" charset="0"/>
                    <a:cs typeface="Times New Roman" panose="02020603050405020304" pitchFamily="18" charset="0"/>
                  </a:rPr>
                  <a:t>condition</a:t>
                </a:r>
                <a:r>
                  <a:rPr lang="en-US" sz="2400" dirty="0">
                    <a:latin typeface="Times New Roman" panose="02020603050405020304" pitchFamily="18" charset="0"/>
                    <a:cs typeface="Times New Roman" panose="02020603050405020304" pitchFamily="18" charset="0"/>
                  </a:rPr>
                  <a:t> are returned.</a:t>
                </a:r>
                <a:endParaRPr lang="en-US" sz="2400" dirty="0">
                  <a:latin typeface="Times New Roman" panose="02020603050405020304" pitchFamily="18" charset="0"/>
                  <a:cs typeface="Times New Roman" panose="02020603050405020304" pitchFamily="18" charset="0"/>
                </a:endParaRPr>
              </a:p>
              <a:p>
                <a:pPr marL="342900" indent="-342900">
                  <a:lnSpc>
                    <a:spcPct val="150000"/>
                  </a:lnSpc>
                  <a:buClr>
                    <a:srgbClr val="00B0F0"/>
                  </a:buClr>
                  <a:buFont typeface="Wingdings" panose="05000000000000000000" pitchFamily="2" charset="2"/>
                  <a:buChar char="v"/>
                </a:pPr>
                <a:r>
                  <a:rPr lang="en-US" sz="2400" b="1" dirty="0">
                    <a:latin typeface="Times New Roman" panose="02020603050405020304" pitchFamily="18" charset="0"/>
                    <a:cs typeface="Times New Roman" panose="02020603050405020304" pitchFamily="18" charset="0"/>
                  </a:rPr>
                  <a:t>Works on rows (horizontal filtering).</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	Example 1 : Simple Condition</a:t>
                </a:r>
                <a:endParaRPr lang="en-US" sz="2400" b="1" dirty="0">
                  <a:latin typeface="Times New Roman" panose="02020603050405020304" pitchFamily="18" charset="0"/>
                  <a:cs typeface="Times New Roman" panose="02020603050405020304" pitchFamily="18" charset="0"/>
                </a:endParaRPr>
              </a:p>
              <a:p>
                <a:pPr>
                  <a:lnSpc>
                    <a:spcPct val="150000"/>
                  </a:lnSpc>
                </a:pPr>
                <a:r>
                  <a:rPr lang="en-US" sz="2400" b="1" dirty="0">
                    <a:latin typeface="Times New Roman" panose="02020603050405020304" pitchFamily="18" charset="0"/>
                    <a:cs typeface="Times New Roman" panose="02020603050405020304" pitchFamily="18" charset="0"/>
                  </a:rPr>
                  <a:t>Relation (Student) from previous slide:</a:t>
                </a:r>
                <a:endParaRPr lang="en-US" sz="2400" dirty="0">
                  <a:latin typeface="Times New Roman" panose="02020603050405020304" pitchFamily="18" charset="0"/>
                  <a:cs typeface="Times New Roman" panose="02020603050405020304" pitchFamily="18" charset="0"/>
                </a:endParaRPr>
              </a:p>
              <a:p>
                <a:pPr>
                  <a:lnSpc>
                    <a:spcPct val="150000"/>
                  </a:lnSpc>
                  <a:buClr>
                    <a:srgbClr val="00B0F0"/>
                  </a:buClr>
                </a:pPr>
                <a:r>
                  <a:rPr lang="en-US" sz="2400" dirty="0" err="1">
                    <a:latin typeface="Times New Roman" panose="02020603050405020304" pitchFamily="18" charset="0"/>
                    <a:cs typeface="Times New Roman" panose="02020603050405020304" pitchFamily="18" charset="0"/>
                  </a:rPr>
                  <a:t>Sql</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stmt</a:t>
                </a:r>
                <a:r>
                  <a:rPr lang="en-US" sz="2400" dirty="0">
                    <a:latin typeface="Times New Roman" panose="02020603050405020304" pitchFamily="18" charset="0"/>
                    <a:cs typeface="Times New Roman" panose="02020603050405020304" pitchFamily="18" charset="0"/>
                  </a:rPr>
                  <a:t> :- SELECT * FROM Student WHERE Age &gt; 20;</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Relational Algebra</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𝜎</m:t>
                        </m:r>
                      </m:e>
                      <m:sub>
                        <m:r>
                          <a:rPr lang="ar-AE" sz="2000" i="1">
                            <a:latin typeface="Cambria Math" panose="02040503050406030204" pitchFamily="18" charset="0"/>
                          </a:rPr>
                          <m:t>𝐴𝑔𝑒</m:t>
                        </m:r>
                        <m:r>
                          <a:rPr lang="ar-AE" sz="2000">
                            <a:latin typeface="Cambria Math" panose="02040503050406030204" pitchFamily="18" charset="0"/>
                          </a:rPr>
                          <m:t>&gt;</m:t>
                        </m:r>
                        <m:r>
                          <a:rPr lang="ar-AE" sz="2000">
                            <a:latin typeface="Cambria Math" panose="02040503050406030204" pitchFamily="18" charset="0"/>
                          </a:rPr>
                          <m:t>20</m:t>
                        </m:r>
                      </m:sub>
                    </m:sSub>
                    <m:d>
                      <m:dPr>
                        <m:ctrlPr>
                          <a:rPr lang="ar-AE" sz="2000" i="1">
                            <a:latin typeface="Cambria Math" panose="02040503050406030204" pitchFamily="18" charset="0"/>
                          </a:rPr>
                        </m:ctrlPr>
                      </m:dPr>
                      <m:e>
                        <m:r>
                          <a:rPr lang="ar-AE" sz="2000" i="1">
                            <a:latin typeface="Cambria Math" panose="02040503050406030204" pitchFamily="18" charset="0"/>
                          </a:rPr>
                          <m:t>𝑆𝑡𝑢𝑑𝑒𝑛𝑡</m:t>
                        </m:r>
                      </m:e>
                    </m:d>
                  </m:oMath>
                </a14:m>
                <a:endParaRPr lang="en-US" sz="2400" dirty="0">
                  <a:latin typeface="Times New Roman" panose="02020603050405020304" pitchFamily="18" charset="0"/>
                  <a:cs typeface="Times New Roman" panose="02020603050405020304" pitchFamily="18" charset="0"/>
                </a:endParaRPr>
              </a:p>
              <a:p>
                <a:pPr>
                  <a:lnSpc>
                    <a:spcPct val="150000"/>
                  </a:lnSpc>
                </a:pPr>
                <a:endParaRPr lang="en-US" sz="2400" b="1" dirty="0">
                  <a:latin typeface="Times New Roman" panose="02020603050405020304" pitchFamily="18" charset="0"/>
                  <a:cs typeface="Times New Roman" panose="02020603050405020304" pitchFamily="18" charset="0"/>
                </a:endParaRPr>
              </a:p>
              <a:p>
                <a:pPr>
                  <a:lnSpc>
                    <a:spcPct val="150000"/>
                  </a:lnSpc>
                </a:pPr>
                <a:endParaRPr lang="en-US" sz="2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718511" y="904043"/>
                <a:ext cx="11194775" cy="5306060"/>
              </a:xfrm>
              <a:prstGeom prst="rect">
                <a:avLst/>
              </a:prstGeom>
              <a:blipFill rotWithShape="1">
                <a:blip r:embed="rId2"/>
                <a:stretch>
                  <a:fillRect l="-3" t="-8" b="-38335"/>
                </a:stretch>
              </a:blipFill>
            </p:spPr>
            <p:txBody>
              <a:bodyPr/>
              <a:lstStyle/>
              <a:p>
                <a:r>
                  <a:rPr lang="en-GB" altLang="en-US">
                    <a:noFill/>
                  </a:rPr>
                  <a:t> </a:t>
                </a:r>
              </a:p>
            </p:txBody>
          </p:sp>
        </mc:Fallback>
      </mc:AlternateContent>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967409" y="1055982"/>
                <a:ext cx="10194576" cy="5091266"/>
              </a:xfrm>
              <a:prstGeom prst="rect">
                <a:avLst/>
              </a:prstGeom>
            </p:spPr>
            <p:txBody>
              <a:bodyPr wrap="square">
                <a:spAutoFit/>
              </a:bodyPr>
              <a:lstStyle/>
              <a:p>
                <a:pPr>
                  <a:lnSpc>
                    <a:spcPct val="150000"/>
                  </a:lnSpc>
                </a:pPr>
                <a:r>
                  <a:rPr lang="en-US" sz="2000" b="1" dirty="0" err="1">
                    <a:solidFill>
                      <a:srgbClr val="FF0000"/>
                    </a:solidFill>
                    <a:latin typeface="Times New Roman" panose="02020603050405020304" pitchFamily="18" charset="0"/>
                    <a:cs typeface="Times New Roman" panose="02020603050405020304" pitchFamily="18" charset="0"/>
                  </a:rPr>
                  <a:t>i</a:t>
                </a:r>
                <a:r>
                  <a:rPr lang="en-US" sz="2000" b="1" dirty="0">
                    <a:solidFill>
                      <a:srgbClr val="FF0000"/>
                    </a:solidFill>
                    <a:latin typeface="Times New Roman" panose="02020603050405020304" pitchFamily="18" charset="0"/>
                    <a:cs typeface="Times New Roman" panose="02020603050405020304" pitchFamily="18" charset="0"/>
                  </a:rPr>
                  <a:t>.  Multiple Conditions (AND)</a:t>
                </a:r>
                <a:endParaRPr lang="en-US" sz="20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SQL:</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 SELECT *  FROM Student  WHERE Dept = 'CS' </a:t>
                </a:r>
                <a:r>
                  <a:rPr lang="en-US" sz="2000" b="1" dirty="0">
                    <a:solidFill>
                      <a:srgbClr val="FF0000"/>
                    </a:solidFill>
                    <a:latin typeface="Times New Roman" panose="02020603050405020304" pitchFamily="18" charset="0"/>
                    <a:cs typeface="Times New Roman" panose="02020603050405020304" pitchFamily="18" charset="0"/>
                  </a:rPr>
                  <a:t>AND</a:t>
                </a:r>
                <a:r>
                  <a:rPr lang="en-US" sz="2000" b="1" dirty="0">
                    <a:latin typeface="Times New Roman" panose="02020603050405020304" pitchFamily="18" charset="0"/>
                    <a:cs typeface="Times New Roman" panose="02020603050405020304" pitchFamily="18" charset="0"/>
                  </a:rPr>
                  <a:t> Age &gt; 21;</a:t>
                </a:r>
                <a:endParaRPr lang="en-US" sz="2000" b="1"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   Relational Algebra:</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smtClean="0">
                            <a:solidFill>
                              <a:schemeClr val="tx1"/>
                            </a:solidFill>
                            <a:latin typeface="Cambria Math" panose="02040503050406030204" pitchFamily="18" charset="0"/>
                          </a:rPr>
                        </m:ctrlPr>
                      </m:sSubPr>
                      <m:e>
                        <m:r>
                          <a:rPr lang="ar-AE" sz="2400" i="1">
                            <a:solidFill>
                              <a:schemeClr val="tx1"/>
                            </a:solidFill>
                            <a:latin typeface="Cambria Math" panose="02040503050406030204" pitchFamily="18" charset="0"/>
                          </a:rPr>
                          <m:t>𝜎</m:t>
                        </m:r>
                      </m:e>
                      <m:sub>
                        <m:r>
                          <a:rPr lang="ar-AE" sz="2400" i="1">
                            <a:solidFill>
                              <a:schemeClr val="tx1"/>
                            </a:solidFill>
                            <a:latin typeface="Cambria Math" panose="02040503050406030204" pitchFamily="18" charset="0"/>
                          </a:rPr>
                          <m:t>𝐷𝑒𝑝𝑡</m:t>
                        </m:r>
                        <m:sSup>
                          <m:sSupPr>
                            <m:ctrlPr>
                              <a:rPr lang="ar-AE" sz="2400" i="1">
                                <a:solidFill>
                                  <a:schemeClr val="tx1"/>
                                </a:solidFill>
                                <a:latin typeface="Cambria Math" panose="02040503050406030204" pitchFamily="18" charset="0"/>
                              </a:rPr>
                            </m:ctrlPr>
                          </m:sSupPr>
                          <m:e>
                            <m:r>
                              <a:rPr lang="ar-AE" sz="2400" i="1">
                                <a:solidFill>
                                  <a:schemeClr val="tx1"/>
                                </a:solidFill>
                                <a:latin typeface="Cambria Math" panose="02040503050406030204" pitchFamily="18" charset="0"/>
                              </a:rPr>
                              <m:t>=</m:t>
                            </m:r>
                          </m:e>
                          <m:sup>
                            <m:r>
                              <a:rPr lang="ar-AE" sz="2400" i="1">
                                <a:solidFill>
                                  <a:schemeClr val="tx1"/>
                                </a:solidFill>
                                <a:latin typeface="Cambria Math" panose="02040503050406030204" pitchFamily="18" charset="0"/>
                              </a:rPr>
                              <m:t>′</m:t>
                            </m:r>
                          </m:sup>
                        </m:sSup>
                        <m:r>
                          <a:rPr lang="ar-AE" sz="2400" i="1">
                            <a:solidFill>
                              <a:schemeClr val="tx1"/>
                            </a:solidFill>
                            <a:latin typeface="Cambria Math" panose="02040503050406030204" pitchFamily="18" charset="0"/>
                          </a:rPr>
                          <m:t>𝐶</m:t>
                        </m:r>
                        <m:sSup>
                          <m:sSupPr>
                            <m:ctrlPr>
                              <a:rPr lang="ar-AE" sz="2400" i="1">
                                <a:solidFill>
                                  <a:schemeClr val="tx1"/>
                                </a:solidFill>
                                <a:latin typeface="Cambria Math" panose="02040503050406030204" pitchFamily="18" charset="0"/>
                              </a:rPr>
                            </m:ctrlPr>
                          </m:sSupPr>
                          <m:e>
                            <m:r>
                              <a:rPr lang="ar-AE" sz="2400" i="1">
                                <a:solidFill>
                                  <a:schemeClr val="tx1"/>
                                </a:solidFill>
                                <a:latin typeface="Cambria Math" panose="02040503050406030204" pitchFamily="18" charset="0"/>
                              </a:rPr>
                              <m:t>𝑆</m:t>
                            </m:r>
                          </m:e>
                          <m:sup>
                            <m:r>
                              <a:rPr lang="ar-AE" sz="2400" i="1">
                                <a:solidFill>
                                  <a:schemeClr val="tx1"/>
                                </a:solidFill>
                                <a:latin typeface="Cambria Math" panose="02040503050406030204" pitchFamily="18" charset="0"/>
                              </a:rPr>
                              <m:t>′</m:t>
                            </m:r>
                          </m:sup>
                        </m:sSup>
                        <m:r>
                          <a:rPr lang="ar-AE" sz="2400" i="1">
                            <a:solidFill>
                              <a:schemeClr val="tx1"/>
                            </a:solidFill>
                            <a:latin typeface="Cambria Math" panose="02040503050406030204" pitchFamily="18" charset="0"/>
                          </a:rPr>
                          <m:t>∧</m:t>
                        </m:r>
                        <m:r>
                          <a:rPr lang="ar-AE" sz="2400" i="1">
                            <a:solidFill>
                              <a:schemeClr val="tx1"/>
                            </a:solidFill>
                            <a:latin typeface="Cambria Math" panose="02040503050406030204" pitchFamily="18" charset="0"/>
                          </a:rPr>
                          <m:t>𝐴𝑔𝑒</m:t>
                        </m:r>
                        <m:r>
                          <a:rPr lang="ar-AE" sz="2400" i="1">
                            <a:solidFill>
                              <a:schemeClr val="tx1"/>
                            </a:solidFill>
                            <a:latin typeface="Cambria Math" panose="02040503050406030204" pitchFamily="18" charset="0"/>
                          </a:rPr>
                          <m:t>&gt;</m:t>
                        </m:r>
                        <m:r>
                          <a:rPr lang="ar-AE" sz="2400" i="1">
                            <a:solidFill>
                              <a:schemeClr val="tx1"/>
                            </a:solidFill>
                            <a:latin typeface="Cambria Math" panose="02040503050406030204" pitchFamily="18" charset="0"/>
                          </a:rPr>
                          <m:t>21</m:t>
                        </m:r>
                      </m:sub>
                    </m:sSub>
                    <m:d>
                      <m:dPr>
                        <m:ctrlPr>
                          <a:rPr lang="ar-AE" sz="2400" i="1">
                            <a:solidFill>
                              <a:schemeClr val="tx1"/>
                            </a:solidFill>
                            <a:latin typeface="Cambria Math" panose="02040503050406030204" pitchFamily="18" charset="0"/>
                          </a:rPr>
                        </m:ctrlPr>
                      </m:dPr>
                      <m:e>
                        <m:r>
                          <a:rPr lang="ar-AE" sz="2400" i="1">
                            <a:solidFill>
                              <a:schemeClr val="tx1"/>
                            </a:solidFill>
                            <a:latin typeface="Cambria Math" panose="02040503050406030204" pitchFamily="18" charset="0"/>
                          </a:rPr>
                          <m:t>𝑆𝑡𝑢𝑑𝑒𝑛𝑡</m:t>
                        </m:r>
                      </m:e>
                    </m:d>
                  </m:oMath>
                </a14:m>
                <a:r>
                  <a:rPr lang="en-US" sz="2000" i="1" dirty="0">
                    <a:solidFill>
                      <a:schemeClr val="tx1"/>
                    </a:solidFill>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	     		</a:t>
                </a:r>
                <a:r>
                  <a:rPr lang="en-US" sz="2000" i="1" dirty="0">
                    <a:solidFill>
                      <a:schemeClr val="tx1"/>
                    </a:solidFill>
                    <a:latin typeface="Times New Roman" panose="02020603050405020304" pitchFamily="18" charset="0"/>
                    <a:cs typeface="Times New Roman" panose="02020603050405020304" pitchFamily="18" charset="0"/>
                  </a:rPr>
                  <a:t> output?</a:t>
                </a:r>
                <a:endParaRPr lang="ar-AE" sz="2000" i="1"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2000" b="1" dirty="0">
                    <a:solidFill>
                      <a:srgbClr val="FF0000"/>
                    </a:solidFill>
                    <a:latin typeface="Times New Roman" panose="02020603050405020304" pitchFamily="18" charset="0"/>
                    <a:cs typeface="Times New Roman" panose="02020603050405020304" pitchFamily="18" charset="0"/>
                  </a:rPr>
                  <a:t>ii. OR Condition</a:t>
                </a:r>
                <a:endParaRPr lang="en-US" sz="20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SQL: </a:t>
                </a:r>
                <a:r>
                  <a:rPr lang="en-US" sz="2000" dirty="0">
                    <a:latin typeface="Times New Roman" panose="02020603050405020304" pitchFamily="18" charset="0"/>
                    <a:cs typeface="Times New Roman" panose="02020603050405020304" pitchFamily="18" charset="0"/>
                  </a:rPr>
                  <a:t>SELECT * FROM Student  WHERE Dept = 'CS' </a:t>
                </a:r>
                <a:r>
                  <a:rPr lang="en-US" sz="2000" dirty="0">
                    <a:solidFill>
                      <a:srgbClr val="FF0000"/>
                    </a:solidFill>
                    <a:latin typeface="Times New Roman" panose="02020603050405020304" pitchFamily="18" charset="0"/>
                    <a:cs typeface="Times New Roman" panose="02020603050405020304" pitchFamily="18" charset="0"/>
                  </a:rPr>
                  <a:t>OR</a:t>
                </a:r>
                <a:r>
                  <a:rPr lang="en-US" sz="2000" dirty="0">
                    <a:latin typeface="Times New Roman" panose="02020603050405020304" pitchFamily="18" charset="0"/>
                    <a:cs typeface="Times New Roman" panose="02020603050405020304" pitchFamily="18" charset="0"/>
                  </a:rPr>
                  <a:t> Age &lt; 21;</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Relational Algebra:</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𝜎</m:t>
                        </m:r>
                      </m:e>
                      <m:sub>
                        <m:r>
                          <a:rPr lang="ar-AE" sz="2000" i="1">
                            <a:latin typeface="Cambria Math" panose="02040503050406030204" pitchFamily="18" charset="0"/>
                          </a:rPr>
                          <m:t>𝐷𝑒𝑝𝑡</m:t>
                        </m:r>
                        <m:sSup>
                          <m:sSupPr>
                            <m:ctrlPr>
                              <a:rPr lang="ar-AE" sz="2000" i="1">
                                <a:latin typeface="Cambria Math" panose="02040503050406030204" pitchFamily="18" charset="0"/>
                              </a:rPr>
                            </m:ctrlPr>
                          </m:sSupPr>
                          <m:e>
                            <m:r>
                              <a:rPr lang="ar-AE" sz="2000">
                                <a:latin typeface="Cambria Math" panose="02040503050406030204" pitchFamily="18" charset="0"/>
                              </a:rPr>
                              <m:t>=</m:t>
                            </m:r>
                          </m:e>
                          <m:sup>
                            <m:r>
                              <a:rPr lang="ar-AE" sz="2000">
                                <a:latin typeface="Cambria Math" panose="02040503050406030204" pitchFamily="18" charset="0"/>
                              </a:rPr>
                              <m:t>′</m:t>
                            </m:r>
                          </m:sup>
                        </m:sSup>
                        <m:r>
                          <a:rPr lang="ar-AE" sz="2000" i="1">
                            <a:latin typeface="Cambria Math" panose="02040503050406030204" pitchFamily="18" charset="0"/>
                          </a:rPr>
                          <m:t>𝐶</m:t>
                        </m:r>
                        <m:sSup>
                          <m:sSupPr>
                            <m:ctrlPr>
                              <a:rPr lang="ar-AE" sz="2000" i="1">
                                <a:latin typeface="Cambria Math" panose="02040503050406030204" pitchFamily="18" charset="0"/>
                              </a:rPr>
                            </m:ctrlPr>
                          </m:sSupPr>
                          <m:e>
                            <m:r>
                              <a:rPr lang="ar-AE" sz="2000" i="1">
                                <a:latin typeface="Cambria Math" panose="02040503050406030204" pitchFamily="18" charset="0"/>
                              </a:rPr>
                              <m:t>𝑆</m:t>
                            </m:r>
                          </m:e>
                          <m:sup>
                            <m:r>
                              <a:rPr lang="ar-AE" sz="2000">
                                <a:latin typeface="Cambria Math" panose="02040503050406030204" pitchFamily="18" charset="0"/>
                              </a:rPr>
                              <m:t>′</m:t>
                            </m:r>
                          </m:sup>
                        </m:sSup>
                        <m:r>
                          <a:rPr lang="ar-AE" sz="2000">
                            <a:latin typeface="Cambria Math" panose="02040503050406030204" pitchFamily="18" charset="0"/>
                          </a:rPr>
                          <m:t>∨</m:t>
                        </m:r>
                        <m:r>
                          <a:rPr lang="ar-AE" sz="2000" i="1">
                            <a:latin typeface="Cambria Math" panose="02040503050406030204" pitchFamily="18" charset="0"/>
                          </a:rPr>
                          <m:t>𝐴𝑔𝑒</m:t>
                        </m:r>
                        <m:r>
                          <a:rPr lang="ar-AE" sz="2000">
                            <a:latin typeface="Cambria Math" panose="02040503050406030204" pitchFamily="18" charset="0"/>
                          </a:rPr>
                          <m:t>&lt;</m:t>
                        </m:r>
                        <m:r>
                          <a:rPr lang="ar-AE" sz="2000">
                            <a:latin typeface="Cambria Math" panose="02040503050406030204" pitchFamily="18" charset="0"/>
                          </a:rPr>
                          <m:t>21</m:t>
                        </m:r>
                      </m:sub>
                    </m:sSub>
                    <m:d>
                      <m:dPr>
                        <m:ctrlPr>
                          <a:rPr lang="ar-AE" sz="2000" i="1">
                            <a:latin typeface="Cambria Math" panose="02040503050406030204" pitchFamily="18" charset="0"/>
                          </a:rPr>
                        </m:ctrlPr>
                      </m:dPr>
                      <m:e>
                        <m:r>
                          <a:rPr lang="ar-AE" sz="2000" i="1">
                            <a:latin typeface="Cambria Math" panose="02040503050406030204" pitchFamily="18" charset="0"/>
                          </a:rPr>
                          <m:t>𝑆𝑡𝑢𝑑𝑒𝑛𝑡</m:t>
                        </m:r>
                      </m:e>
                    </m:d>
                  </m:oMath>
                </a14:m>
                <a:r>
                  <a:rPr lang="en-US" sz="2000" dirty="0">
                    <a:latin typeface="Times New Roman" panose="02020603050405020304" pitchFamily="18" charset="0"/>
                    <a:cs typeface="Times New Roman" panose="02020603050405020304" pitchFamily="18" charset="0"/>
                  </a:rPr>
                  <a:t>		        		output ?</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solidFill>
                      <a:srgbClr val="FF0000"/>
                    </a:solidFill>
                    <a:latin typeface="Times New Roman" panose="02020603050405020304" pitchFamily="18" charset="0"/>
                    <a:cs typeface="Times New Roman" panose="02020603050405020304" pitchFamily="18" charset="0"/>
                  </a:rPr>
                  <a:t>iii. </a:t>
                </a:r>
                <a:r>
                  <a:rPr lang="en-US" sz="2000" b="1" dirty="0">
                    <a:solidFill>
                      <a:srgbClr val="FF0000"/>
                    </a:solidFill>
                    <a:latin typeface="Times New Roman" panose="02020603050405020304" pitchFamily="18" charset="0"/>
                    <a:cs typeface="Times New Roman" panose="02020603050405020304" pitchFamily="18" charset="0"/>
                  </a:rPr>
                  <a:t>Combined with Projection</a:t>
                </a:r>
                <a:endParaRPr lang="en-US" sz="2000" b="1"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If we want only the </a:t>
                </a:r>
                <a:r>
                  <a:rPr lang="en-US" sz="2000" b="1" dirty="0">
                    <a:latin typeface="Times New Roman" panose="02020603050405020304" pitchFamily="18" charset="0"/>
                    <a:cs typeface="Times New Roman" panose="02020603050405020304" pitchFamily="18" charset="0"/>
                  </a:rPr>
                  <a:t>names</a:t>
                </a:r>
                <a:r>
                  <a:rPr lang="en-US" sz="2000" dirty="0">
                    <a:latin typeface="Times New Roman" panose="02020603050405020304" pitchFamily="18" charset="0"/>
                    <a:cs typeface="Times New Roman" panose="02020603050405020304" pitchFamily="18" charset="0"/>
                  </a:rPr>
                  <a:t> of CS students:</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SQL: </a:t>
                </a:r>
                <a:r>
                  <a:rPr lang="en-US" sz="2000" dirty="0">
                    <a:latin typeface="Times New Roman" panose="02020603050405020304" pitchFamily="18" charset="0"/>
                    <a:cs typeface="Times New Roman" panose="02020603050405020304" pitchFamily="18" charset="0"/>
                  </a:rPr>
                  <a:t>SELECT Name  FROM Student  WHERE Dept = 'CS';</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Relational Algebra:</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𝜋</m:t>
                        </m:r>
                      </m:e>
                      <m:sub>
                        <m:r>
                          <a:rPr lang="ar-AE" sz="2000" i="1">
                            <a:latin typeface="Cambria Math" panose="02040503050406030204" pitchFamily="18" charset="0"/>
                          </a:rPr>
                          <m:t>𝑁𝑎𝑚𝑒</m:t>
                        </m:r>
                      </m:sub>
                    </m:sSub>
                    <m:d>
                      <m:dPr>
                        <m:ctrlPr>
                          <a:rPr lang="ar-AE" sz="2000" i="1">
                            <a:latin typeface="Cambria Math" panose="02040503050406030204" pitchFamily="18" charset="0"/>
                          </a:rPr>
                        </m:ctrlPr>
                      </m:dPr>
                      <m:e>
                        <m:sSub>
                          <m:sSubPr>
                            <m:ctrlPr>
                              <a:rPr lang="ar-AE" sz="2000" i="1">
                                <a:latin typeface="Cambria Math" panose="02040503050406030204" pitchFamily="18" charset="0"/>
                              </a:rPr>
                            </m:ctrlPr>
                          </m:sSubPr>
                          <m:e>
                            <m:r>
                              <a:rPr lang="ar-AE" sz="2000" i="1">
                                <a:latin typeface="Cambria Math" panose="02040503050406030204" pitchFamily="18" charset="0"/>
                              </a:rPr>
                              <m:t>𝜎</m:t>
                            </m:r>
                          </m:e>
                          <m:sub>
                            <m:r>
                              <a:rPr lang="ar-AE" sz="2000" i="1">
                                <a:latin typeface="Cambria Math" panose="02040503050406030204" pitchFamily="18" charset="0"/>
                              </a:rPr>
                              <m:t>𝐷𝑒𝑝𝑡</m:t>
                            </m:r>
                            <m:sSup>
                              <m:sSupPr>
                                <m:ctrlPr>
                                  <a:rPr lang="ar-AE" sz="2000" i="1">
                                    <a:latin typeface="Cambria Math" panose="02040503050406030204" pitchFamily="18" charset="0"/>
                                  </a:rPr>
                                </m:ctrlPr>
                              </m:sSupPr>
                              <m:e>
                                <m:r>
                                  <a:rPr lang="ar-AE" sz="2000">
                                    <a:latin typeface="Cambria Math" panose="02040503050406030204" pitchFamily="18" charset="0"/>
                                  </a:rPr>
                                  <m:t>=</m:t>
                                </m:r>
                              </m:e>
                              <m:sup>
                                <m:r>
                                  <a:rPr lang="ar-AE" sz="2000">
                                    <a:latin typeface="Cambria Math" panose="02040503050406030204" pitchFamily="18" charset="0"/>
                                  </a:rPr>
                                  <m:t>′</m:t>
                                </m:r>
                              </m:sup>
                            </m:sSup>
                            <m:r>
                              <a:rPr lang="ar-AE" sz="2000" i="1">
                                <a:latin typeface="Cambria Math" panose="02040503050406030204" pitchFamily="18" charset="0"/>
                              </a:rPr>
                              <m:t>𝐶</m:t>
                            </m:r>
                            <m:sSup>
                              <m:sSupPr>
                                <m:ctrlPr>
                                  <a:rPr lang="ar-AE" sz="2000" i="1">
                                    <a:latin typeface="Cambria Math" panose="02040503050406030204" pitchFamily="18" charset="0"/>
                                  </a:rPr>
                                </m:ctrlPr>
                              </m:sSupPr>
                              <m:e>
                                <m:r>
                                  <a:rPr lang="ar-AE" sz="2000" i="1">
                                    <a:latin typeface="Cambria Math" panose="02040503050406030204" pitchFamily="18" charset="0"/>
                                  </a:rPr>
                                  <m:t>𝑆</m:t>
                                </m:r>
                              </m:e>
                              <m:sup>
                                <m:r>
                                  <a:rPr lang="ar-AE" sz="2000">
                                    <a:latin typeface="Cambria Math" panose="02040503050406030204" pitchFamily="18" charset="0"/>
                                  </a:rPr>
                                  <m:t>′</m:t>
                                </m:r>
                              </m:sup>
                            </m:sSup>
                          </m:sub>
                        </m:sSub>
                        <m:d>
                          <m:dPr>
                            <m:ctrlPr>
                              <a:rPr lang="ar-AE" sz="2000" i="1">
                                <a:latin typeface="Cambria Math" panose="02040503050406030204" pitchFamily="18" charset="0"/>
                              </a:rPr>
                            </m:ctrlPr>
                          </m:dPr>
                          <m:e>
                            <m:r>
                              <a:rPr lang="ar-AE" sz="2000" i="1">
                                <a:latin typeface="Cambria Math" panose="02040503050406030204" pitchFamily="18" charset="0"/>
                              </a:rPr>
                              <m:t>𝑆𝑡𝑢𝑑𝑒𝑛𝑡</m:t>
                            </m:r>
                          </m:e>
                        </m:d>
                      </m:e>
                    </m:d>
                  </m:oMath>
                </a14:m>
                <a:r>
                  <a:rPr lang="en-US" sz="2000" dirty="0">
                    <a:latin typeface="Times New Roman" panose="02020603050405020304" pitchFamily="18" charset="0"/>
                    <a:cs typeface="Times New Roman" panose="02020603050405020304" pitchFamily="18" charset="0"/>
                  </a:rPr>
                  <a:t>				output ?</a:t>
                </a:r>
                <a:endParaRPr lang="ar-AE" sz="2000"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967409" y="1055982"/>
                <a:ext cx="10194576" cy="5091266"/>
              </a:xfrm>
              <a:prstGeom prst="rect">
                <a:avLst/>
              </a:prstGeom>
              <a:blipFill rotWithShape="1">
                <a:blip r:embed="rId1"/>
                <a:stretch>
                  <a:fillRect l="-3" t="-12" r="6" b="-864"/>
                </a:stretch>
              </a:blipFill>
            </p:spPr>
            <p:txBody>
              <a:bodyPr/>
              <a:lstStyle/>
              <a:p>
                <a:r>
                  <a:rPr lang="en-GB" altLang="en-US">
                    <a:noFill/>
                  </a:rPr>
                  <a:t> </a:t>
                </a:r>
              </a:p>
            </p:txBody>
          </p:sp>
        </mc:Fallback>
      </mc:AlternateContent>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0844487" cy="2954655"/>
          </a:xfrm>
          <a:prstGeom prst="rect">
            <a:avLst/>
          </a:prstGeom>
        </p:spPr>
        <p:txBody>
          <a:bodyPr wrap="square">
            <a:spAutoFit/>
          </a:bodyPr>
          <a:lstStyle/>
          <a:p>
            <a:pPr marL="457200" lvl="2"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What is the SQL statement of the above relational operations?</a:t>
            </a:r>
            <a:endParaRPr lang="en-US" sz="2400" dirty="0">
              <a:latin typeface="Times New Roman" panose="02020603050405020304" pitchFamily="18" charset="0"/>
              <a:cs typeface="Times New Roman" panose="02020603050405020304" pitchFamily="18" charset="0"/>
            </a:endParaRPr>
          </a:p>
          <a:p>
            <a:pPr marL="0" lvl="2">
              <a:lnSpc>
                <a:spcPct val="150000"/>
              </a:lnSpc>
              <a:spcBef>
                <a:spcPts val="600"/>
              </a:spcBef>
              <a:defRPr/>
            </a:pPr>
            <a:r>
              <a:rPr lang="en-US" b="1" dirty="0"/>
              <a:t>              </a:t>
            </a:r>
            <a:r>
              <a:rPr lang="en-US" b="1" dirty="0">
                <a:latin typeface="Times New Roman" panose="02020603050405020304" pitchFamily="18" charset="0"/>
                <a:cs typeface="Times New Roman" panose="02020603050405020304" pitchFamily="18" charset="0"/>
              </a:rPr>
              <a:t>SELECT * FROM </a:t>
            </a:r>
            <a:r>
              <a:rPr lang="en-US" dirty="0">
                <a:latin typeface="Times New Roman" panose="02020603050405020304" pitchFamily="18" charset="0"/>
                <a:cs typeface="Times New Roman" panose="02020603050405020304" pitchFamily="18" charset="0"/>
              </a:rPr>
              <a:t>EMPLOYEE</a:t>
            </a:r>
            <a:r>
              <a:rPr lang="en-US" b="1" dirty="0">
                <a:latin typeface="Times New Roman" panose="02020603050405020304" pitchFamily="18" charset="0"/>
                <a:cs typeface="Times New Roman" panose="02020603050405020304" pitchFamily="18" charset="0"/>
              </a:rPr>
              <a:t> WHERE </a:t>
            </a:r>
            <a:r>
              <a:rPr lang="en-US" dirty="0">
                <a:latin typeface="Times New Roman" panose="02020603050405020304" pitchFamily="18" charset="0"/>
                <a:cs typeface="Times New Roman" panose="02020603050405020304" pitchFamily="18" charset="0"/>
              </a:rPr>
              <a:t>DNO=”4”</a:t>
            </a:r>
            <a:r>
              <a:rPr lang="en-US" b="1" dirty="0">
                <a:latin typeface="Times New Roman" panose="02020603050405020304" pitchFamily="18" charset="0"/>
                <a:cs typeface="Times New Roman" panose="02020603050405020304" pitchFamily="18" charset="0"/>
              </a:rPr>
              <a:t> AND </a:t>
            </a:r>
            <a:r>
              <a:rPr lang="en-US" dirty="0">
                <a:latin typeface="Times New Roman" panose="02020603050405020304" pitchFamily="18" charset="0"/>
                <a:cs typeface="Times New Roman" panose="02020603050405020304" pitchFamily="18" charset="0"/>
              </a:rPr>
              <a:t>SALARY&gt;30000;</a:t>
            </a:r>
            <a:endParaRPr lang="en-US" dirty="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1613915" y="2251337"/>
            <a:ext cx="6552624" cy="1353712"/>
          </a:xfrm>
          <a:prstGeom prst="rect">
            <a:avLst/>
          </a:prstGeom>
        </p:spPr>
      </p:pic>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317498" y="1055982"/>
                <a:ext cx="10844487" cy="6724918"/>
              </a:xfrm>
              <a:prstGeom prst="rect">
                <a:avLst/>
              </a:prstGeom>
            </p:spPr>
            <p:txBody>
              <a:bodyPr wrap="square">
                <a:spAutoFit/>
              </a:bodyPr>
              <a:lstStyle/>
              <a:p>
                <a:pPr marL="457200" lvl="2" indent="-457200">
                  <a:lnSpc>
                    <a:spcPct val="150000"/>
                  </a:lnSpc>
                  <a:spcBef>
                    <a:spcPts val="600"/>
                  </a:spcBef>
                  <a:buBlip>
                    <a:blip r:embed="rId1"/>
                  </a:buBlip>
                  <a:defRPr/>
                </a:pPr>
                <a:r>
                  <a:rPr lang="en-US" sz="2400" b="1" i="1" dirty="0">
                    <a:solidFill>
                      <a:srgbClr val="FF0000"/>
                    </a:solidFill>
                    <a:latin typeface="Times New Roman" panose="02020603050405020304" pitchFamily="18" charset="0"/>
                    <a:cs typeface="Times New Roman" panose="02020603050405020304" pitchFamily="18" charset="0"/>
                  </a:rPr>
                  <a:t>What are the results of the following select and projection operation?</a:t>
                </a:r>
                <a:r>
                  <a:rPr lang="en-US" sz="2400" dirty="0">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 </a:t>
                </a:r>
                <a:r>
                  <a:rPr lang="en-US" sz="2400" i="1" dirty="0">
                    <a:solidFill>
                      <a:schemeClr val="tx1"/>
                    </a:solidFill>
                    <a:latin typeface="Times New Roman" panose="02020603050405020304" pitchFamily="18" charset="0"/>
                    <a:cs typeface="Times New Roman" panose="02020603050405020304" pitchFamily="18" charset="0"/>
                  </a:rPr>
                  <a:t>And what is its SQL Statement?</a:t>
                </a:r>
                <a:endParaRPr lang="en-US" sz="2400" i="1" dirty="0">
                  <a:solidFill>
                    <a:schemeClr val="tx1"/>
                  </a:solidFill>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Results of SELECT and PROJECT operations</a:t>
                </a:r>
                <a:endParaRPr lang="en-US" sz="2400" dirty="0">
                  <a:latin typeface="Times New Roman" panose="02020603050405020304" pitchFamily="18" charset="0"/>
                  <a:cs typeface="Times New Roman" panose="02020603050405020304" pitchFamily="18" charset="0"/>
                </a:endParaRPr>
              </a:p>
              <a:p>
                <a:pPr marL="1371600" lvl="4" indent="-457200">
                  <a:lnSpc>
                    <a:spcPct val="150000"/>
                  </a:lnSpc>
                  <a:spcBef>
                    <a:spcPts val="600"/>
                  </a:spcBef>
                  <a:buFont typeface="+mj-lt"/>
                  <a:buAutoNum type="alphaUcPeriod"/>
                  <a:defRPr/>
                </a:pPr>
                <a:r>
                  <a:rPr lang="en-US" sz="2400" dirty="0">
                    <a:latin typeface="Times New Roman" panose="02020603050405020304" pitchFamily="18" charset="0"/>
                    <a:cs typeface="Times New Roman" panose="02020603050405020304" pitchFamily="18" charset="0"/>
                  </a:rPr>
                  <a:t>σ (DNO=4 AND SALARY&gt;25000) OR (DNO=5 AND SALARY&gt;30000) (EMPLOYEE)</a:t>
                </a:r>
                <a:endParaRPr lang="en-US" sz="2400" dirty="0">
                  <a:latin typeface="Times New Roman" panose="02020603050405020304" pitchFamily="18" charset="0"/>
                  <a:cs typeface="Times New Roman" panose="02020603050405020304" pitchFamily="18" charset="0"/>
                </a:endParaRPr>
              </a:p>
              <a:p>
                <a:pPr marL="1371600" lvl="4" indent="-457200">
                  <a:lnSpc>
                    <a:spcPct val="150000"/>
                  </a:lnSpc>
                  <a:spcBef>
                    <a:spcPts val="600"/>
                  </a:spcBef>
                  <a:buFont typeface="+mj-lt"/>
                  <a:buAutoNum type="alphaUcPeriod"/>
                  <a:defRPr/>
                </a:pPr>
                <a14:m>
                  <m:oMath xmlns:m="http://schemas.openxmlformats.org/officeDocument/2006/math">
                    <m:r>
                      <a:rPr lang="en-US" sz="2400">
                        <a:latin typeface="Cambria Math" panose="02040503050406030204" pitchFamily="18" charset="0"/>
                        <a:cs typeface="Times New Roman" panose="02020603050405020304" pitchFamily="18" charset="0"/>
                      </a:rPr>
                      <m:t>𝝅</m:t>
                    </m:r>
                  </m:oMath>
                </a14:m>
                <a:r>
                  <a:rPr lang="en-US" sz="2400" dirty="0">
                    <a:latin typeface="Times New Roman" panose="02020603050405020304" pitchFamily="18" charset="0"/>
                    <a:cs typeface="Times New Roman" panose="02020603050405020304" pitchFamily="18" charset="0"/>
                  </a:rPr>
                  <a:t>LNAME, FNAME, SALARY(EMPLOYEE)</a:t>
                </a:r>
                <a:endParaRPr lang="en-US" sz="2400" dirty="0">
                  <a:latin typeface="Times New Roman" panose="02020603050405020304" pitchFamily="18" charset="0"/>
                  <a:cs typeface="Times New Roman" panose="02020603050405020304" pitchFamily="18" charset="0"/>
                </a:endParaRPr>
              </a:p>
              <a:p>
                <a:pPr marL="1371600" lvl="4" indent="-457200">
                  <a:lnSpc>
                    <a:spcPct val="150000"/>
                  </a:lnSpc>
                  <a:spcBef>
                    <a:spcPts val="600"/>
                  </a:spcBef>
                  <a:buFont typeface="+mj-lt"/>
                  <a:buAutoNum type="alphaUcPeriod"/>
                  <a:defRPr/>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a:latin typeface="Cambria Math" panose="02040503050406030204" pitchFamily="18" charset="0"/>
                        <a:cs typeface="Times New Roman" panose="02020603050405020304" pitchFamily="18" charset="0"/>
                      </a:rPr>
                      <m:t>𝝅</m:t>
                    </m:r>
                  </m:oMath>
                </a14:m>
                <a:r>
                  <a:rPr lang="en-US" sz="2400" dirty="0">
                    <a:latin typeface="Times New Roman" panose="02020603050405020304" pitchFamily="18" charset="0"/>
                    <a:cs typeface="Times New Roman" panose="02020603050405020304" pitchFamily="18" charset="0"/>
                  </a:rPr>
                  <a:t>SEX, SALARY(EMPLOYEE)</a:t>
                </a:r>
                <a:endParaRPr lang="en-US"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317498" y="1055982"/>
                <a:ext cx="10844487" cy="6724918"/>
              </a:xfrm>
              <a:prstGeom prst="rect">
                <a:avLst/>
              </a:prstGeom>
              <a:blipFill rotWithShape="1">
                <a:blip r:embed="rId2"/>
                <a:stretch>
                  <a:fillRect l="-6" t="-9" r="5" b="4"/>
                </a:stretch>
              </a:blipFill>
            </p:spPr>
            <p:txBody>
              <a:bodyPr/>
              <a:lstStyle/>
              <a:p>
                <a:r>
                  <a:rPr lang="en-GB" altLang="en-US">
                    <a:noFill/>
                  </a:rPr>
                  <a:t> </a:t>
                </a:r>
              </a:p>
            </p:txBody>
          </p:sp>
        </mc:Fallback>
      </mc:AlternateContent>
    </p:spTree>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0844487" cy="6494085"/>
          </a:xfrm>
          <a:prstGeom prst="rect">
            <a:avLst/>
          </a:prstGeom>
        </p:spPr>
        <p:txBody>
          <a:bodyPr wrap="square">
            <a:spAutoFit/>
          </a:bodyPr>
          <a:lstStyle/>
          <a:p>
            <a:pPr marL="457200" lvl="2" indent="-457200">
              <a:lnSpc>
                <a:spcPct val="150000"/>
              </a:lnSpc>
              <a:spcBef>
                <a:spcPts val="600"/>
              </a:spcBef>
              <a:buBlip>
                <a:blip r:embed="rId1"/>
              </a:buBlip>
              <a:defRPr/>
            </a:pPr>
            <a:r>
              <a:rPr lang="en-US" sz="2400" dirty="0">
                <a:solidFill>
                  <a:schemeClr val="bg2"/>
                </a:solidFill>
                <a:latin typeface="Times New Roman" panose="02020603050405020304" pitchFamily="18" charset="0"/>
                <a:cs typeface="Times New Roman" panose="02020603050405020304" pitchFamily="18" charset="0"/>
              </a:rPr>
              <a:t>What are the results of the following select and projection operation?  </a:t>
            </a:r>
            <a:r>
              <a:rPr lang="en-US" sz="2400" b="1" i="1" dirty="0">
                <a:solidFill>
                  <a:srgbClr val="FF0000"/>
                </a:solidFill>
                <a:latin typeface="Times New Roman" panose="02020603050405020304" pitchFamily="18" charset="0"/>
                <a:cs typeface="Times New Roman" panose="02020603050405020304" pitchFamily="18" charset="0"/>
              </a:rPr>
              <a:t>And what is its SQL Statement?</a:t>
            </a:r>
            <a:endParaRPr lang="en-US" sz="2400" b="1" i="1" dirty="0">
              <a:solidFill>
                <a:srgbClr val="FF0000"/>
              </a:solidFill>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The SQL statement of the above relational algebra is the following.</a:t>
            </a:r>
            <a:endParaRPr lang="en-US" sz="2400" dirty="0">
              <a:latin typeface="Times New Roman" panose="02020603050405020304" pitchFamily="18" charset="0"/>
              <a:cs typeface="Times New Roman" panose="02020603050405020304" pitchFamily="18" charset="0"/>
            </a:endParaRPr>
          </a:p>
          <a:p>
            <a:pPr marL="914400" lvl="1" indent="-457200">
              <a:lnSpc>
                <a:spcPct val="150000"/>
              </a:lnSpc>
              <a:buFont typeface="+mj-lt"/>
              <a:buAutoNum type="alphaUcPeriod"/>
            </a:pPr>
            <a:r>
              <a:rPr lang="en-US" sz="2400" dirty="0">
                <a:latin typeface="Times New Roman" panose="02020603050405020304" pitchFamily="18" charset="0"/>
                <a:cs typeface="Times New Roman" panose="02020603050405020304" pitchFamily="18" charset="0"/>
              </a:rPr>
              <a:t>SELECT * FROM </a:t>
            </a:r>
            <a:r>
              <a:rPr lang="en-US" sz="2400" dirty="0">
                <a:solidFill>
                  <a:srgbClr val="00B0F0"/>
                </a:solidFill>
                <a:latin typeface="Times New Roman" panose="02020603050405020304" pitchFamily="18" charset="0"/>
                <a:cs typeface="Times New Roman" panose="02020603050405020304" pitchFamily="18" charset="0"/>
              </a:rPr>
              <a:t>EMPLOYEE</a:t>
            </a:r>
            <a:r>
              <a:rPr lang="en-US" sz="2400" dirty="0">
                <a:latin typeface="Times New Roman" panose="02020603050405020304" pitchFamily="18" charset="0"/>
                <a:cs typeface="Times New Roman" panose="02020603050405020304" pitchFamily="18" charset="0"/>
              </a:rPr>
              <a:t> WHERE DNO='4' AND SALARY&gt;2500 OR DNO='5' AND SALARY&gt;30000;</a:t>
            </a:r>
            <a:endParaRPr lang="en-US" sz="2400" dirty="0">
              <a:latin typeface="Times New Roman" panose="02020603050405020304" pitchFamily="18" charset="0"/>
              <a:cs typeface="Times New Roman" panose="02020603050405020304" pitchFamily="18" charset="0"/>
            </a:endParaRPr>
          </a:p>
          <a:p>
            <a:pPr marL="914400" lvl="1" indent="-457200">
              <a:lnSpc>
                <a:spcPct val="150000"/>
              </a:lnSpc>
              <a:buFont typeface="+mj-lt"/>
              <a:buAutoNum type="alphaUcPeriod"/>
            </a:pPr>
            <a:r>
              <a:rPr lang="en-US" sz="2400" dirty="0">
                <a:latin typeface="Times New Roman" panose="02020603050405020304" pitchFamily="18" charset="0"/>
                <a:cs typeface="Times New Roman" panose="02020603050405020304" pitchFamily="18" charset="0"/>
              </a:rPr>
              <a:t>SELECT FIRSTNAME, LASTNAME, SALARY FROM </a:t>
            </a:r>
            <a:r>
              <a:rPr lang="en-US" sz="2400" dirty="0">
                <a:solidFill>
                  <a:srgbClr val="00B0F0"/>
                </a:solidFill>
                <a:latin typeface="Times New Roman" panose="02020603050405020304" pitchFamily="18" charset="0"/>
                <a:cs typeface="Times New Roman" panose="02020603050405020304" pitchFamily="18" charset="0"/>
              </a:rPr>
              <a:t>EMPLOYEE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914400" lvl="1" indent="-457200">
              <a:lnSpc>
                <a:spcPct val="150000"/>
              </a:lnSpc>
              <a:buFont typeface="+mj-lt"/>
              <a:buAutoNum type="alphaUcPeriod"/>
            </a:pPr>
            <a:r>
              <a:rPr lang="en-US" sz="2400" dirty="0">
                <a:latin typeface="Times New Roman" panose="02020603050405020304" pitchFamily="18" charset="0"/>
                <a:cs typeface="Times New Roman" panose="02020603050405020304" pitchFamily="18" charset="0"/>
              </a:rPr>
              <a:t>SELECT SEX, SALARY FROM </a:t>
            </a:r>
            <a:r>
              <a:rPr lang="en-US" sz="2400" dirty="0">
                <a:solidFill>
                  <a:srgbClr val="00B0F0"/>
                </a:solidFill>
                <a:latin typeface="Times New Roman" panose="02020603050405020304" pitchFamily="18" charset="0"/>
                <a:cs typeface="Times New Roman" panose="02020603050405020304" pitchFamily="18" charset="0"/>
              </a:rPr>
              <a:t>EMPLOYEE</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0844487" cy="3093154"/>
          </a:xfrm>
          <a:prstGeom prst="rect">
            <a:avLst/>
          </a:prstGeom>
        </p:spPr>
        <p:txBody>
          <a:bodyPr wrap="square">
            <a:spAutoFit/>
          </a:bodyPr>
          <a:lstStyle/>
          <a:p>
            <a:pPr marL="457200" lvl="2" indent="-457200">
              <a:lnSpc>
                <a:spcPct val="150000"/>
              </a:lnSpc>
              <a:spcBef>
                <a:spcPts val="600"/>
              </a:spcBef>
              <a:buBlip>
                <a:blip r:embed="rId1"/>
              </a:buBlip>
              <a:defRPr/>
            </a:pPr>
            <a:r>
              <a:rPr lang="en-US" sz="2400" dirty="0">
                <a:latin typeface="Times New Roman" panose="02020603050405020304" pitchFamily="18" charset="0"/>
                <a:cs typeface="Times New Roman" panose="02020603050405020304" pitchFamily="18" charset="0"/>
              </a:rPr>
              <a:t>The result of the above SQL statement is:</a:t>
            </a:r>
            <a:endParaRPr lang="en-US"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400"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1526627" y="1583480"/>
            <a:ext cx="6776545" cy="1955490"/>
          </a:xfrm>
          <a:prstGeom prst="rect">
            <a:avLst/>
          </a:prstGeom>
        </p:spPr>
      </p:pic>
      <p:pic>
        <p:nvPicPr>
          <p:cNvPr id="10" name="Picture 9"/>
          <p:cNvPicPr/>
          <p:nvPr/>
        </p:nvPicPr>
        <p:blipFill>
          <a:blip r:embed="rId3"/>
          <a:stretch>
            <a:fillRect/>
          </a:stretch>
        </p:blipFill>
        <p:spPr>
          <a:xfrm>
            <a:off x="1628281" y="3862997"/>
            <a:ext cx="3111885" cy="2201472"/>
          </a:xfrm>
          <a:prstGeom prst="rect">
            <a:avLst/>
          </a:prstGeom>
        </p:spPr>
      </p:pic>
      <p:pic>
        <p:nvPicPr>
          <p:cNvPr id="11" name="Picture 10"/>
          <p:cNvPicPr/>
          <p:nvPr/>
        </p:nvPicPr>
        <p:blipFill>
          <a:blip r:embed="rId4"/>
          <a:stretch>
            <a:fillRect/>
          </a:stretch>
        </p:blipFill>
        <p:spPr>
          <a:xfrm>
            <a:off x="5981700" y="3862997"/>
            <a:ext cx="2170715" cy="1868345"/>
          </a:xfrm>
          <a:prstGeom prst="rect">
            <a:avLst/>
          </a:prstGeom>
        </p:spPr>
      </p:pic>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293370" y="76864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84265" y="741515"/>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317500" y="776293"/>
                <a:ext cx="11733530" cy="5656580"/>
              </a:xfrm>
              <a:prstGeom prst="rect">
                <a:avLst/>
              </a:prstGeom>
            </p:spPr>
            <p:txBody>
              <a:bodyPr wrap="square">
                <a:noAutofit/>
              </a:bodyPr>
              <a:lstStyle/>
              <a:p>
                <a:pPr marL="0" lvl="2">
                  <a:lnSpc>
                    <a:spcPct val="150000"/>
                  </a:lnSpc>
                  <a:spcBef>
                    <a:spcPts val="600"/>
                  </a:spcBef>
                  <a:defRPr/>
                </a:pPr>
                <a:r>
                  <a:rPr lang="en-US" sz="2100" b="1" dirty="0">
                    <a:solidFill>
                      <a:srgbClr val="FF0000"/>
                    </a:solidFill>
                    <a:latin typeface="Times New Roman" panose="02020603050405020304" pitchFamily="18" charset="0"/>
                    <a:cs typeface="Times New Roman" panose="02020603050405020304" pitchFamily="18" charset="0"/>
                  </a:rPr>
                  <a:t>C) RENAME (symbol: </a:t>
                </a:r>
                <a:r>
                  <a:rPr lang="el-GR" sz="2100" b="1" dirty="0">
                    <a:latin typeface="Times New Roman" panose="02020603050405020304" pitchFamily="18" charset="0"/>
                    <a:cs typeface="Times New Roman" panose="02020603050405020304" pitchFamily="18" charset="0"/>
                  </a:rPr>
                  <a:t>ρ</a:t>
                </a:r>
                <a:r>
                  <a:rPr lang="el-GR" sz="2100" b="1" dirty="0">
                    <a:solidFill>
                      <a:srgbClr val="FF0000"/>
                    </a:solidFill>
                    <a:latin typeface="Times New Roman" panose="02020603050405020304" pitchFamily="18" charset="0"/>
                    <a:cs typeface="Times New Roman" panose="02020603050405020304" pitchFamily="18" charset="0"/>
                  </a:rPr>
                  <a:t> (</a:t>
                </a:r>
                <a:r>
                  <a:rPr lang="en-US" sz="2100" b="1" dirty="0">
                    <a:solidFill>
                      <a:srgbClr val="FF0000"/>
                    </a:solidFill>
                    <a:latin typeface="Times New Roman" panose="02020603050405020304" pitchFamily="18" charset="0"/>
                    <a:cs typeface="Times New Roman" panose="02020603050405020304" pitchFamily="18" charset="0"/>
                  </a:rPr>
                  <a:t>rho))</a:t>
                </a:r>
                <a:endParaRPr lang="en-US" sz="2100" b="1" dirty="0">
                  <a:solidFill>
                    <a:srgbClr val="FF0000"/>
                  </a:solidFill>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The </a:t>
                </a:r>
                <a:r>
                  <a:rPr lang="en-US" sz="2100" b="1" dirty="0">
                    <a:latin typeface="Times New Roman" panose="02020603050405020304" pitchFamily="18" charset="0"/>
                    <a:cs typeface="Times New Roman" panose="02020603050405020304" pitchFamily="18" charset="0"/>
                  </a:rPr>
                  <a:t>rename operator (</a:t>
                </a:r>
                <a:r>
                  <a:rPr lang="el-GR" sz="2100" b="1" dirty="0">
                    <a:latin typeface="Times New Roman" panose="02020603050405020304" pitchFamily="18" charset="0"/>
                    <a:cs typeface="Times New Roman" panose="02020603050405020304" pitchFamily="18" charset="0"/>
                  </a:rPr>
                  <a:t>ρ)</a:t>
                </a:r>
                <a:r>
                  <a:rPr lang="el-GR" sz="2100"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in relational algebra is used to:</a:t>
                </a:r>
                <a:endParaRPr lang="en-US" sz="210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Rename a relation (table)</a:t>
                </a:r>
                <a:r>
                  <a:rPr lang="en-US" sz="2100" dirty="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a:p>
                <a:pPr marL="742950" lvl="1" indent="-285750">
                  <a:lnSpc>
                    <a:spcPct val="150000"/>
                  </a:lnSpc>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Rename attributes (columns)</a:t>
                </a:r>
                <a:r>
                  <a:rPr lang="en-US" sz="2100" dirty="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dirty="0">
                    <a:latin typeface="Times New Roman" panose="02020603050405020304" pitchFamily="18" charset="0"/>
                    <a:cs typeface="Times New Roman" panose="02020603050405020304" pitchFamily="18" charset="0"/>
                  </a:rPr>
                  <a:t>Why needed? 	To simplify queries when the same relation is used multiple times (self-join).</a:t>
                </a:r>
                <a:endParaRPr lang="en-US" sz="2100" dirty="0">
                  <a:latin typeface="Times New Roman" panose="02020603050405020304" pitchFamily="18" charset="0"/>
                  <a:cs typeface="Times New Roman" panose="02020603050405020304" pitchFamily="18" charset="0"/>
                </a:endParaRPr>
              </a:p>
              <a:p>
                <a:pPr lvl="1">
                  <a:lnSpc>
                    <a:spcPct val="150000"/>
                  </a:lnSpc>
                </a:pPr>
                <a:r>
                  <a:rPr lang="en-US" sz="2100" dirty="0">
                    <a:latin typeface="Times New Roman" panose="02020603050405020304" pitchFamily="18" charset="0"/>
                    <a:cs typeface="Times New Roman" panose="02020603050405020304" pitchFamily="18" charset="0"/>
                  </a:rPr>
                  <a:t>		To make query results easier to read.</a:t>
                </a:r>
                <a:endParaRPr lang="en-US" sz="2100" dirty="0">
                  <a:latin typeface="Times New Roman" panose="02020603050405020304" pitchFamily="18" charset="0"/>
                  <a:cs typeface="Times New Roman" panose="02020603050405020304" pitchFamily="18" charset="0"/>
                </a:endParaRPr>
              </a:p>
              <a:p>
                <a:pPr>
                  <a:lnSpc>
                    <a:spcPct val="150000"/>
                  </a:lnSpc>
                  <a:buNone/>
                </a:pPr>
                <a:r>
                  <a:rPr lang="en-US" sz="2100" b="1" dirty="0">
                    <a:latin typeface="Times New Roman" panose="02020603050405020304" pitchFamily="18" charset="0"/>
                    <a:cs typeface="Times New Roman" panose="02020603050405020304" pitchFamily="18" charset="0"/>
                  </a:rPr>
                  <a:t>Notation:</a:t>
                </a:r>
                <a:r>
                  <a:rPr lang="en-US" sz="2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100" i="1">
                            <a:latin typeface="Cambria Math" panose="02040503050406030204" pitchFamily="18" charset="0"/>
                          </a:rPr>
                        </m:ctrlPr>
                      </m:sSubPr>
                      <m:e>
                        <m:r>
                          <a:rPr lang="ar-AE" sz="2100" i="1">
                            <a:latin typeface="Cambria Math" panose="02040503050406030204" pitchFamily="18" charset="0"/>
                          </a:rPr>
                          <m:t>𝜌</m:t>
                        </m:r>
                      </m:e>
                      <m:sub>
                        <m:r>
                          <a:rPr lang="ar-AE" sz="2100" i="1">
                            <a:latin typeface="Cambria Math" panose="02040503050406030204" pitchFamily="18" charset="0"/>
                          </a:rPr>
                          <m:t>𝑛𝑒𝑤</m:t>
                        </m:r>
                        <m:r>
                          <m:rPr>
                            <m:lit/>
                          </m:rPr>
                          <a:rPr lang="ar-AE" sz="2100" i="0">
                            <a:latin typeface="Cambria Math" panose="02040503050406030204" pitchFamily="18" charset="0"/>
                          </a:rPr>
                          <m:t>_</m:t>
                        </m:r>
                        <m:r>
                          <a:rPr lang="ar-AE" sz="2100" i="1">
                            <a:latin typeface="Cambria Math" panose="02040503050406030204" pitchFamily="18" charset="0"/>
                          </a:rPr>
                          <m:t>𝑟𝑒𝑙𝑎𝑡𝑖𝑜𝑛</m:t>
                        </m:r>
                        <m:r>
                          <m:rPr>
                            <m:lit/>
                          </m:rPr>
                          <a:rPr lang="ar-AE" sz="2100" i="0">
                            <a:latin typeface="Cambria Math" panose="02040503050406030204" pitchFamily="18" charset="0"/>
                          </a:rPr>
                          <m:t>_</m:t>
                        </m:r>
                        <m:r>
                          <a:rPr lang="ar-AE" sz="2100" i="1">
                            <a:latin typeface="Cambria Math" panose="02040503050406030204" pitchFamily="18" charset="0"/>
                          </a:rPr>
                          <m:t>𝑛𝑎𝑚𝑒</m:t>
                        </m:r>
                      </m:sub>
                    </m:sSub>
                    <m:d>
                      <m:dPr>
                        <m:ctrlPr>
                          <a:rPr lang="ar-AE" sz="2100" i="1">
                            <a:latin typeface="Cambria Math" panose="02040503050406030204" pitchFamily="18" charset="0"/>
                          </a:rPr>
                        </m:ctrlPr>
                      </m:dPr>
                      <m:e>
                        <m:r>
                          <a:rPr lang="ar-AE" sz="2100" i="1">
                            <a:latin typeface="Cambria Math" panose="02040503050406030204" pitchFamily="18" charset="0"/>
                          </a:rPr>
                          <m:t>𝑅𝑒𝑙𝑎𝑡𝑖𝑜𝑛</m:t>
                        </m:r>
                      </m:e>
                    </m:d>
                    <m:r>
                      <a:rPr lang="en-US" sz="2100" b="0" i="0" smtClean="0">
                        <a:latin typeface="Cambria Math" panose="02040503050406030204" pitchFamily="18" charset="0"/>
                      </a:rPr>
                      <m:t>  </m:t>
                    </m:r>
                  </m:oMath>
                </a14:m>
                <a:r>
                  <a:rPr lang="en-US" sz="2100" dirty="0">
                    <a:latin typeface="Times New Roman" panose="02020603050405020304" pitchFamily="18" charset="0"/>
                    <a:cs typeface="Times New Roman" panose="02020603050405020304" pitchFamily="18" charset="0"/>
                  </a:rPr>
                  <a:t>Or	</a:t>
                </a:r>
                <a14:m>
                  <m:oMath xmlns:m="http://schemas.openxmlformats.org/officeDocument/2006/math">
                    <m:sSub>
                      <m:sSubPr>
                        <m:ctrlPr>
                          <a:rPr lang="ar-AE" sz="2100" i="1">
                            <a:latin typeface="Cambria Math" panose="02040503050406030204" pitchFamily="18" charset="0"/>
                          </a:rPr>
                        </m:ctrlPr>
                      </m:sSubPr>
                      <m:e>
                        <m:r>
                          <a:rPr lang="ar-AE" sz="2100" i="1">
                            <a:latin typeface="Cambria Math" panose="02040503050406030204" pitchFamily="18" charset="0"/>
                          </a:rPr>
                          <m:t>𝜌</m:t>
                        </m:r>
                      </m:e>
                      <m:sub>
                        <m:r>
                          <a:rPr lang="ar-AE" sz="2100" i="1">
                            <a:latin typeface="Cambria Math" panose="02040503050406030204" pitchFamily="18" charset="0"/>
                          </a:rPr>
                          <m:t>𝑛𝑒𝑤</m:t>
                        </m:r>
                        <m:r>
                          <m:rPr>
                            <m:lit/>
                          </m:rPr>
                          <a:rPr lang="ar-AE" sz="2100" i="0">
                            <a:latin typeface="Cambria Math" panose="02040503050406030204" pitchFamily="18" charset="0"/>
                          </a:rPr>
                          <m:t>_</m:t>
                        </m:r>
                        <m:r>
                          <a:rPr lang="ar-AE" sz="2100" i="1">
                            <a:latin typeface="Cambria Math" panose="02040503050406030204" pitchFamily="18" charset="0"/>
                          </a:rPr>
                          <m:t>𝑟𝑒𝑙𝑎𝑡𝑖𝑜𝑛</m:t>
                        </m:r>
                        <m:r>
                          <m:rPr>
                            <m:lit/>
                          </m:rPr>
                          <a:rPr lang="ar-AE" sz="2100" i="0">
                            <a:latin typeface="Cambria Math" panose="02040503050406030204" pitchFamily="18" charset="0"/>
                          </a:rPr>
                          <m:t>_</m:t>
                        </m:r>
                        <m:r>
                          <a:rPr lang="ar-AE" sz="2100" i="1">
                            <a:latin typeface="Cambria Math" panose="02040503050406030204" pitchFamily="18" charset="0"/>
                          </a:rPr>
                          <m:t>𝑛𝑎𝑚𝑒</m:t>
                        </m:r>
                        <m:d>
                          <m:dPr>
                            <m:sepChr m:val=","/>
                            <m:ctrlPr>
                              <a:rPr lang="ar-AE" sz="2100" i="1">
                                <a:latin typeface="Cambria Math" panose="02040503050406030204" pitchFamily="18" charset="0"/>
                              </a:rPr>
                            </m:ctrlPr>
                          </m:dPr>
                          <m:e>
                            <m:r>
                              <a:rPr lang="ar-AE" sz="2100" i="1">
                                <a:latin typeface="Cambria Math" panose="02040503050406030204" pitchFamily="18" charset="0"/>
                              </a:rPr>
                              <m:t>𝑛</m:t>
                            </m:r>
                          </m:e>
                          <m:e>
                            <m:r>
                              <a:rPr lang="ar-AE" sz="2100" i="1">
                                <a:latin typeface="Cambria Math" panose="02040503050406030204" pitchFamily="18" charset="0"/>
                              </a:rPr>
                              <m:t>𝑒</m:t>
                            </m:r>
                          </m:e>
                          <m:e>
                            <m:r>
                              <a:rPr lang="ar-AE" sz="2100" i="1">
                                <a:latin typeface="Cambria Math" panose="02040503050406030204" pitchFamily="18" charset="0"/>
                              </a:rPr>
                              <m:t>𝑤</m:t>
                            </m:r>
                            <m:r>
                              <m:rPr>
                                <m:lit/>
                              </m:rPr>
                              <a:rPr lang="ar-AE" sz="2100" i="0">
                                <a:latin typeface="Cambria Math" panose="02040503050406030204" pitchFamily="18" charset="0"/>
                              </a:rPr>
                              <m:t>_</m:t>
                            </m:r>
                            <m:r>
                              <a:rPr lang="ar-AE" sz="2100" i="1">
                                <a:latin typeface="Cambria Math" panose="02040503050406030204" pitchFamily="18" charset="0"/>
                              </a:rPr>
                              <m:t>𝑎𝑡𝑡𝑟</m:t>
                            </m:r>
                            <m:r>
                              <a:rPr lang="ar-AE" sz="2100" i="0">
                                <a:latin typeface="Cambria Math" panose="02040503050406030204" pitchFamily="18" charset="0"/>
                              </a:rPr>
                              <m:t>1</m:t>
                            </m:r>
                            <m:r>
                              <a:rPr lang="en-US" sz="2100" b="0" i="1" smtClean="0">
                                <a:latin typeface="Cambria Math" panose="02040503050406030204" pitchFamily="18" charset="0"/>
                              </a:rPr>
                              <m:t> </m:t>
                            </m:r>
                            <m:r>
                              <a:rPr lang="ar-AE" sz="2100" i="1">
                                <a:latin typeface="Cambria Math" panose="02040503050406030204" pitchFamily="18" charset="0"/>
                              </a:rPr>
                              <m:t>𝑛𝑒𝑤</m:t>
                            </m:r>
                            <m:r>
                              <m:rPr>
                                <m:lit/>
                              </m:rPr>
                              <a:rPr lang="ar-AE" sz="2100" i="0">
                                <a:latin typeface="Cambria Math" panose="02040503050406030204" pitchFamily="18" charset="0"/>
                              </a:rPr>
                              <m:t>_</m:t>
                            </m:r>
                            <m:r>
                              <a:rPr lang="ar-AE" sz="2100" i="1">
                                <a:latin typeface="Cambria Math" panose="02040503050406030204" pitchFamily="18" charset="0"/>
                              </a:rPr>
                              <m:t>𝑎𝑡𝑡𝑟</m:t>
                            </m:r>
                            <m:r>
                              <a:rPr lang="ar-AE" sz="2100" i="0">
                                <a:latin typeface="Cambria Math" panose="02040503050406030204" pitchFamily="18" charset="0"/>
                              </a:rPr>
                              <m:t>2</m:t>
                            </m:r>
                            <m:r>
                              <a:rPr lang="ar-AE" sz="2100" i="0">
                                <a:latin typeface="Cambria Math" panose="02040503050406030204" pitchFamily="18" charset="0"/>
                              </a:rPr>
                              <m:t>...</m:t>
                            </m:r>
                          </m:e>
                        </m:d>
                      </m:sub>
                    </m:sSub>
                    <m:d>
                      <m:dPr>
                        <m:ctrlPr>
                          <a:rPr lang="ar-AE" sz="2100" i="1">
                            <a:latin typeface="Cambria Math" panose="02040503050406030204" pitchFamily="18" charset="0"/>
                          </a:rPr>
                        </m:ctrlPr>
                      </m:dPr>
                      <m:e>
                        <m:r>
                          <a:rPr lang="ar-AE" sz="2100" i="1">
                            <a:latin typeface="Cambria Math" panose="02040503050406030204" pitchFamily="18" charset="0"/>
                          </a:rPr>
                          <m:t>𝑅𝑒𝑙𝑎𝑡𝑖𝑜𝑛</m:t>
                        </m:r>
                      </m:e>
                    </m:d>
                  </m:oMath>
                </a14:m>
                <a:endParaRPr lang="en-US" sz="2100" dirty="0">
                  <a:latin typeface="Times New Roman" panose="02020603050405020304" pitchFamily="18" charset="0"/>
                  <a:cs typeface="Times New Roman" panose="02020603050405020304" pitchFamily="18" charset="0"/>
                </a:endParaRPr>
              </a:p>
              <a:p>
                <a:pPr>
                  <a:lnSpc>
                    <a:spcPct val="150000"/>
                  </a:lnSpc>
                </a:pPr>
                <a:r>
                  <a:rPr lang="en-US" sz="2100" b="1" dirty="0">
                    <a:latin typeface="Times New Roman" panose="02020603050405020304" pitchFamily="18" charset="0"/>
                    <a:cs typeface="Times New Roman" panose="02020603050405020304" pitchFamily="18" charset="0"/>
                  </a:rPr>
                  <a:t>Relation:</a:t>
                </a:r>
                <a:r>
                  <a:rPr lang="en-US" sz="2100" dirty="0">
                    <a:latin typeface="Times New Roman" panose="02020603050405020304" pitchFamily="18" charset="0"/>
                    <a:cs typeface="Times New Roman" panose="02020603050405020304" pitchFamily="18" charset="0"/>
                  </a:rPr>
                  <a:t> Student(Stu_ID, Name, Age, Dept)      We want to rename Student as S.</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b="1" dirty="0">
                    <a:latin typeface="Times New Roman" panose="02020603050405020304" pitchFamily="18" charset="0"/>
                    <a:cs typeface="Times New Roman" panose="02020603050405020304" pitchFamily="18" charset="0"/>
                  </a:rPr>
                  <a:t>Relational Algebra:</a:t>
                </a:r>
                <a:r>
                  <a:rPr lang="en-US" sz="2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100" i="1">
                            <a:latin typeface="Cambria Math" panose="02040503050406030204" pitchFamily="18" charset="0"/>
                          </a:rPr>
                        </m:ctrlPr>
                      </m:sSubPr>
                      <m:e>
                        <m:r>
                          <a:rPr lang="ar-AE" sz="2100" i="1">
                            <a:latin typeface="Cambria Math" panose="02040503050406030204" pitchFamily="18" charset="0"/>
                          </a:rPr>
                          <m:t>𝜌</m:t>
                        </m:r>
                      </m:e>
                      <m:sub>
                        <m:r>
                          <a:rPr lang="ar-AE" sz="2100" i="1">
                            <a:latin typeface="Cambria Math" panose="02040503050406030204" pitchFamily="18" charset="0"/>
                          </a:rPr>
                          <m:t>𝑆</m:t>
                        </m:r>
                      </m:sub>
                    </m:sSub>
                    <m:d>
                      <m:dPr>
                        <m:ctrlPr>
                          <a:rPr lang="ar-AE" sz="2100" i="1">
                            <a:latin typeface="Cambria Math" panose="02040503050406030204" pitchFamily="18" charset="0"/>
                          </a:rPr>
                        </m:ctrlPr>
                      </m:dPr>
                      <m:e>
                        <m:r>
                          <a:rPr lang="ar-AE" sz="2100" i="1">
                            <a:latin typeface="Cambria Math" panose="02040503050406030204" pitchFamily="18" charset="0"/>
                          </a:rPr>
                          <m:t>𝑆𝑡𝑢𝑑𝑒𝑛𝑡</m:t>
                        </m:r>
                      </m:e>
                    </m:d>
                  </m:oMath>
                </a14:m>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 Result</a:t>
                </a:r>
                <a:r>
                  <a:rPr lang="en-US" sz="2100" dirty="0">
                    <a:latin typeface="Times New Roman" panose="02020603050405020304" pitchFamily="18" charset="0"/>
                    <a:cs typeface="Times New Roman" panose="02020603050405020304" pitchFamily="18" charset="0"/>
                  </a:rPr>
                  <a:t>: A new relation S with the same schema &amp; data as Student.</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dirty="0">
                    <a:latin typeface="Times New Roman" panose="02020603050405020304" pitchFamily="18" charset="0"/>
                    <a:cs typeface="Times New Roman" panose="02020603050405020304" pitchFamily="18" charset="0"/>
                  </a:rPr>
                  <a:t>If we want to rename attributes Stu_ID → ID, Name → </a:t>
                </a:r>
                <a:r>
                  <a:rPr lang="en-US" sz="2100" dirty="0" err="1">
                    <a:latin typeface="Times New Roman" panose="02020603050405020304" pitchFamily="18" charset="0"/>
                    <a:cs typeface="Times New Roman" panose="02020603050405020304" pitchFamily="18" charset="0"/>
                  </a:rPr>
                  <a:t>FullName</a:t>
                </a:r>
                <a:r>
                  <a:rPr lang="en-US" sz="2100" dirty="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b="1" dirty="0">
                    <a:latin typeface="Times New Roman" panose="02020603050405020304" pitchFamily="18" charset="0"/>
                    <a:cs typeface="Times New Roman" panose="02020603050405020304" pitchFamily="18" charset="0"/>
                  </a:rPr>
                  <a:t>Relational Algebra:</a:t>
                </a:r>
                <a:r>
                  <a:rPr lang="en-US" sz="21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100" i="1">
                            <a:latin typeface="Cambria Math" panose="02040503050406030204" pitchFamily="18" charset="0"/>
                          </a:rPr>
                        </m:ctrlPr>
                      </m:sSubPr>
                      <m:e>
                        <m:r>
                          <a:rPr lang="ar-AE" sz="2100" i="1">
                            <a:latin typeface="Cambria Math" panose="02040503050406030204" pitchFamily="18" charset="0"/>
                          </a:rPr>
                          <m:t>𝜌</m:t>
                        </m:r>
                      </m:e>
                      <m:sub>
                        <m:r>
                          <a:rPr lang="ar-AE" sz="2100" i="1">
                            <a:latin typeface="Cambria Math" panose="02040503050406030204" pitchFamily="18" charset="0"/>
                          </a:rPr>
                          <m:t>𝑆</m:t>
                        </m:r>
                        <m:d>
                          <m:dPr>
                            <m:sepChr m:val=","/>
                            <m:ctrlPr>
                              <a:rPr lang="ar-AE" sz="2100" i="1" smtClean="0">
                                <a:latin typeface="Cambria Math" panose="02040503050406030204" pitchFamily="18" charset="0"/>
                              </a:rPr>
                            </m:ctrlPr>
                          </m:dPr>
                          <m:e>
                            <m:r>
                              <a:rPr lang="ar-AE" sz="2100" i="1">
                                <a:latin typeface="Cambria Math" panose="02040503050406030204" pitchFamily="18" charset="0"/>
                              </a:rPr>
                              <m:t>𝐼</m:t>
                            </m:r>
                          </m:e>
                          <m:e>
                            <m:r>
                              <a:rPr lang="ar-AE" sz="2100" i="1">
                                <a:latin typeface="Cambria Math" panose="02040503050406030204" pitchFamily="18" charset="0"/>
                              </a:rPr>
                              <m:t>𝐷</m:t>
                            </m:r>
                          </m:e>
                          <m:e>
                            <m:r>
                              <a:rPr lang="ar-AE" sz="2100" i="1">
                                <a:latin typeface="Cambria Math" panose="02040503050406030204" pitchFamily="18" charset="0"/>
                              </a:rPr>
                              <m:t>𝐹</m:t>
                            </m:r>
                          </m:e>
                          <m:e>
                            <m:r>
                              <a:rPr lang="ar-AE" sz="2100" i="1">
                                <a:latin typeface="Cambria Math" panose="02040503050406030204" pitchFamily="18" charset="0"/>
                              </a:rPr>
                              <m:t>𝑢𝑙𝑙𝑁𝑎𝑚𝑒</m:t>
                            </m:r>
                            <m:r>
                              <a:rPr lang="en-US" sz="2100" b="0" i="1" smtClean="0">
                                <a:latin typeface="Cambria Math" panose="02040503050406030204" pitchFamily="18" charset="0"/>
                              </a:rPr>
                              <m:t>, </m:t>
                            </m:r>
                            <m:r>
                              <a:rPr lang="ar-AE" sz="2100" i="1">
                                <a:latin typeface="Cambria Math" panose="02040503050406030204" pitchFamily="18" charset="0"/>
                              </a:rPr>
                              <m:t>𝐴𝑔𝑒</m:t>
                            </m:r>
                            <m:r>
                              <a:rPr lang="en-US" sz="2100" b="0" i="1" smtClean="0">
                                <a:latin typeface="Cambria Math" panose="02040503050406030204" pitchFamily="18" charset="0"/>
                              </a:rPr>
                              <m:t>, </m:t>
                            </m:r>
                            <m:r>
                              <a:rPr lang="ar-AE" sz="2100" i="1">
                                <a:latin typeface="Cambria Math" panose="02040503050406030204" pitchFamily="18" charset="0"/>
                              </a:rPr>
                              <m:t>𝐷𝑒𝑝𝑡</m:t>
                            </m:r>
                          </m:e>
                        </m:d>
                      </m:sub>
                    </m:sSub>
                    <m:d>
                      <m:dPr>
                        <m:ctrlPr>
                          <a:rPr lang="ar-AE" sz="2100" i="1">
                            <a:latin typeface="Cambria Math" panose="02040503050406030204" pitchFamily="18" charset="0"/>
                          </a:rPr>
                        </m:ctrlPr>
                      </m:dPr>
                      <m:e>
                        <m:r>
                          <a:rPr lang="ar-AE" sz="2100" i="1">
                            <a:latin typeface="Cambria Math" panose="02040503050406030204" pitchFamily="18" charset="0"/>
                          </a:rPr>
                          <m:t>𝑆𝑡𝑢𝑑𝑒𝑛𝑡</m:t>
                        </m:r>
                      </m:e>
                    </m:d>
                  </m:oMath>
                </a14:m>
                <a:endParaRPr lang="en-US" sz="2100" dirty="0">
                  <a:solidFill>
                    <a:srgbClr val="0070C0"/>
                  </a:solidFill>
                  <a:latin typeface="Times New Roman" panose="02020603050405020304" pitchFamily="18" charset="0"/>
                  <a:cs typeface="Times New Roman" panose="02020603050405020304" pitchFamily="18" charset="0"/>
                </a:endParaRPr>
              </a:p>
              <a:p>
                <a:pPr lvl="0"/>
                <a:endParaRPr lang="en-US" sz="2100" dirty="0">
                  <a:solidFill>
                    <a:srgbClr val="FF0000"/>
                  </a:solidFill>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	</a:t>
                </a:r>
                <a:endParaRPr lang="en-US" sz="2100" dirty="0">
                  <a:latin typeface="Times New Roman" panose="02020603050405020304" pitchFamily="18" charset="0"/>
                  <a:cs typeface="Times New Roman" panose="02020603050405020304" pitchFamily="18" charset="0"/>
                </a:endParaRPr>
              </a:p>
              <a:p>
                <a:pPr marL="0" lvl="2">
                  <a:lnSpc>
                    <a:spcPct val="150000"/>
                  </a:lnSpc>
                  <a:spcBef>
                    <a:spcPts val="600"/>
                  </a:spcBef>
                  <a:defRPr/>
                </a:pPr>
                <a:endParaRPr lang="en-US" sz="21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100" dirty="0">
                  <a:latin typeface="Times New Roman" panose="02020603050405020304" pitchFamily="18" charset="0"/>
                  <a:cs typeface="Times New Roman" panose="02020603050405020304" pitchFamily="18" charset="0"/>
                </a:endParaRPr>
              </a:p>
              <a:p>
                <a:endParaRPr lang="en-US" sz="2100" b="1" dirty="0">
                  <a:latin typeface="Times New Roman" panose="02020603050405020304" pitchFamily="18" charset="0"/>
                  <a:cs typeface="Times New Roman" panose="02020603050405020304" pitchFamily="18" charset="0"/>
                </a:endParaRPr>
              </a:p>
              <a:p>
                <a:endParaRPr lang="en-US" sz="21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sz="2100"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317500" y="776293"/>
                <a:ext cx="11733530" cy="5656580"/>
              </a:xfrm>
              <a:prstGeom prst="rect">
                <a:avLst/>
              </a:prstGeom>
              <a:blipFill rotWithShape="1">
                <a:blip r:embed="rId2"/>
                <a:stretch>
                  <a:fillRect t="-6" b="-62275"/>
                </a:stretch>
              </a:blipFill>
            </p:spPr>
            <p:txBody>
              <a:bodyPr/>
              <a:lstStyle/>
              <a:p>
                <a:r>
                  <a:rPr lang="en-GB" altLang="en-US">
                    <a:noFill/>
                  </a:rPr>
                  <a:t> </a:t>
                </a:r>
              </a:p>
            </p:txBody>
          </p:sp>
        </mc:Fallback>
      </mc:AlternateContent>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500" y="949325"/>
            <a:ext cx="11733530" cy="5656580"/>
          </a:xfrm>
          <a:prstGeom prst="rect">
            <a:avLst/>
          </a:prstGeom>
        </p:spPr>
        <p:txBody>
          <a:bodyPr wrap="square">
            <a:noAutofit/>
          </a:bodyPr>
          <a:lstStyle/>
          <a:p>
            <a:pPr marL="0" lvl="2">
              <a:lnSpc>
                <a:spcPct val="150000"/>
              </a:lnSpc>
              <a:spcBef>
                <a:spcPts val="600"/>
              </a:spcBef>
              <a:defRPr/>
            </a:pPr>
            <a:r>
              <a:rPr lang="en-US" sz="2000" b="1" dirty="0">
                <a:solidFill>
                  <a:srgbClr val="FF0000"/>
                </a:solidFill>
                <a:latin typeface="Times New Roman" panose="02020603050405020304" pitchFamily="18" charset="0"/>
                <a:cs typeface="Times New Roman" panose="02020603050405020304" pitchFamily="18" charset="0"/>
              </a:rPr>
              <a:t>2) Relational Algebra Operations from </a:t>
            </a:r>
            <a:r>
              <a:rPr lang="en-US" sz="2000" b="1" dirty="0">
                <a:solidFill>
                  <a:srgbClr val="C00000"/>
                </a:solidFill>
                <a:latin typeface="Times New Roman" panose="02020603050405020304" pitchFamily="18" charset="0"/>
                <a:cs typeface="Times New Roman" panose="02020603050405020304" pitchFamily="18" charset="0"/>
              </a:rPr>
              <a:t>Set Theory</a:t>
            </a:r>
            <a:endParaRPr lang="en-US" sz="2000" b="1" dirty="0">
              <a:solidFill>
                <a:srgbClr val="FF0000"/>
              </a:solidFill>
              <a:latin typeface="Times New Roman" panose="02020603050405020304" pitchFamily="18" charset="0"/>
              <a:cs typeface="Times New Roman" panose="02020603050405020304" pitchFamily="18" charset="0"/>
            </a:endParaRPr>
          </a:p>
          <a:p>
            <a:pPr marL="0" lvl="2">
              <a:lnSpc>
                <a:spcPct val="150000"/>
              </a:lnSpc>
              <a:spcBef>
                <a:spcPts val="600"/>
              </a:spcBef>
              <a:defRPr/>
            </a:pPr>
            <a:r>
              <a:rPr lang="en-US" sz="2000" dirty="0">
                <a:solidFill>
                  <a:srgbClr val="FF0000"/>
                </a:solidFill>
                <a:latin typeface="Times New Roman" panose="02020603050405020304" pitchFamily="18" charset="0"/>
                <a:cs typeface="Times New Roman" panose="02020603050405020304" pitchFamily="18" charset="0"/>
              </a:rPr>
              <a:t>A) UNION OPERATION</a:t>
            </a:r>
            <a:endParaRPr lang="en-US" sz="2000" dirty="0">
              <a:solidFill>
                <a:srgbClr val="FF0000"/>
              </a:solidFill>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latin typeface="Times New Roman" panose="02020603050405020304" pitchFamily="18" charset="0"/>
                <a:cs typeface="Times New Roman" panose="02020603050405020304" pitchFamily="18" charset="0"/>
              </a:rPr>
              <a:t>The result of this operation, denoted by </a:t>
            </a:r>
            <a:r>
              <a:rPr lang="en-US" sz="2000" i="1" dirty="0">
                <a:solidFill>
                  <a:srgbClr val="FF0000"/>
                </a:solidFill>
                <a:latin typeface="Times New Roman" panose="02020603050405020304" pitchFamily="18" charset="0"/>
                <a:cs typeface="Times New Roman" panose="02020603050405020304" pitchFamily="18" charset="0"/>
              </a:rPr>
              <a:t>RUS</a:t>
            </a:r>
            <a:r>
              <a:rPr lang="en-US" sz="2000" dirty="0">
                <a:latin typeface="Times New Roman" panose="02020603050405020304" pitchFamily="18" charset="0"/>
                <a:cs typeface="Times New Roman" panose="02020603050405020304" pitchFamily="18" charset="0"/>
              </a:rPr>
              <a:t> is a relation that </a:t>
            </a:r>
            <a:r>
              <a:rPr lang="en-US" sz="2000" dirty="0">
                <a:solidFill>
                  <a:srgbClr val="0070C0"/>
                </a:solidFill>
                <a:latin typeface="Times New Roman" panose="02020603050405020304" pitchFamily="18" charset="0"/>
                <a:cs typeface="Times New Roman" panose="02020603050405020304" pitchFamily="18" charset="0"/>
              </a:rPr>
              <a:t>includes all tuples </a:t>
            </a:r>
            <a:r>
              <a:rPr lang="en-US" sz="2000" dirty="0">
                <a:latin typeface="Times New Roman" panose="02020603050405020304" pitchFamily="18" charset="0"/>
                <a:cs typeface="Times New Roman" panose="02020603050405020304" pitchFamily="18" charset="0"/>
              </a:rPr>
              <a:t>that are </a:t>
            </a:r>
            <a:r>
              <a:rPr lang="en-US" sz="2000" dirty="0">
                <a:solidFill>
                  <a:srgbClr val="0070C0"/>
                </a:solidFill>
                <a:latin typeface="Times New Roman" panose="02020603050405020304" pitchFamily="18" charset="0"/>
                <a:cs typeface="Times New Roman" panose="02020603050405020304" pitchFamily="18" charset="0"/>
              </a:rPr>
              <a:t>either</a:t>
            </a:r>
            <a:r>
              <a:rPr lang="en-US" sz="2000" dirty="0">
                <a:latin typeface="Times New Roman" panose="02020603050405020304" pitchFamily="18" charset="0"/>
                <a:cs typeface="Times New Roman" panose="02020603050405020304" pitchFamily="18" charset="0"/>
              </a:rPr>
              <a:t> in </a:t>
            </a:r>
            <a:r>
              <a:rPr lang="en-US" sz="2000" dirty="0">
                <a:solidFill>
                  <a:srgbClr val="0070C0"/>
                </a:solidFill>
                <a:latin typeface="Times New Roman" panose="02020603050405020304" pitchFamily="18" charset="0"/>
                <a:cs typeface="Times New Roman" panose="02020603050405020304" pitchFamily="18" charset="0"/>
              </a:rPr>
              <a:t>R</a:t>
            </a:r>
            <a:r>
              <a:rPr lang="en-US" sz="2000" dirty="0">
                <a:latin typeface="Times New Roman" panose="02020603050405020304" pitchFamily="18" charset="0"/>
                <a:cs typeface="Times New Roman" panose="02020603050405020304" pitchFamily="18" charset="0"/>
              </a:rPr>
              <a:t> or in </a:t>
            </a:r>
            <a:r>
              <a:rPr lang="en-US" sz="2000" dirty="0">
                <a:solidFill>
                  <a:srgbClr val="0070C0"/>
                </a:solidFill>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 or </a:t>
            </a:r>
            <a:r>
              <a:rPr lang="en-US" sz="2000" dirty="0">
                <a:solidFill>
                  <a:srgbClr val="0070C0"/>
                </a:solidFill>
                <a:latin typeface="Times New Roman" panose="02020603050405020304" pitchFamily="18" charset="0"/>
                <a:cs typeface="Times New Roman" panose="02020603050405020304" pitchFamily="18" charset="0"/>
              </a:rPr>
              <a:t>in both R</a:t>
            </a:r>
            <a:r>
              <a:rPr lang="en-US" sz="2000" dirty="0">
                <a:latin typeface="Times New Roman" panose="02020603050405020304" pitchFamily="18" charset="0"/>
                <a:cs typeface="Times New Roman" panose="02020603050405020304" pitchFamily="18" charset="0"/>
              </a:rPr>
              <a:t> and </a:t>
            </a:r>
            <a:r>
              <a:rPr lang="en-US" sz="2000" dirty="0">
                <a:solidFill>
                  <a:srgbClr val="0070C0"/>
                </a:solidFill>
                <a:latin typeface="Times New Roman" panose="02020603050405020304" pitchFamily="18" charset="0"/>
                <a:cs typeface="Times New Roman" panose="02020603050405020304" pitchFamily="18" charset="0"/>
              </a:rPr>
              <a:t>S</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latin typeface="Times New Roman" panose="02020603050405020304" pitchFamily="18" charset="0"/>
                <a:cs typeface="Times New Roman" panose="02020603050405020304" pitchFamily="18" charset="0"/>
              </a:rPr>
              <a:t> Duplicate tuples is eliminated. </a:t>
            </a:r>
            <a:endParaRPr lang="en-US" sz="2000" dirty="0">
              <a:latin typeface="Times New Roman" panose="02020603050405020304" pitchFamily="18" charset="0"/>
              <a:cs typeface="Times New Roman" panose="02020603050405020304" pitchFamily="18" charset="0"/>
            </a:endParaRPr>
          </a:p>
          <a:p>
            <a:pPr marL="0" lvl="2">
              <a:lnSpc>
                <a:spcPct val="150000"/>
              </a:lnSpc>
              <a:spcBef>
                <a:spcPts val="600"/>
              </a:spcBef>
              <a:defRPr/>
            </a:pPr>
            <a:r>
              <a:rPr lang="en-US" sz="2000" i="1" dirty="0">
                <a:solidFill>
                  <a:srgbClr val="FF0000"/>
                </a:solidFill>
                <a:latin typeface="Times New Roman" panose="02020603050405020304" pitchFamily="18" charset="0"/>
                <a:cs typeface="Times New Roman" panose="02020603050405020304" pitchFamily="18" charset="0"/>
              </a:rPr>
              <a:t>Type </a:t>
            </a:r>
            <a:r>
              <a:rPr lang="en-US" sz="2000" i="1" dirty="0" err="1">
                <a:solidFill>
                  <a:srgbClr val="FF0000"/>
                </a:solidFill>
                <a:latin typeface="Times New Roman" panose="02020603050405020304" pitchFamily="18" charset="0"/>
                <a:cs typeface="Times New Roman" panose="02020603050405020304" pitchFamily="18" charset="0"/>
              </a:rPr>
              <a:t>Compatability</a:t>
            </a:r>
            <a:endParaRPr lang="en-US" sz="2000" i="1" dirty="0">
              <a:solidFill>
                <a:srgbClr val="FF0000"/>
              </a:solidFill>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latin typeface="Times New Roman" panose="02020603050405020304" pitchFamily="18" charset="0"/>
                <a:cs typeface="Times New Roman" panose="02020603050405020304" pitchFamily="18" charset="0"/>
              </a:rPr>
              <a:t>Type Compatibility of operands is required for the binary set operation UNION ∪, (also for INTERSECTION ∩, and SET DIFFERENCE –</a:t>
            </a:r>
            <a:endParaRPr lang="en-US" sz="2000"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i="1" dirty="0">
                <a:solidFill>
                  <a:srgbClr val="FF0000"/>
                </a:solidFill>
                <a:latin typeface="Times New Roman" panose="02020603050405020304" pitchFamily="18" charset="0"/>
                <a:cs typeface="Times New Roman" panose="02020603050405020304" pitchFamily="18" charset="0"/>
              </a:rPr>
              <a:t>R1(A1, A2, ..., An) </a:t>
            </a:r>
            <a:r>
              <a:rPr lang="en-US" sz="2000" dirty="0">
                <a:latin typeface="Times New Roman" panose="02020603050405020304" pitchFamily="18" charset="0"/>
                <a:cs typeface="Times New Roman" panose="02020603050405020304" pitchFamily="18" charset="0"/>
              </a:rPr>
              <a:t>and </a:t>
            </a:r>
            <a:r>
              <a:rPr lang="en-US" sz="2000" i="1" dirty="0">
                <a:solidFill>
                  <a:srgbClr val="FF0000"/>
                </a:solidFill>
                <a:latin typeface="Times New Roman" panose="02020603050405020304" pitchFamily="18" charset="0"/>
                <a:cs typeface="Times New Roman" panose="02020603050405020304" pitchFamily="18" charset="0"/>
              </a:rPr>
              <a:t>R2(B1, B2, ..., </a:t>
            </a:r>
            <a:r>
              <a:rPr lang="en-US" sz="2000" i="1" dirty="0" err="1">
                <a:solidFill>
                  <a:srgbClr val="FF0000"/>
                </a:solidFill>
                <a:latin typeface="Times New Roman" panose="02020603050405020304" pitchFamily="18" charset="0"/>
                <a:cs typeface="Times New Roman" panose="02020603050405020304" pitchFamily="18" charset="0"/>
              </a:rPr>
              <a:t>Bn</a:t>
            </a:r>
            <a:r>
              <a:rPr lang="en-US" sz="2000" i="1" dirty="0">
                <a:solidFill>
                  <a:srgbClr val="FF0000"/>
                </a:solidFill>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 type compatible if:</a:t>
            </a:r>
            <a:endParaRPr lang="en-US" sz="20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They have </a:t>
            </a:r>
            <a:r>
              <a:rPr lang="en-US" sz="2000" dirty="0">
                <a:solidFill>
                  <a:srgbClr val="C00000"/>
                </a:solidFill>
                <a:latin typeface="Times New Roman" panose="02020603050405020304" pitchFamily="18" charset="0"/>
                <a:cs typeface="Times New Roman" panose="02020603050405020304" pitchFamily="18" charset="0"/>
              </a:rPr>
              <a:t>the</a:t>
            </a:r>
            <a:r>
              <a:rPr lang="en-US" sz="2000" dirty="0">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same number of attributes</a:t>
            </a:r>
            <a:r>
              <a:rPr lang="en-US" sz="2000" dirty="0">
                <a:latin typeface="Times New Roman" panose="02020603050405020304" pitchFamily="18" charset="0"/>
                <a:cs typeface="Times New Roman" panose="02020603050405020304" pitchFamily="18" charset="0"/>
              </a:rPr>
              <a:t>, and</a:t>
            </a:r>
            <a:endParaRPr lang="en-US" sz="20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The </a:t>
            </a:r>
            <a:r>
              <a:rPr lang="en-US" sz="2000" dirty="0">
                <a:solidFill>
                  <a:srgbClr val="C00000"/>
                </a:solidFill>
                <a:latin typeface="Times New Roman" panose="02020603050405020304" pitchFamily="18" charset="0"/>
                <a:cs typeface="Times New Roman" panose="02020603050405020304" pitchFamily="18" charset="0"/>
              </a:rPr>
              <a:t>domains</a:t>
            </a:r>
            <a:r>
              <a:rPr lang="en-US" sz="2000" dirty="0">
                <a:latin typeface="Times New Roman" panose="02020603050405020304" pitchFamily="18" charset="0"/>
                <a:cs typeface="Times New Roman" panose="02020603050405020304" pitchFamily="18" charset="0"/>
              </a:rPr>
              <a:t> of corresponding attributes are type </a:t>
            </a:r>
            <a:r>
              <a:rPr lang="en-US" sz="2000" dirty="0">
                <a:solidFill>
                  <a:srgbClr val="C00000"/>
                </a:solidFill>
                <a:latin typeface="Times New Roman" panose="02020603050405020304" pitchFamily="18" charset="0"/>
                <a:cs typeface="Times New Roman" panose="02020603050405020304" pitchFamily="18" charset="0"/>
              </a:rPr>
              <a:t>compatible </a:t>
            </a:r>
            <a:r>
              <a:rPr lang="en-US" sz="2000" dirty="0">
                <a:latin typeface="Times New Roman" panose="02020603050405020304" pitchFamily="18" charset="0"/>
                <a:cs typeface="Times New Roman" panose="02020603050405020304" pitchFamily="18" charset="0"/>
              </a:rPr>
              <a:t>(i.e. </a:t>
            </a:r>
            <a:r>
              <a:rPr lang="en-US" sz="2000" dirty="0" err="1">
                <a:latin typeface="Times New Roman" panose="02020603050405020304" pitchFamily="18" charset="0"/>
                <a:cs typeface="Times New Roman" panose="02020603050405020304" pitchFamily="18" charset="0"/>
              </a:rPr>
              <a:t>dom</a:t>
            </a:r>
            <a:r>
              <a:rPr lang="en-US" sz="2000" dirty="0">
                <a:latin typeface="Times New Roman" panose="02020603050405020304" pitchFamily="18" charset="0"/>
                <a:cs typeface="Times New Roman" panose="02020603050405020304" pitchFamily="18" charset="0"/>
              </a:rPr>
              <a:t>(Ai)=</a:t>
            </a:r>
            <a:r>
              <a:rPr lang="en-US" sz="2000" dirty="0" err="1">
                <a:latin typeface="Times New Roman" panose="02020603050405020304" pitchFamily="18" charset="0"/>
                <a:cs typeface="Times New Roman" panose="02020603050405020304" pitchFamily="18" charset="0"/>
              </a:rPr>
              <a:t>dom</a:t>
            </a:r>
            <a:r>
              <a:rPr lang="en-US" sz="2000" dirty="0">
                <a:latin typeface="Times New Roman" panose="02020603050405020304" pitchFamily="18" charset="0"/>
                <a:cs typeface="Times New Roman" panose="02020603050405020304" pitchFamily="18" charset="0"/>
              </a:rPr>
              <a:t>(Bi) for i=1, 2, ..., n).</a:t>
            </a:r>
            <a:endParaRPr lang="en-US" dirty="0">
              <a:latin typeface="Times New Roman" panose="02020603050405020304" pitchFamily="18" charset="0"/>
              <a:cs typeface="Times New Roman" panose="02020603050405020304" pitchFamily="18" charset="0"/>
            </a:endParaRPr>
          </a:p>
          <a:p>
            <a:pPr lvl="4"/>
            <a:endParaRPr lang="en-US" dirty="0">
              <a:latin typeface="Times New Roman" panose="02020603050405020304" pitchFamily="18" charset="0"/>
              <a:cs typeface="Times New Roman" panose="02020603050405020304" pitchFamily="18" charset="0"/>
            </a:endParaRPr>
          </a:p>
          <a:p>
            <a:pPr lvl="4"/>
            <a:endParaRPr lang="en-US" dirty="0">
              <a:solidFill>
                <a:srgbClr val="0070C0"/>
              </a:solidFill>
              <a:latin typeface="Times New Roman" panose="02020603050405020304" pitchFamily="18" charset="0"/>
              <a:cs typeface="Times New Roman" panose="02020603050405020304" pitchFamily="18" charset="0"/>
            </a:endParaRPr>
          </a:p>
          <a:p>
            <a:pPr lvl="0"/>
            <a:endParaRPr lang="en-US"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lvl="2">
              <a:lnSpc>
                <a:spcPct val="150000"/>
              </a:lnSpc>
              <a:spcBef>
                <a:spcPts val="600"/>
              </a:spcBef>
              <a:defRPr/>
            </a:pPr>
            <a:endParaRPr lang="en-US"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0844487" cy="1923604"/>
          </a:xfrm>
          <a:prstGeom prst="rect">
            <a:avLst/>
          </a:prstGeom>
        </p:spPr>
        <p:txBody>
          <a:bodyPr wrap="square">
            <a:spAutoFit/>
          </a:bodyPr>
          <a:lstStyle/>
          <a:p>
            <a:pPr marL="0" lvl="2">
              <a:lnSpc>
                <a:spcPct val="150000"/>
              </a:lnSpc>
              <a:spcBef>
                <a:spcPts val="600"/>
              </a:spcBef>
              <a:defRPr/>
            </a:pPr>
            <a:r>
              <a:rPr lang="en-US" b="1" dirty="0">
                <a:solidFill>
                  <a:srgbClr val="FF0000"/>
                </a:solidFill>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p:txBody>
      </p:sp>
      <p:pic>
        <p:nvPicPr>
          <p:cNvPr id="3080"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897" y="1976498"/>
            <a:ext cx="5353844" cy="1352550"/>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172" y="2004636"/>
            <a:ext cx="4901072" cy="12037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9"/>
          <p:cNvSpPr>
            <a:spLocks noChangeArrowheads="1"/>
          </p:cNvSpPr>
          <p:nvPr/>
        </p:nvSpPr>
        <p:spPr bwMode="auto">
          <a:xfrm>
            <a:off x="777766" y="1587126"/>
            <a:ext cx="81259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tabLst>
                <a:tab pos="2095500" algn="l"/>
              </a:tabLst>
              <a:defRPr>
                <a:solidFill>
                  <a:schemeClr val="tx1"/>
                </a:solidFill>
                <a:latin typeface="Arial" panose="020B0604020202020204" pitchFamily="34" charset="0"/>
              </a:defRPr>
            </a:lvl1pPr>
            <a:lvl2pPr eaLnBrk="0" fontAlgn="base" hangingPunct="0">
              <a:spcBef>
                <a:spcPct val="0"/>
              </a:spcBef>
              <a:spcAft>
                <a:spcPct val="0"/>
              </a:spcAft>
              <a:tabLst>
                <a:tab pos="2095500" algn="l"/>
              </a:tabLst>
              <a:defRPr>
                <a:solidFill>
                  <a:schemeClr val="tx1"/>
                </a:solidFill>
                <a:latin typeface="Arial" panose="020B0604020202020204" pitchFamily="34" charset="0"/>
              </a:defRPr>
            </a:lvl2pPr>
            <a:lvl3pPr eaLnBrk="0" fontAlgn="base" hangingPunct="0">
              <a:spcBef>
                <a:spcPct val="0"/>
              </a:spcBef>
              <a:spcAft>
                <a:spcPct val="0"/>
              </a:spcAft>
              <a:tabLst>
                <a:tab pos="2095500" algn="l"/>
              </a:tabLst>
              <a:defRPr>
                <a:solidFill>
                  <a:schemeClr val="tx1"/>
                </a:solidFill>
                <a:latin typeface="Arial" panose="020B0604020202020204" pitchFamily="34" charset="0"/>
              </a:defRPr>
            </a:lvl3pPr>
            <a:lvl4pPr eaLnBrk="0" fontAlgn="base" hangingPunct="0">
              <a:spcBef>
                <a:spcPct val="0"/>
              </a:spcBef>
              <a:spcAft>
                <a:spcPct val="0"/>
              </a:spcAft>
              <a:tabLst>
                <a:tab pos="2095500" algn="l"/>
              </a:tabLst>
              <a:defRPr>
                <a:solidFill>
                  <a:schemeClr val="tx1"/>
                </a:solidFill>
                <a:latin typeface="Arial" panose="020B0604020202020204" pitchFamily="34" charset="0"/>
              </a:defRPr>
            </a:lvl4pPr>
            <a:lvl5pPr eaLnBrk="0" fontAlgn="base" hangingPunct="0">
              <a:spcBef>
                <a:spcPct val="0"/>
              </a:spcBef>
              <a:spcAft>
                <a:spcPct val="0"/>
              </a:spcAft>
              <a:tabLst>
                <a:tab pos="2095500" algn="l"/>
              </a:tabLst>
              <a:defRPr>
                <a:solidFill>
                  <a:schemeClr val="tx1"/>
                </a:solidFill>
                <a:latin typeface="Arial" panose="020B0604020202020204" pitchFamily="34" charset="0"/>
              </a:defRPr>
            </a:lvl5pPr>
            <a:lvl6pPr eaLnBrk="0" fontAlgn="base" hangingPunct="0">
              <a:spcBef>
                <a:spcPct val="0"/>
              </a:spcBef>
              <a:spcAft>
                <a:spcPct val="0"/>
              </a:spcAft>
              <a:tabLst>
                <a:tab pos="2095500" algn="l"/>
              </a:tabLst>
              <a:defRPr>
                <a:solidFill>
                  <a:schemeClr val="tx1"/>
                </a:solidFill>
                <a:latin typeface="Arial" panose="020B0604020202020204" pitchFamily="34" charset="0"/>
              </a:defRPr>
            </a:lvl6pPr>
            <a:lvl7pPr eaLnBrk="0" fontAlgn="base" hangingPunct="0">
              <a:spcBef>
                <a:spcPct val="0"/>
              </a:spcBef>
              <a:spcAft>
                <a:spcPct val="0"/>
              </a:spcAft>
              <a:tabLst>
                <a:tab pos="2095500" algn="l"/>
              </a:tabLst>
              <a:defRPr>
                <a:solidFill>
                  <a:schemeClr val="tx1"/>
                </a:solidFill>
                <a:latin typeface="Arial" panose="020B0604020202020204" pitchFamily="34" charset="0"/>
              </a:defRPr>
            </a:lvl7pPr>
            <a:lvl8pPr eaLnBrk="0" fontAlgn="base" hangingPunct="0">
              <a:spcBef>
                <a:spcPct val="0"/>
              </a:spcBef>
              <a:spcAft>
                <a:spcPct val="0"/>
              </a:spcAft>
              <a:tabLst>
                <a:tab pos="2095500" algn="l"/>
              </a:tabLst>
              <a:defRPr>
                <a:solidFill>
                  <a:schemeClr val="tx1"/>
                </a:solidFill>
                <a:latin typeface="Arial" panose="020B0604020202020204" pitchFamily="34" charset="0"/>
              </a:defRPr>
            </a:lvl8pPr>
            <a:lvl9pPr eaLnBrk="0" fontAlgn="base" hangingPunct="0">
              <a:spcBef>
                <a:spcPct val="0"/>
              </a:spcBef>
              <a:spcAft>
                <a:spcPct val="0"/>
              </a:spcAft>
              <a:tabLst>
                <a:tab pos="20955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095500" algn="l"/>
              </a:tabLst>
            </a:pPr>
            <a:r>
              <a:rPr kumimoji="0" lang="en-US" altLang="en-US" sz="1400" b="1"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rPr>
              <a:t>Instructor</a:t>
            </a:r>
            <a:r>
              <a:rPr kumimoji="0" lang="en-US" altLang="en-US" sz="1100" b="1"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rPr>
              <a:t>                                                                                                                                                                                      </a:t>
            </a:r>
            <a:r>
              <a:rPr kumimoji="0" lang="en-US" altLang="en-US" b="1"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rPr>
              <a:t>Student</a:t>
            </a:r>
            <a:endParaRPr kumimoji="0" lang="en-US" altLang="en-US" sz="9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2095500" algn="l"/>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10"/>
          <p:cNvSpPr>
            <a:spLocks noChangeArrowheads="1"/>
          </p:cNvSpPr>
          <p:nvPr/>
        </p:nvSpPr>
        <p:spPr bwMode="auto">
          <a:xfrm>
            <a:off x="777766" y="41640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sp>
        <p:nvSpPr>
          <p:cNvPr id="10" name="Rectangle 9"/>
          <p:cNvSpPr/>
          <p:nvPr/>
        </p:nvSpPr>
        <p:spPr>
          <a:xfrm>
            <a:off x="5056513" y="3634657"/>
            <a:ext cx="2217274" cy="369332"/>
          </a:xfrm>
          <a:prstGeom prst="rect">
            <a:avLst/>
          </a:prstGeom>
        </p:spPr>
        <p:txBody>
          <a:bodyPr wrap="none">
            <a:spAutoFit/>
          </a:bodyPr>
          <a:lstStyle/>
          <a:p>
            <a:r>
              <a:rPr lang="en-US" b="1" i="1" dirty="0">
                <a:latin typeface="Times New Roman" panose="02020603050405020304" pitchFamily="18" charset="0"/>
                <a:ea typeface="Calibri" panose="020F0502020204030204" charset="0"/>
                <a:cs typeface="Times New Roman" panose="02020603050405020304" pitchFamily="18" charset="0"/>
              </a:rPr>
              <a:t> Instructor U Student</a:t>
            </a:r>
            <a:endParaRPr lang="en-US" dirty="0"/>
          </a:p>
        </p:txBody>
      </p:sp>
      <p:pic>
        <p:nvPicPr>
          <p:cNvPr id="18" name="Picture 17"/>
          <p:cNvPicPr/>
          <p:nvPr/>
        </p:nvPicPr>
        <p:blipFill>
          <a:blip r:embed="rId4"/>
          <a:stretch>
            <a:fillRect/>
          </a:stretch>
        </p:blipFill>
        <p:spPr>
          <a:xfrm>
            <a:off x="4057497" y="4035044"/>
            <a:ext cx="4215305" cy="1746077"/>
          </a:xfrm>
          <a:prstGeom prst="rect">
            <a:avLst/>
          </a:prstGeom>
        </p:spPr>
      </p:pic>
      <p:sp>
        <p:nvSpPr>
          <p:cNvPr id="11" name="Rectangle 10"/>
          <p:cNvSpPr/>
          <p:nvPr/>
        </p:nvSpPr>
        <p:spPr>
          <a:xfrm>
            <a:off x="1587061" y="5943315"/>
            <a:ext cx="9186041" cy="369332"/>
          </a:xfrm>
          <a:prstGeom prst="rect">
            <a:avLst/>
          </a:prstGeom>
        </p:spPr>
        <p:txBody>
          <a:bodyPr wrap="square">
            <a:spAutoFit/>
          </a:bodyPr>
          <a:lstStyle/>
          <a:p>
            <a:r>
              <a:rPr lang="en-US" b="1" i="1" dirty="0">
                <a:solidFill>
                  <a:srgbClr val="FF0000"/>
                </a:solidFill>
                <a:latin typeface="Times New Roman" panose="02020603050405020304" pitchFamily="18" charset="0"/>
                <a:ea typeface="Calibri" panose="020F0502020204030204" charset="0"/>
                <a:cs typeface="Times New Roman" panose="02020603050405020304" pitchFamily="18" charset="0"/>
              </a:rPr>
              <a:t> SQL Command</a:t>
            </a:r>
            <a:r>
              <a:rPr lang="en-US" b="1" i="1" dirty="0">
                <a:latin typeface="Times New Roman" panose="02020603050405020304" pitchFamily="18" charset="0"/>
                <a:ea typeface="Calibri" panose="020F0502020204030204" charset="0"/>
                <a:cs typeface="Times New Roman" panose="02020603050405020304" pitchFamily="18" charset="0"/>
              </a:rPr>
              <a:t>:    SELECT * FROM student </a:t>
            </a:r>
            <a:r>
              <a:rPr lang="en-US" b="1" i="1" dirty="0">
                <a:solidFill>
                  <a:srgbClr val="0070C0"/>
                </a:solidFill>
                <a:latin typeface="Times New Roman" panose="02020603050405020304" pitchFamily="18" charset="0"/>
                <a:ea typeface="Calibri" panose="020F0502020204030204" charset="0"/>
                <a:cs typeface="Times New Roman" panose="02020603050405020304" pitchFamily="18" charset="0"/>
              </a:rPr>
              <a:t>UNION ALL </a:t>
            </a:r>
            <a:r>
              <a:rPr lang="en-US" b="1" i="1" dirty="0">
                <a:latin typeface="Times New Roman" panose="02020603050405020304" pitchFamily="18" charset="0"/>
                <a:ea typeface="Calibri" panose="020F0502020204030204" charset="0"/>
                <a:cs typeface="Times New Roman" panose="02020603050405020304" pitchFamily="18" charset="0"/>
              </a:rPr>
              <a:t>SELECT * FROM instructor;</a:t>
            </a:r>
            <a:endParaRPr lang="en-US" dirty="0"/>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498" y="1055982"/>
            <a:ext cx="11874501" cy="4861560"/>
          </a:xfrm>
          <a:prstGeom prst="rect">
            <a:avLst/>
          </a:prstGeom>
        </p:spPr>
        <p:txBody>
          <a:bodyPr wrap="square">
            <a:spAutoFit/>
          </a:bodyPr>
          <a:lstStyle/>
          <a:p>
            <a:pPr marL="0" lvl="2">
              <a:lnSpc>
                <a:spcPct val="150000"/>
              </a:lnSpc>
              <a:spcBef>
                <a:spcPts val="600"/>
              </a:spcBef>
              <a:defRPr/>
            </a:pPr>
            <a:r>
              <a:rPr lang="en-US" sz="2000" dirty="0">
                <a:solidFill>
                  <a:srgbClr val="FF0000"/>
                </a:solidFill>
                <a:latin typeface="Times New Roman" panose="02020603050405020304" pitchFamily="18" charset="0"/>
                <a:cs typeface="Times New Roman" panose="02020603050405020304" pitchFamily="18" charset="0"/>
              </a:rPr>
              <a:t>B) INTERSECTION OPERATION</a:t>
            </a:r>
            <a:endParaRPr lang="en-US" sz="2000" dirty="0">
              <a:solidFill>
                <a:srgbClr val="FF0000"/>
              </a:solidFill>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latin typeface="Times New Roman" panose="02020603050405020304" pitchFamily="18" charset="0"/>
                <a:cs typeface="Times New Roman" panose="02020603050405020304" pitchFamily="18" charset="0"/>
              </a:rPr>
              <a:t>The result of this operation denoted by R n S is a relation that includes </a:t>
            </a:r>
            <a:r>
              <a:rPr lang="en-US" sz="2000" dirty="0">
                <a:solidFill>
                  <a:srgbClr val="00B0F0"/>
                </a:solidFill>
                <a:latin typeface="Times New Roman" panose="02020603050405020304" pitchFamily="18" charset="0"/>
                <a:cs typeface="Times New Roman" panose="02020603050405020304" pitchFamily="18" charset="0"/>
              </a:rPr>
              <a:t>all tuples that are </a:t>
            </a:r>
            <a:r>
              <a:rPr lang="en-US" sz="2000" dirty="0">
                <a:solidFill>
                  <a:srgbClr val="C00000"/>
                </a:solidFill>
                <a:latin typeface="Times New Roman" panose="02020603050405020304" pitchFamily="18" charset="0"/>
                <a:cs typeface="Times New Roman" panose="02020603050405020304" pitchFamily="18" charset="0"/>
              </a:rPr>
              <a:t>in both</a:t>
            </a:r>
            <a:r>
              <a:rPr lang="en-US" sz="2000" dirty="0">
                <a:solidFill>
                  <a:srgbClr val="00B0F0"/>
                </a:solidFill>
                <a:latin typeface="Times New Roman" panose="02020603050405020304" pitchFamily="18" charset="0"/>
                <a:cs typeface="Times New Roman" panose="02020603050405020304" pitchFamily="18" charset="0"/>
              </a:rPr>
              <a:t> R and S. </a:t>
            </a:r>
            <a:endParaRPr lang="en-US" sz="2000" dirty="0">
              <a:solidFill>
                <a:srgbClr val="00B0F0"/>
              </a:solidFill>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latin typeface="Times New Roman" panose="02020603050405020304" pitchFamily="18" charset="0"/>
                <a:cs typeface="Times New Roman" panose="02020603050405020304" pitchFamily="18" charset="0"/>
              </a:rPr>
              <a:t>The two operands must be "</a:t>
            </a:r>
            <a:r>
              <a:rPr lang="en-US" sz="2000" dirty="0">
                <a:solidFill>
                  <a:srgbClr val="C00000"/>
                </a:solidFill>
                <a:latin typeface="Times New Roman" panose="02020603050405020304" pitchFamily="18" charset="0"/>
                <a:cs typeface="Times New Roman" panose="02020603050405020304" pitchFamily="18" charset="0"/>
              </a:rPr>
              <a:t>type compatible</a:t>
            </a: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0" lvl="2" indent="0">
              <a:lnSpc>
                <a:spcPct val="150000"/>
              </a:lnSpc>
              <a:spcBef>
                <a:spcPts val="600"/>
              </a:spcBef>
              <a:buNone/>
              <a:defRPr/>
            </a:pPr>
            <a:endParaRPr lang="en-US" dirty="0">
              <a:solidFill>
                <a:srgbClr val="0070C0"/>
              </a:solidFill>
              <a:latin typeface="Times New Roman" panose="02020603050405020304" pitchFamily="18" charset="0"/>
              <a:cs typeface="Times New Roman" panose="02020603050405020304" pitchFamily="18" charset="0"/>
            </a:endParaRPr>
          </a:p>
          <a:p>
            <a:pPr lvl="5"/>
            <a:r>
              <a:rPr lang="en-US" dirty="0">
                <a:solidFill>
                  <a:srgbClr val="0070C0"/>
                </a:solidFill>
                <a:latin typeface="Times New Roman" panose="02020603050405020304" pitchFamily="18" charset="0"/>
                <a:cs typeface="Times New Roman" panose="02020603050405020304" pitchFamily="18" charset="0"/>
              </a:rPr>
              <a:t>Customers                                    Customer</a:t>
            </a:r>
            <a:endParaRPr lang="en-US" dirty="0">
              <a:solidFill>
                <a:srgbClr val="0070C0"/>
              </a:solidFill>
              <a:latin typeface="Times New Roman" panose="02020603050405020304" pitchFamily="18" charset="0"/>
              <a:cs typeface="Times New Roman" panose="02020603050405020304" pitchFamily="18" charset="0"/>
            </a:endParaRPr>
          </a:p>
          <a:p>
            <a:pPr lvl="0"/>
            <a:endParaRPr lang="en-US"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lvl="2">
              <a:lnSpc>
                <a:spcPct val="150000"/>
              </a:lnSpc>
              <a:spcBef>
                <a:spcPts val="600"/>
              </a:spcBef>
              <a:defRPr/>
            </a:pPr>
            <a:endParaRPr lang="en-US"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p:txBody>
      </p:sp>
      <p:pic>
        <p:nvPicPr>
          <p:cNvPr id="9" name="Picture 8"/>
          <p:cNvPicPr/>
          <p:nvPr/>
        </p:nvPicPr>
        <p:blipFill>
          <a:blip r:embed="rId2"/>
          <a:stretch>
            <a:fillRect/>
          </a:stretch>
        </p:blipFill>
        <p:spPr>
          <a:xfrm>
            <a:off x="682333" y="3504083"/>
            <a:ext cx="3461188" cy="1929961"/>
          </a:xfrm>
          <a:prstGeom prst="rect">
            <a:avLst/>
          </a:prstGeom>
        </p:spPr>
      </p:pic>
      <p:pic>
        <p:nvPicPr>
          <p:cNvPr id="10" name="Picture 9"/>
          <p:cNvPicPr/>
          <p:nvPr/>
        </p:nvPicPr>
        <p:blipFill>
          <a:blip r:embed="rId3"/>
          <a:stretch>
            <a:fillRect/>
          </a:stretch>
        </p:blipFill>
        <p:spPr>
          <a:xfrm>
            <a:off x="4507241" y="3599586"/>
            <a:ext cx="2961520" cy="1834458"/>
          </a:xfrm>
          <a:prstGeom prst="rect">
            <a:avLst/>
          </a:prstGeom>
        </p:spPr>
      </p:pic>
      <p:pic>
        <p:nvPicPr>
          <p:cNvPr id="11" name="Picture 10"/>
          <p:cNvPicPr/>
          <p:nvPr/>
        </p:nvPicPr>
        <p:blipFill>
          <a:blip r:embed="rId4"/>
          <a:stretch>
            <a:fillRect/>
          </a:stretch>
        </p:blipFill>
        <p:spPr>
          <a:xfrm>
            <a:off x="8767776" y="3985119"/>
            <a:ext cx="1541736" cy="1039047"/>
          </a:xfrm>
          <a:prstGeom prst="rect">
            <a:avLst/>
          </a:prstGeom>
        </p:spPr>
      </p:pic>
      <p:pic>
        <p:nvPicPr>
          <p:cNvPr id="14" name="Picture 13"/>
          <p:cNvPicPr/>
          <p:nvPr/>
        </p:nvPicPr>
        <p:blipFill>
          <a:blip r:embed="rId5"/>
          <a:stretch>
            <a:fillRect/>
          </a:stretch>
        </p:blipFill>
        <p:spPr>
          <a:xfrm>
            <a:off x="574040" y="6005830"/>
            <a:ext cx="6007100" cy="715645"/>
          </a:xfrm>
          <a:prstGeom prst="rect">
            <a:avLst/>
          </a:prstGeom>
        </p:spPr>
      </p:pic>
      <p:pic>
        <p:nvPicPr>
          <p:cNvPr id="11268" name="Picture 440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49104" y="3792644"/>
            <a:ext cx="144517" cy="1238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6"/>
          <p:cNvSpPr>
            <a:spLocks noChangeArrowheads="1"/>
          </p:cNvSpPr>
          <p:nvPr/>
        </p:nvSpPr>
        <p:spPr bwMode="auto">
          <a:xfrm>
            <a:off x="9291584" y="3723751"/>
            <a:ext cx="830317"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eaLnBrk="0" fontAlgn="base" hangingPunct="0">
              <a:spcBef>
                <a:spcPct val="0"/>
              </a:spcBef>
              <a:spcAft>
                <a:spcPct val="0"/>
              </a:spcAft>
              <a:tabLst>
                <a:tab pos="1162050" algn="l"/>
              </a:tabLst>
              <a:defRPr>
                <a:solidFill>
                  <a:schemeClr val="tx1"/>
                </a:solidFill>
                <a:latin typeface="Arial" panose="020B0604020202020204" pitchFamily="34" charset="0"/>
              </a:defRPr>
            </a:lvl1pPr>
            <a:lvl2pPr eaLnBrk="0" fontAlgn="base" hangingPunct="0">
              <a:spcBef>
                <a:spcPct val="0"/>
              </a:spcBef>
              <a:spcAft>
                <a:spcPct val="0"/>
              </a:spcAft>
              <a:tabLst>
                <a:tab pos="1162050" algn="l"/>
              </a:tabLst>
              <a:defRPr>
                <a:solidFill>
                  <a:schemeClr val="tx1"/>
                </a:solidFill>
                <a:latin typeface="Arial" panose="020B0604020202020204" pitchFamily="34" charset="0"/>
              </a:defRPr>
            </a:lvl2pPr>
            <a:lvl3pPr eaLnBrk="0" fontAlgn="base" hangingPunct="0">
              <a:spcBef>
                <a:spcPct val="0"/>
              </a:spcBef>
              <a:spcAft>
                <a:spcPct val="0"/>
              </a:spcAft>
              <a:tabLst>
                <a:tab pos="1162050" algn="l"/>
              </a:tabLst>
              <a:defRPr>
                <a:solidFill>
                  <a:schemeClr val="tx1"/>
                </a:solidFill>
                <a:latin typeface="Arial" panose="020B0604020202020204" pitchFamily="34" charset="0"/>
              </a:defRPr>
            </a:lvl3pPr>
            <a:lvl4pPr eaLnBrk="0" fontAlgn="base" hangingPunct="0">
              <a:spcBef>
                <a:spcPct val="0"/>
              </a:spcBef>
              <a:spcAft>
                <a:spcPct val="0"/>
              </a:spcAft>
              <a:tabLst>
                <a:tab pos="1162050" algn="l"/>
              </a:tabLst>
              <a:defRPr>
                <a:solidFill>
                  <a:schemeClr val="tx1"/>
                </a:solidFill>
                <a:latin typeface="Arial" panose="020B0604020202020204" pitchFamily="34" charset="0"/>
              </a:defRPr>
            </a:lvl4pPr>
            <a:lvl5pPr eaLnBrk="0" fontAlgn="base" hangingPunct="0">
              <a:spcBef>
                <a:spcPct val="0"/>
              </a:spcBef>
              <a:spcAft>
                <a:spcPct val="0"/>
              </a:spcAft>
              <a:tabLst>
                <a:tab pos="1162050" algn="l"/>
              </a:tabLst>
              <a:defRPr>
                <a:solidFill>
                  <a:schemeClr val="tx1"/>
                </a:solidFill>
                <a:latin typeface="Arial" panose="020B0604020202020204" pitchFamily="34" charset="0"/>
              </a:defRPr>
            </a:lvl5pPr>
            <a:lvl6pPr eaLnBrk="0" fontAlgn="base" hangingPunct="0">
              <a:spcBef>
                <a:spcPct val="0"/>
              </a:spcBef>
              <a:spcAft>
                <a:spcPct val="0"/>
              </a:spcAft>
              <a:tabLst>
                <a:tab pos="1162050" algn="l"/>
              </a:tabLst>
              <a:defRPr>
                <a:solidFill>
                  <a:schemeClr val="tx1"/>
                </a:solidFill>
                <a:latin typeface="Arial" panose="020B0604020202020204" pitchFamily="34" charset="0"/>
              </a:defRPr>
            </a:lvl6pPr>
            <a:lvl7pPr eaLnBrk="0" fontAlgn="base" hangingPunct="0">
              <a:spcBef>
                <a:spcPct val="0"/>
              </a:spcBef>
              <a:spcAft>
                <a:spcPct val="0"/>
              </a:spcAft>
              <a:tabLst>
                <a:tab pos="1162050" algn="l"/>
              </a:tabLst>
              <a:defRPr>
                <a:solidFill>
                  <a:schemeClr val="tx1"/>
                </a:solidFill>
                <a:latin typeface="Arial" panose="020B0604020202020204" pitchFamily="34" charset="0"/>
              </a:defRPr>
            </a:lvl7pPr>
            <a:lvl8pPr eaLnBrk="0" fontAlgn="base" hangingPunct="0">
              <a:spcBef>
                <a:spcPct val="0"/>
              </a:spcBef>
              <a:spcAft>
                <a:spcPct val="0"/>
              </a:spcAft>
              <a:tabLst>
                <a:tab pos="1162050" algn="l"/>
              </a:tabLst>
              <a:defRPr>
                <a:solidFill>
                  <a:schemeClr val="tx1"/>
                </a:solidFill>
                <a:latin typeface="Arial" panose="020B0604020202020204" pitchFamily="34" charset="0"/>
              </a:defRPr>
            </a:lvl8pPr>
            <a:lvl9pPr eaLnBrk="0" fontAlgn="base" hangingPunct="0">
              <a:spcBef>
                <a:spcPct val="0"/>
              </a:spcBef>
              <a:spcAft>
                <a:spcPct val="0"/>
              </a:spcAft>
              <a:tabLst>
                <a:tab pos="116205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1162050" algn="l"/>
              </a:tabLst>
            </a:pPr>
            <a:r>
              <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rPr>
              <a:t> Customer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5"/>
          <p:cNvSpPr>
            <a:spLocks noChangeArrowheads="1"/>
          </p:cNvSpPr>
          <p:nvPr/>
        </p:nvSpPr>
        <p:spPr bwMode="auto">
          <a:xfrm>
            <a:off x="8520824" y="3705641"/>
            <a:ext cx="966952"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base" latinLnBrk="0" hangingPunct="0">
              <a:lnSpc>
                <a:spcPct val="100000"/>
              </a:lnSpc>
              <a:spcBef>
                <a:spcPct val="0"/>
              </a:spcBef>
              <a:spcAft>
                <a:spcPct val="0"/>
              </a:spcAft>
              <a:buClrTx/>
              <a:buSzTx/>
              <a:buFontTx/>
              <a:buNone/>
            </a:pPr>
            <a:r>
              <a:rPr kumimoji="0" lang="en-US" altLang="en-US" sz="1100" b="0" i="0" u="none" strike="noStrike" cap="none" normalizeH="0" baseline="0" dirty="0">
                <a:ln>
                  <a:noFill/>
                </a:ln>
                <a:solidFill>
                  <a:schemeClr val="tx1"/>
                </a:solidFill>
                <a:effectLst/>
                <a:latin typeface="Times New Roman" panose="02020603050405020304" pitchFamily="18" charset="0"/>
                <a:ea typeface="Calibri" panose="020F0502020204030204" charset="0"/>
                <a:cs typeface="Times New Roman" panose="02020603050405020304" pitchFamily="18" charset="0"/>
              </a:rPr>
              <a:t>Customers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13" name="Rectangle 12"/>
          <p:cNvSpPr/>
          <p:nvPr/>
        </p:nvSpPr>
        <p:spPr>
          <a:xfrm>
            <a:off x="317500" y="1056005"/>
            <a:ext cx="11631930" cy="5303520"/>
          </a:xfrm>
          <a:prstGeom prst="rect">
            <a:avLst/>
          </a:prstGeom>
        </p:spPr>
        <p:txBody>
          <a:bodyPr wrap="square">
            <a:noAutofit/>
          </a:bodyPr>
          <a:lstStyle/>
          <a:p>
            <a:pPr marL="0" lvl="2">
              <a:lnSpc>
                <a:spcPct val="150000"/>
              </a:lnSpc>
              <a:spcBef>
                <a:spcPts val="600"/>
              </a:spcBef>
              <a:defRPr/>
            </a:pPr>
            <a:r>
              <a:rPr lang="en-US" sz="2000" dirty="0">
                <a:solidFill>
                  <a:srgbClr val="FF0000"/>
                </a:solidFill>
                <a:effectLst/>
                <a:latin typeface="Times New Roman" panose="02020603050405020304" pitchFamily="18" charset="0"/>
                <a:cs typeface="Times New Roman" panose="02020603050405020304" pitchFamily="18" charset="0"/>
              </a:rPr>
              <a:t>C) Set Difference (or MINUS) Operation</a:t>
            </a:r>
            <a:endParaRPr lang="en-US" sz="2000" dirty="0">
              <a:solidFill>
                <a:srgbClr val="FF0000"/>
              </a:solidFill>
              <a:effectLst/>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effectLst/>
                <a:latin typeface="Times New Roman" panose="02020603050405020304" pitchFamily="18" charset="0"/>
                <a:cs typeface="Times New Roman" panose="02020603050405020304" pitchFamily="18" charset="0"/>
              </a:rPr>
              <a:t>The result of this operation, denoted by R - S, is a relation that includes </a:t>
            </a:r>
            <a:r>
              <a:rPr lang="en-US" sz="2000" dirty="0">
                <a:solidFill>
                  <a:srgbClr val="00B0F0"/>
                </a:solidFill>
                <a:effectLst/>
                <a:latin typeface="Times New Roman" panose="02020603050405020304" pitchFamily="18" charset="0"/>
                <a:cs typeface="Times New Roman" panose="02020603050405020304" pitchFamily="18" charset="0"/>
              </a:rPr>
              <a:t>all tuples that are in R</a:t>
            </a:r>
            <a:r>
              <a:rPr lang="en-US" sz="2000" dirty="0">
                <a:solidFill>
                  <a:srgbClr val="FF0000"/>
                </a:solidFill>
                <a:effectLst/>
                <a:latin typeface="Times New Roman" panose="02020603050405020304" pitchFamily="18" charset="0"/>
                <a:cs typeface="Times New Roman" panose="02020603050405020304" pitchFamily="18" charset="0"/>
              </a:rPr>
              <a:t> but not</a:t>
            </a:r>
            <a:r>
              <a:rPr lang="en-US" sz="2000" dirty="0">
                <a:solidFill>
                  <a:srgbClr val="00B0F0"/>
                </a:solidFill>
                <a:effectLst/>
                <a:latin typeface="Times New Roman" panose="02020603050405020304" pitchFamily="18" charset="0"/>
                <a:cs typeface="Times New Roman" panose="02020603050405020304" pitchFamily="18" charset="0"/>
              </a:rPr>
              <a:t> in S</a:t>
            </a:r>
            <a:r>
              <a:rPr lang="en-US" sz="2000" dirty="0">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effectLst/>
                <a:latin typeface="Times New Roman" panose="02020603050405020304" pitchFamily="18" charset="0"/>
                <a:cs typeface="Times New Roman" panose="02020603050405020304" pitchFamily="18" charset="0"/>
              </a:rPr>
              <a:t>The two operands must be "</a:t>
            </a:r>
            <a:r>
              <a:rPr lang="en-US" sz="2000" dirty="0">
                <a:solidFill>
                  <a:srgbClr val="FF0000"/>
                </a:solidFill>
                <a:effectLst/>
                <a:latin typeface="Times New Roman" panose="02020603050405020304" pitchFamily="18" charset="0"/>
                <a:cs typeface="Times New Roman" panose="02020603050405020304" pitchFamily="18" charset="0"/>
              </a:rPr>
              <a:t>type compatible</a:t>
            </a:r>
            <a:r>
              <a:rPr lang="en-US" sz="2000" dirty="0">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cs typeface="Times New Roman" panose="02020603050405020304" pitchFamily="18" charset="0"/>
            </a:endParaRPr>
          </a:p>
          <a:p>
            <a:pPr marL="1371600" lvl="4" indent="-457200">
              <a:lnSpc>
                <a:spcPct val="150000"/>
              </a:lnSpc>
              <a:spcBef>
                <a:spcPts val="600"/>
              </a:spcBef>
              <a:buFont typeface="Wingdings" panose="05000000000000000000" pitchFamily="2" charset="2"/>
              <a:buChar char="§"/>
              <a:defRPr/>
            </a:pPr>
            <a:r>
              <a:rPr lang="en-US" sz="2000" dirty="0">
                <a:effectLst/>
                <a:latin typeface="Times New Roman" panose="02020603050405020304" pitchFamily="18" charset="0"/>
                <a:cs typeface="Times New Roman" panose="02020603050405020304" pitchFamily="18" charset="0"/>
              </a:rPr>
              <a:t>Note: both union and intersection are </a:t>
            </a:r>
            <a:r>
              <a:rPr lang="en-US" sz="2000" dirty="0">
                <a:solidFill>
                  <a:srgbClr val="00B0F0"/>
                </a:solidFill>
                <a:effectLst/>
                <a:latin typeface="Times New Roman" panose="02020603050405020304" pitchFamily="18" charset="0"/>
                <a:cs typeface="Times New Roman" panose="02020603050405020304" pitchFamily="18" charset="0"/>
              </a:rPr>
              <a:t>commutative</a:t>
            </a:r>
            <a:r>
              <a:rPr lang="en-US" sz="2000" dirty="0">
                <a:effectLst/>
                <a:latin typeface="Times New Roman" panose="02020603050405020304" pitchFamily="18" charset="0"/>
                <a:cs typeface="Times New Roman" panose="02020603050405020304" pitchFamily="18" charset="0"/>
              </a:rPr>
              <a:t> operations; i.e. RUS=SUR and R n S = S n R</a:t>
            </a:r>
            <a:endParaRPr lang="en-US" sz="2000" dirty="0">
              <a:effectLst/>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effectLst/>
                <a:latin typeface="Times New Roman" panose="02020603050405020304" pitchFamily="18" charset="0"/>
                <a:cs typeface="Times New Roman" panose="02020603050405020304" pitchFamily="18" charset="0"/>
              </a:rPr>
              <a:t>The minus operation is not commutative, that is in general.    R-S? S-R</a:t>
            </a:r>
            <a:endParaRPr lang="en-US" sz="2000" dirty="0">
              <a:effectLst/>
              <a:latin typeface="Times New Roman" panose="02020603050405020304" pitchFamily="18" charset="0"/>
              <a:cs typeface="Times New Roman" panose="02020603050405020304" pitchFamily="18" charset="0"/>
            </a:endParaRPr>
          </a:p>
          <a:p>
            <a:pPr marL="0" lvl="2">
              <a:lnSpc>
                <a:spcPct val="150000"/>
              </a:lnSpc>
              <a:spcBef>
                <a:spcPts val="600"/>
              </a:spcBef>
              <a:defRPr/>
            </a:pPr>
            <a:r>
              <a:rPr lang="en-US" sz="2000" dirty="0">
                <a:solidFill>
                  <a:srgbClr val="FF0000"/>
                </a:solidFill>
                <a:effectLst/>
                <a:latin typeface="Times New Roman" panose="02020603050405020304" pitchFamily="18" charset="0"/>
                <a:cs typeface="Times New Roman" panose="02020603050405020304" pitchFamily="18" charset="0"/>
              </a:rPr>
              <a:t>D) CARTESIAN (or cross product) Operation</a:t>
            </a:r>
            <a:endParaRPr lang="en-US" sz="2000" dirty="0">
              <a:solidFill>
                <a:srgbClr val="FF0000"/>
              </a:solidFill>
              <a:effectLst/>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effectLst/>
                <a:latin typeface="Times New Roman" panose="02020603050405020304" pitchFamily="18" charset="0"/>
                <a:cs typeface="Times New Roman" panose="02020603050405020304" pitchFamily="18" charset="0"/>
              </a:rPr>
              <a:t>This operation is used to </a:t>
            </a:r>
            <a:r>
              <a:rPr lang="en-US" sz="2000" dirty="0">
                <a:solidFill>
                  <a:srgbClr val="FF0000"/>
                </a:solidFill>
                <a:effectLst/>
                <a:latin typeface="Times New Roman" panose="02020603050405020304" pitchFamily="18" charset="0"/>
                <a:cs typeface="Times New Roman" panose="02020603050405020304" pitchFamily="18" charset="0"/>
              </a:rPr>
              <a:t>combine tuples</a:t>
            </a:r>
            <a:r>
              <a:rPr lang="en-US" sz="2000" dirty="0">
                <a:effectLst/>
                <a:latin typeface="Times New Roman" panose="02020603050405020304" pitchFamily="18" charset="0"/>
                <a:cs typeface="Times New Roman" panose="02020603050405020304" pitchFamily="18" charset="0"/>
              </a:rPr>
              <a:t> from </a:t>
            </a:r>
            <a:r>
              <a:rPr lang="en-US" sz="2000" dirty="0">
                <a:solidFill>
                  <a:srgbClr val="FF0000"/>
                </a:solidFill>
                <a:effectLst/>
                <a:latin typeface="Times New Roman" panose="02020603050405020304" pitchFamily="18" charset="0"/>
                <a:cs typeface="Times New Roman" panose="02020603050405020304" pitchFamily="18" charset="0"/>
              </a:rPr>
              <a:t>two relations </a:t>
            </a:r>
            <a:r>
              <a:rPr lang="en-US" sz="2000" dirty="0">
                <a:effectLst/>
                <a:latin typeface="Times New Roman" panose="02020603050405020304" pitchFamily="18" charset="0"/>
                <a:cs typeface="Times New Roman" panose="02020603050405020304" pitchFamily="18" charset="0"/>
              </a:rPr>
              <a:t>in a combinational fashion. </a:t>
            </a:r>
            <a:endParaRPr lang="en-US" sz="2000" dirty="0">
              <a:effectLst/>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effectLst/>
                <a:latin typeface="Times New Roman" panose="02020603050405020304" pitchFamily="18" charset="0"/>
                <a:cs typeface="Times New Roman" panose="02020603050405020304" pitchFamily="18" charset="0"/>
              </a:rPr>
              <a:t>In general, the result of R(A1, A2,….An) x S(B1, B2,….,</a:t>
            </a:r>
            <a:r>
              <a:rPr lang="en-US" sz="2000" dirty="0" err="1">
                <a:effectLst/>
                <a:latin typeface="Times New Roman" panose="02020603050405020304" pitchFamily="18" charset="0"/>
                <a:cs typeface="Times New Roman" panose="02020603050405020304" pitchFamily="18" charset="0"/>
              </a:rPr>
              <a:t>Bm</a:t>
            </a:r>
            <a:r>
              <a:rPr lang="en-US" sz="2000" dirty="0">
                <a:effectLst/>
                <a:latin typeface="Times New Roman" panose="02020603050405020304" pitchFamily="18" charset="0"/>
                <a:cs typeface="Times New Roman" panose="02020603050405020304" pitchFamily="18" charset="0"/>
              </a:rPr>
              <a:t>) is a relation Q with degree </a:t>
            </a:r>
            <a:r>
              <a:rPr lang="en-US" sz="2000" dirty="0" err="1">
                <a:solidFill>
                  <a:srgbClr val="FF0000"/>
                </a:solidFill>
                <a:effectLst/>
                <a:latin typeface="Times New Roman" panose="02020603050405020304" pitchFamily="18" charset="0"/>
                <a:cs typeface="Times New Roman" panose="02020603050405020304" pitchFamily="18" charset="0"/>
              </a:rPr>
              <a:t>n+m</a:t>
            </a:r>
            <a:r>
              <a:rPr lang="en-US" sz="2000" dirty="0">
                <a:effectLst/>
                <a:latin typeface="Times New Roman" panose="02020603050405020304" pitchFamily="18" charset="0"/>
                <a:cs typeface="Times New Roman" panose="02020603050405020304" pitchFamily="18" charset="0"/>
              </a:rPr>
              <a:t> attributes Q(A1, A2,….An, B1, B2,….,</a:t>
            </a:r>
            <a:r>
              <a:rPr lang="en-US" sz="2000" dirty="0" err="1">
                <a:effectLst/>
                <a:latin typeface="Times New Roman" panose="02020603050405020304" pitchFamily="18" charset="0"/>
                <a:cs typeface="Times New Roman" panose="02020603050405020304" pitchFamily="18" charset="0"/>
              </a:rPr>
              <a:t>Bm</a:t>
            </a:r>
            <a:r>
              <a:rPr lang="en-US" sz="2000" dirty="0">
                <a:effectLst/>
                <a:latin typeface="Times New Roman" panose="02020603050405020304" pitchFamily="18" charset="0"/>
                <a:cs typeface="Times New Roman" panose="02020603050405020304" pitchFamily="18" charset="0"/>
              </a:rPr>
              <a:t>), in that order.</a:t>
            </a:r>
            <a:endParaRPr lang="en-US" sz="2000" dirty="0">
              <a:effectLst/>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r>
              <a:rPr lang="en-US" sz="2000" dirty="0">
                <a:effectLst/>
                <a:latin typeface="Times New Roman" panose="02020603050405020304" pitchFamily="18" charset="0"/>
                <a:cs typeface="Times New Roman" panose="02020603050405020304" pitchFamily="18" charset="0"/>
              </a:rPr>
              <a:t>The resulting relation Q has one tuple for each combination of tuples—one from R and one from S.</a:t>
            </a:r>
            <a:endParaRPr lang="en-US" sz="2000" dirty="0">
              <a:effectLst/>
              <a:latin typeface="Times New Roman" panose="02020603050405020304" pitchFamily="18" charset="0"/>
              <a:cs typeface="Times New Roman" panose="02020603050405020304" pitchFamily="18" charset="0"/>
            </a:endParaRPr>
          </a:p>
          <a:p>
            <a:pPr lvl="5"/>
            <a:endParaRPr lang="en-US" dirty="0">
              <a:latin typeface="Times New Roman" panose="02020603050405020304" pitchFamily="18" charset="0"/>
              <a:cs typeface="Times New Roman" panose="02020603050405020304" pitchFamily="18" charset="0"/>
            </a:endParaRPr>
          </a:p>
          <a:p>
            <a:pPr lvl="5"/>
            <a:endParaRPr lang="en-US" dirty="0">
              <a:solidFill>
                <a:srgbClr val="0070C0"/>
              </a:solidFill>
              <a:latin typeface="Times New Roman" panose="02020603050405020304" pitchFamily="18" charset="0"/>
              <a:cs typeface="Times New Roman" panose="02020603050405020304" pitchFamily="18" charset="0"/>
            </a:endParaRPr>
          </a:p>
          <a:p>
            <a:pPr lvl="0"/>
            <a:endParaRPr lang="en-US"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lvl="2">
              <a:lnSpc>
                <a:spcPct val="150000"/>
              </a:lnSpc>
              <a:spcBef>
                <a:spcPts val="600"/>
              </a:spcBef>
              <a:defRPr/>
            </a:pPr>
            <a:endParaRPr lang="en-US"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1" y="743068"/>
            <a:ext cx="5664200" cy="72581"/>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10300" y="741193"/>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317500" y="1004761"/>
                <a:ext cx="11214735" cy="4848478"/>
              </a:xfrm>
              <a:prstGeom prst="rect">
                <a:avLst/>
              </a:prstGeom>
            </p:spPr>
            <p:txBody>
              <a:bodyPr wrap="square">
                <a:noAutofit/>
              </a:bodyPr>
              <a:lstStyle/>
              <a:p>
                <a:pPr>
                  <a:lnSpc>
                    <a:spcPct val="150000"/>
                  </a:lnSpc>
                </a:pPr>
                <a:r>
                  <a:rPr lang="en-US" sz="2000" b="1" dirty="0">
                    <a:solidFill>
                      <a:srgbClr val="C00000"/>
                    </a:solidFill>
                    <a:latin typeface="Times New Roman" panose="02020603050405020304" pitchFamily="18" charset="0"/>
                    <a:cs typeface="Times New Roman" panose="02020603050405020304" pitchFamily="18" charset="0"/>
                  </a:rPr>
                  <a:t>E. JOIN Operation (</a:t>
                </a:r>
                <a14:m>
                  <m:oMath xmlns:m="http://schemas.openxmlformats.org/officeDocument/2006/math">
                    <m:r>
                      <a:rPr lang="ar-AE" sz="2000">
                        <a:solidFill>
                          <a:srgbClr val="C00000"/>
                        </a:solidFill>
                        <a:latin typeface="Cambria Math" panose="02040503050406030204" pitchFamily="18" charset="0"/>
                      </a:rPr>
                      <m:t>⋈</m:t>
                    </m:r>
                  </m:oMath>
                </a14:m>
                <a:r>
                  <a:rPr lang="en-US" sz="2000" b="1" dirty="0">
                    <a:solidFill>
                      <a:srgbClr val="C00000"/>
                    </a:solidFill>
                    <a:latin typeface="Times New Roman" panose="02020603050405020304" pitchFamily="18" charset="0"/>
                    <a:cs typeface="Times New Roman" panose="02020603050405020304" pitchFamily="18" charset="0"/>
                  </a:rPr>
                  <a:t>)</a:t>
                </a:r>
                <a:endParaRPr lang="en-US" sz="2000" dirty="0">
                  <a:solidFill>
                    <a:srgbClr val="C00000"/>
                  </a:solidFill>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JOIN</a:t>
                </a:r>
                <a:r>
                  <a:rPr lang="en-US" sz="2000" dirty="0">
                    <a:latin typeface="Times New Roman" panose="02020603050405020304" pitchFamily="18" charset="0"/>
                    <a:cs typeface="Times New Roman" panose="02020603050405020304" pitchFamily="18" charset="0"/>
                  </a:rPr>
                  <a:t> operation combines </a:t>
                </a:r>
                <a:r>
                  <a:rPr lang="en-US" sz="2000" b="1" dirty="0">
                    <a:latin typeface="Times New Roman" panose="02020603050405020304" pitchFamily="18" charset="0"/>
                    <a:cs typeface="Times New Roman" panose="02020603050405020304" pitchFamily="18" charset="0"/>
                  </a:rPr>
                  <a:t>two relations (tables)</a:t>
                </a:r>
                <a:r>
                  <a:rPr lang="en-US" sz="2000" dirty="0">
                    <a:latin typeface="Times New Roman" panose="02020603050405020304" pitchFamily="18" charset="0"/>
                    <a:cs typeface="Times New Roman" panose="02020603050405020304" pitchFamily="18" charset="0"/>
                  </a:rPr>
                  <a:t> based on a </a:t>
                </a:r>
                <a:r>
                  <a:rPr lang="en-US" sz="2000" b="1" dirty="0">
                    <a:latin typeface="Times New Roman" panose="02020603050405020304" pitchFamily="18" charset="0"/>
                    <a:cs typeface="Times New Roman" panose="02020603050405020304" pitchFamily="18" charset="0"/>
                  </a:rPr>
                  <a:t>related/common attribute</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It is similar to combining rows that “match” across both tables.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Most commonly done using a </a:t>
                </a:r>
                <a:r>
                  <a:rPr lang="en-US" sz="2000" b="1" dirty="0">
                    <a:latin typeface="Times New Roman" panose="02020603050405020304" pitchFamily="18" charset="0"/>
                    <a:cs typeface="Times New Roman" panose="02020603050405020304" pitchFamily="18" charset="0"/>
                  </a:rPr>
                  <a:t>key relationship</a:t>
                </a:r>
                <a:r>
                  <a:rPr lang="en-US" sz="2000" dirty="0">
                    <a:latin typeface="Times New Roman" panose="02020603050405020304" pitchFamily="18" charset="0"/>
                    <a:cs typeface="Times New Roman" panose="02020603050405020304" pitchFamily="18" charset="0"/>
                  </a:rPr>
                  <a:t>, such as </a:t>
                </a:r>
                <a:r>
                  <a:rPr lang="en-US" sz="2000" b="1" dirty="0">
                    <a:latin typeface="Times New Roman" panose="02020603050405020304" pitchFamily="18" charset="0"/>
                    <a:cs typeface="Times New Roman" panose="02020603050405020304" pitchFamily="18" charset="0"/>
                  </a:rPr>
                  <a:t>primary key ↔ foreign key</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	Notation:</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sz="2000" b="1" i="1" smtClean="0">
                        <a:solidFill>
                          <a:srgbClr val="C00000"/>
                        </a:solidFill>
                        <a:latin typeface="Cambria Math" panose="02040503050406030204" pitchFamily="18" charset="0"/>
                      </a:rPr>
                      <m:t>𝑹</m:t>
                    </m:r>
                    <m:r>
                      <a:rPr lang="en-US" sz="2000" b="1">
                        <a:solidFill>
                          <a:srgbClr val="C00000"/>
                        </a:solidFill>
                        <a:latin typeface="Cambria Math" panose="02040503050406030204" pitchFamily="18" charset="0"/>
                      </a:rPr>
                      <m:t>⋈</m:t>
                    </m:r>
                    <m:r>
                      <a:rPr lang="en-US" sz="2000" b="1" i="1">
                        <a:solidFill>
                          <a:srgbClr val="C00000"/>
                        </a:solidFill>
                        <a:latin typeface="Cambria Math" panose="02040503050406030204" pitchFamily="18" charset="0"/>
                      </a:rPr>
                      <m:t>𝑺</m:t>
                    </m:r>
                    <m:r>
                      <a:rPr lang="en-US" sz="2000" b="1">
                        <a:solidFill>
                          <a:srgbClr val="C00000"/>
                        </a:solidFill>
                        <a:latin typeface="Cambria Math" panose="02040503050406030204" pitchFamily="18" charset="0"/>
                      </a:rPr>
                      <m:t> </m:t>
                    </m:r>
                    <m:r>
                      <m:rPr>
                        <m:nor/>
                      </m:rPr>
                      <a:rPr lang="en-US" sz="2000" b="1" i="1">
                        <a:solidFill>
                          <a:srgbClr val="C00000"/>
                        </a:solidFill>
                        <a:latin typeface="Times New Roman" panose="02020603050405020304" pitchFamily="18" charset="0"/>
                        <a:cs typeface="Times New Roman" panose="02020603050405020304" pitchFamily="18" charset="0"/>
                      </a:rPr>
                      <m:t>or</m:t>
                    </m:r>
                    <m:r>
                      <a:rPr lang="en-US" sz="2000" b="1">
                        <a:solidFill>
                          <a:srgbClr val="C00000"/>
                        </a:solidFill>
                        <a:latin typeface="Cambria Math" panose="02040503050406030204" pitchFamily="18" charset="0"/>
                      </a:rPr>
                      <m:t> </m:t>
                    </m:r>
                    <m:r>
                      <a:rPr lang="en-US" sz="2000" b="1" i="1">
                        <a:solidFill>
                          <a:srgbClr val="C00000"/>
                        </a:solidFill>
                        <a:latin typeface="Cambria Math" panose="02040503050406030204" pitchFamily="18" charset="0"/>
                      </a:rPr>
                      <m:t>𝑹</m:t>
                    </m:r>
                    <m:sSub>
                      <m:sSubPr>
                        <m:ctrlPr>
                          <a:rPr lang="ar-AE" sz="2000" b="1" i="1">
                            <a:solidFill>
                              <a:srgbClr val="C00000"/>
                            </a:solidFill>
                            <a:latin typeface="Cambria Math" panose="02040503050406030204" pitchFamily="18" charset="0"/>
                          </a:rPr>
                        </m:ctrlPr>
                      </m:sSubPr>
                      <m:e>
                        <m:r>
                          <a:rPr lang="ar-AE" sz="2000" b="1">
                            <a:solidFill>
                              <a:srgbClr val="C00000"/>
                            </a:solidFill>
                            <a:latin typeface="Cambria Math" panose="02040503050406030204" pitchFamily="18" charset="0"/>
                          </a:rPr>
                          <m:t>⋈</m:t>
                        </m:r>
                      </m:e>
                      <m:sub>
                        <m:r>
                          <a:rPr lang="ar-AE" sz="2000" b="1" i="1">
                            <a:solidFill>
                              <a:srgbClr val="C00000"/>
                            </a:solidFill>
                            <a:latin typeface="Cambria Math" panose="02040503050406030204" pitchFamily="18" charset="0"/>
                          </a:rPr>
                          <m:t>𝒄𝒐𝒏𝒅𝒊𝒕𝒊𝒐𝒏</m:t>
                        </m:r>
                      </m:sub>
                    </m:sSub>
                    <m:r>
                      <a:rPr lang="ar-AE" sz="2000" b="1" i="1">
                        <a:solidFill>
                          <a:srgbClr val="C00000"/>
                        </a:solidFill>
                        <a:latin typeface="Cambria Math" panose="02040503050406030204" pitchFamily="18" charset="0"/>
                      </a:rPr>
                      <m:t>𝑺</m:t>
                    </m:r>
                  </m:oMath>
                </a14:m>
                <a:endParaRPr lang="ar-AE" sz="2000" b="1" dirty="0">
                  <a:solidFill>
                    <a:srgbClr val="C00000"/>
                  </a:solidFill>
                  <a:latin typeface="Times New Roman" panose="02020603050405020304" pitchFamily="18" charset="0"/>
                  <a:cs typeface="Times New Roman" panose="02020603050405020304" pitchFamily="18" charset="0"/>
                </a:endParaRPr>
              </a:p>
              <a:p>
                <a:pPr lvl="5"/>
                <a:endParaRPr lang="en-US" dirty="0">
                  <a:latin typeface="Times New Roman" panose="02020603050405020304" pitchFamily="18" charset="0"/>
                  <a:cs typeface="Times New Roman" panose="02020603050405020304" pitchFamily="18" charset="0"/>
                </a:endParaRPr>
              </a:p>
              <a:p>
                <a:pPr lvl="5"/>
                <a:endParaRPr lang="en-US" dirty="0">
                  <a:solidFill>
                    <a:srgbClr val="0070C0"/>
                  </a:solidFill>
                  <a:latin typeface="Times New Roman" panose="02020603050405020304" pitchFamily="18" charset="0"/>
                  <a:cs typeface="Times New Roman" panose="02020603050405020304" pitchFamily="18" charset="0"/>
                </a:endParaRPr>
              </a:p>
              <a:p>
                <a:pPr lvl="0"/>
                <a:endParaRPr lang="en-US"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lvl="2">
                  <a:lnSpc>
                    <a:spcPct val="150000"/>
                  </a:lnSpc>
                  <a:spcBef>
                    <a:spcPts val="600"/>
                  </a:spcBef>
                  <a:defRPr/>
                </a:pPr>
                <a:endParaRPr lang="en-US"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317500" y="1004761"/>
                <a:ext cx="11214735" cy="4848478"/>
              </a:xfrm>
              <a:prstGeom prst="rect">
                <a:avLst/>
              </a:prstGeom>
              <a:blipFill rotWithShape="1">
                <a:blip r:embed="rId2"/>
                <a:stretch>
                  <a:fillRect t="-4" b="-9696"/>
                </a:stretch>
              </a:blipFill>
            </p:spPr>
            <p:txBody>
              <a:bodyPr/>
              <a:lstStyle/>
              <a:p>
                <a:r>
                  <a:rPr lang="en-GB" altLang="en-US">
                    <a:noFill/>
                  </a:rPr>
                  <a:t> </a:t>
                </a:r>
              </a:p>
            </p:txBody>
          </p:sp>
        </mc:Fallback>
      </mc:AlternateContent>
      <p:graphicFrame>
        <p:nvGraphicFramePr>
          <p:cNvPr id="2" name="Table 1"/>
          <p:cNvGraphicFramePr>
            <a:graphicFrameLocks noGrp="1"/>
          </p:cNvGraphicFramePr>
          <p:nvPr/>
        </p:nvGraphicFramePr>
        <p:xfrm>
          <a:off x="453887" y="3429000"/>
          <a:ext cx="11187616" cy="3012193"/>
        </p:xfrm>
        <a:graphic>
          <a:graphicData uri="http://schemas.openxmlformats.org/drawingml/2006/table">
            <a:tbl>
              <a:tblPr>
                <a:tableStyleId>{5A111915-BE36-4E01-A7E5-04B1672EAD32}</a:tableStyleId>
              </a:tblPr>
              <a:tblGrid>
                <a:gridCol w="3307522"/>
                <a:gridCol w="3307522"/>
                <a:gridCol w="4572572"/>
              </a:tblGrid>
              <a:tr h="489821">
                <a:tc>
                  <a:txBody>
                    <a:bodyPr/>
                    <a:lstStyle/>
                    <a:p>
                      <a:pPr>
                        <a:buNone/>
                      </a:pPr>
                      <a:r>
                        <a:rPr lang="en-US" sz="2000" dirty="0">
                          <a:solidFill>
                            <a:srgbClr val="C00000"/>
                          </a:solidFill>
                          <a:effectLst>
                            <a:outerShdw blurRad="38100" dist="38100" dir="2700000" algn="tl">
                              <a:srgbClr val="000000">
                                <a:alpha val="43137"/>
                              </a:srgbClr>
                            </a:outerShdw>
                          </a:effectLst>
                        </a:rPr>
                        <a:t>Join Type</a:t>
                      </a:r>
                      <a:endParaRPr lang="en-US" sz="2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nchor="ctr"/>
                </a:tc>
                <a:tc>
                  <a:txBody>
                    <a:bodyPr/>
                    <a:lstStyle/>
                    <a:p>
                      <a:pPr>
                        <a:buNone/>
                      </a:pPr>
                      <a:r>
                        <a:rPr lang="en-US" sz="2000">
                          <a:solidFill>
                            <a:srgbClr val="C00000"/>
                          </a:solidFill>
                          <a:effectLst>
                            <a:outerShdw blurRad="38100" dist="38100" dir="2700000" algn="tl">
                              <a:srgbClr val="000000">
                                <a:alpha val="43137"/>
                              </a:srgbClr>
                            </a:outerShdw>
                          </a:effectLst>
                        </a:rPr>
                        <a:t>Symbol / Notation</a:t>
                      </a:r>
                      <a:endParaRPr lang="en-US" sz="200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rgbClr val="C00000"/>
                          </a:solidFill>
                          <a:effectLst>
                            <a:outerShdw blurRad="38100" dist="38100" dir="2700000" algn="tl">
                              <a:srgbClr val="000000">
                                <a:alpha val="43137"/>
                              </a:srgbClr>
                            </a:outerShdw>
                          </a:effectLst>
                        </a:rPr>
                        <a:t>Meaning</a:t>
                      </a:r>
                      <a:endParaRPr lang="en-US" sz="2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txBody>
                  <a:tcPr anchor="ctr"/>
                </a:tc>
              </a:tr>
              <a:tr h="489821">
                <a:tc>
                  <a:txBody>
                    <a:bodyPr/>
                    <a:lstStyle/>
                    <a:p>
                      <a:pPr>
                        <a:buNone/>
                      </a:pPr>
                      <a:r>
                        <a:rPr lang="en-US" sz="2000" b="0" dirty="0">
                          <a:solidFill>
                            <a:schemeClr val="tx1"/>
                          </a:solidFill>
                        </a:rPr>
                        <a:t>Theta Join</a:t>
                      </a:r>
                      <a:endParaRPr lang="en-US" sz="20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1"/>
                          </a:solidFill>
                        </a:rPr>
                        <a:t>( R ⋈{condition} S )</a:t>
                      </a:r>
                      <a:endParaRPr 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1"/>
                          </a:solidFill>
                        </a:rPr>
                        <a:t>Join with any condition (&gt;, &lt;, =)</a:t>
                      </a:r>
                      <a:endParaRPr lang="en-US" sz="2000" dirty="0">
                        <a:solidFill>
                          <a:schemeClr val="tx1"/>
                        </a:solidFill>
                        <a:latin typeface="Times New Roman" panose="02020603050405020304" pitchFamily="18" charset="0"/>
                        <a:cs typeface="Times New Roman" panose="02020603050405020304" pitchFamily="18" charset="0"/>
                      </a:endParaRPr>
                    </a:p>
                  </a:txBody>
                  <a:tcPr anchor="ctr"/>
                </a:tc>
              </a:tr>
              <a:tr h="521167">
                <a:tc>
                  <a:txBody>
                    <a:bodyPr/>
                    <a:lstStyle/>
                    <a:p>
                      <a:pPr>
                        <a:buNone/>
                      </a:pPr>
                      <a:r>
                        <a:rPr lang="en-US" sz="2000" b="0" dirty="0">
                          <a:solidFill>
                            <a:schemeClr val="tx1"/>
                          </a:solidFill>
                        </a:rPr>
                        <a:t>Equi Join</a:t>
                      </a:r>
                      <a:endParaRPr lang="en-US" sz="20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pt-BR" sz="2000" dirty="0">
                          <a:solidFill>
                            <a:schemeClr val="tx1"/>
                          </a:solidFill>
                        </a:rPr>
                        <a:t>( R ⋈{R.A = S.B} S )</a:t>
                      </a:r>
                      <a:endParaRPr lang="pt-BR"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1"/>
                          </a:solidFill>
                        </a:rPr>
                        <a:t>Condition only uses =</a:t>
                      </a:r>
                      <a:endParaRPr lang="en-US" sz="2000" dirty="0">
                        <a:solidFill>
                          <a:schemeClr val="tx1"/>
                        </a:solidFill>
                        <a:latin typeface="Times New Roman" panose="02020603050405020304" pitchFamily="18" charset="0"/>
                        <a:cs typeface="Times New Roman" panose="02020603050405020304" pitchFamily="18" charset="0"/>
                      </a:endParaRPr>
                    </a:p>
                  </a:txBody>
                  <a:tcPr anchor="ctr"/>
                </a:tc>
              </a:tr>
              <a:tr h="654198">
                <a:tc>
                  <a:txBody>
                    <a:bodyPr/>
                    <a:lstStyle/>
                    <a:p>
                      <a:pPr>
                        <a:buNone/>
                      </a:pPr>
                      <a:r>
                        <a:rPr lang="en-US" sz="2000" b="0" dirty="0">
                          <a:solidFill>
                            <a:schemeClr val="tx1"/>
                          </a:solidFill>
                        </a:rPr>
                        <a:t>Natural Join</a:t>
                      </a:r>
                      <a:endParaRPr lang="en-US" sz="20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1"/>
                          </a:solidFill>
                        </a:rPr>
                        <a:t>( R ⋈ S )</a:t>
                      </a:r>
                      <a:endParaRPr lang="en-US" sz="20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1"/>
                          </a:solidFill>
                        </a:rPr>
                        <a:t>Join on all common attributes (automatic)</a:t>
                      </a:r>
                      <a:endParaRPr lang="en-US" sz="2000" dirty="0">
                        <a:solidFill>
                          <a:schemeClr val="tx1"/>
                        </a:solidFill>
                        <a:latin typeface="Times New Roman" panose="02020603050405020304" pitchFamily="18" charset="0"/>
                        <a:cs typeface="Times New Roman" panose="02020603050405020304" pitchFamily="18" charset="0"/>
                      </a:endParaRPr>
                    </a:p>
                  </a:txBody>
                  <a:tcPr anchor="ctr"/>
                </a:tc>
              </a:tr>
              <a:tr h="857186">
                <a:tc>
                  <a:txBody>
                    <a:bodyPr/>
                    <a:lstStyle/>
                    <a:p>
                      <a:pPr>
                        <a:buNone/>
                      </a:pPr>
                      <a:r>
                        <a:rPr lang="en-US" sz="2000" b="0" dirty="0">
                          <a:solidFill>
                            <a:schemeClr val="tx1"/>
                          </a:solidFill>
                        </a:rPr>
                        <a:t>Outer Join (not core relational algebra but extended)</a:t>
                      </a:r>
                      <a:endParaRPr lang="en-US" sz="2000" b="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a:solidFill>
                            <a:schemeClr val="tx1"/>
                          </a:solidFill>
                        </a:rPr>
                        <a:t>Left / Right / Full</a:t>
                      </a:r>
                      <a:endParaRPr lang="en-US" sz="200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sz="2000" dirty="0">
                          <a:solidFill>
                            <a:schemeClr val="tx1"/>
                          </a:solidFill>
                        </a:rPr>
                        <a:t>Keeps non-matching rows also</a:t>
                      </a:r>
                      <a:endParaRPr lang="en-US" sz="2000" dirty="0">
                        <a:solidFill>
                          <a:schemeClr val="tx1"/>
                        </a:solidFill>
                        <a:latin typeface="Times New Roman" panose="02020603050405020304" pitchFamily="18" charset="0"/>
                        <a:cs typeface="Times New Roman" panose="02020603050405020304" pitchFamily="18" charset="0"/>
                      </a:endParaRPr>
                    </a:p>
                  </a:txBody>
                  <a:tcPr anchor="ctr"/>
                </a:tc>
              </a:tr>
            </a:tbl>
          </a:graphicData>
        </a:graphic>
      </p:graphicFrame>
    </p:spTree>
  </p:cSld>
  <p:clrMapOvr>
    <a:masterClrMapping/>
  </p:clrMapOvr>
  <p:transition spd="slow">
    <p:cove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1" y="743068"/>
            <a:ext cx="5664200" cy="72581"/>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10300" y="741193"/>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a:xfrm>
            <a:off x="8789035" y="5769087"/>
            <a:ext cx="2743200" cy="365125"/>
          </a:xfrm>
        </p:spPr>
        <p:txBody>
          <a:bodyPr/>
          <a:lstStyle/>
          <a:p>
            <a:fld id="{562B4C7C-EF45-43C3-A509-CBD9E58B894D}" type="slidenum">
              <a:rPr lang="en-US" smtClean="0"/>
            </a:fld>
            <a:endParaRPr lang="en-US" dirty="0"/>
          </a:p>
        </p:txBody>
      </p:sp>
      <mc:AlternateContent xmlns:mc="http://schemas.openxmlformats.org/markup-compatibility/2006">
        <mc:Choice xmlns:a14="http://schemas.microsoft.com/office/drawing/2010/main" Requires="a14">
          <p:sp>
            <p:nvSpPr>
              <p:cNvPr id="13" name="Rectangle 12"/>
              <p:cNvSpPr/>
              <p:nvPr/>
            </p:nvSpPr>
            <p:spPr>
              <a:xfrm>
                <a:off x="659765" y="1004761"/>
                <a:ext cx="10872470" cy="4848478"/>
              </a:xfrm>
              <a:prstGeom prst="rect">
                <a:avLst/>
              </a:prstGeom>
            </p:spPr>
            <p:txBody>
              <a:bodyPr wrap="square">
                <a:noAutofit/>
              </a:bodyPr>
              <a:lstStyle/>
              <a:p>
                <a:pPr>
                  <a:lnSpc>
                    <a:spcPct val="150000"/>
                  </a:lnSpc>
                </a:pPr>
                <a:r>
                  <a:rPr lang="en-US" sz="2000" b="1" dirty="0">
                    <a:solidFill>
                      <a:srgbClr val="C00000"/>
                    </a:solidFill>
                    <a:latin typeface="Times New Roman" panose="02020603050405020304" pitchFamily="18" charset="0"/>
                    <a:cs typeface="Times New Roman" panose="02020603050405020304" pitchFamily="18" charset="0"/>
                  </a:rPr>
                  <a:t>E. JOIN Operation (</a:t>
                </a:r>
                <a14:m>
                  <m:oMath xmlns:m="http://schemas.openxmlformats.org/officeDocument/2006/math">
                    <m:r>
                      <a:rPr lang="ar-AE" sz="2000">
                        <a:solidFill>
                          <a:srgbClr val="C00000"/>
                        </a:solidFill>
                        <a:latin typeface="Cambria Math" panose="02040503050406030204" pitchFamily="18" charset="0"/>
                      </a:rPr>
                      <m:t>⋈</m:t>
                    </m:r>
                  </m:oMath>
                </a14:m>
                <a:r>
                  <a:rPr lang="en-US" sz="2000" b="1" dirty="0">
                    <a:solidFill>
                      <a:srgbClr val="C00000"/>
                    </a:solidFill>
                    <a:latin typeface="Times New Roman" panose="02020603050405020304" pitchFamily="18" charset="0"/>
                    <a:cs typeface="Times New Roman" panose="02020603050405020304" pitchFamily="18" charset="0"/>
                  </a:rPr>
                  <a:t>)</a:t>
                </a:r>
                <a:endParaRPr lang="en-US" sz="2000" dirty="0">
                  <a:solidFill>
                    <a:srgbClr val="C00000"/>
                  </a:solidFill>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JOIN</a:t>
                </a:r>
                <a:r>
                  <a:rPr lang="en-US" sz="2000" dirty="0">
                    <a:latin typeface="Times New Roman" panose="02020603050405020304" pitchFamily="18" charset="0"/>
                    <a:cs typeface="Times New Roman" panose="02020603050405020304" pitchFamily="18" charset="0"/>
                  </a:rPr>
                  <a:t> operation combines </a:t>
                </a:r>
                <a:r>
                  <a:rPr lang="en-US" sz="2000" b="1" dirty="0">
                    <a:latin typeface="Times New Roman" panose="02020603050405020304" pitchFamily="18" charset="0"/>
                    <a:cs typeface="Times New Roman" panose="02020603050405020304" pitchFamily="18" charset="0"/>
                  </a:rPr>
                  <a:t>two relations (tables)</a:t>
                </a:r>
                <a:r>
                  <a:rPr lang="en-US" sz="2000" dirty="0">
                    <a:latin typeface="Times New Roman" panose="02020603050405020304" pitchFamily="18" charset="0"/>
                    <a:cs typeface="Times New Roman" panose="02020603050405020304" pitchFamily="18" charset="0"/>
                  </a:rPr>
                  <a:t> based on a </a:t>
                </a:r>
                <a:r>
                  <a:rPr lang="en-US" sz="2000" b="1" dirty="0">
                    <a:latin typeface="Times New Roman" panose="02020603050405020304" pitchFamily="18" charset="0"/>
                    <a:cs typeface="Times New Roman" panose="02020603050405020304" pitchFamily="18" charset="0"/>
                  </a:rPr>
                  <a:t>related/common attribute</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It is similar to combining rows that “match” across both tables.</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Most commonly done using a </a:t>
                </a:r>
                <a:r>
                  <a:rPr lang="en-US" sz="2000" b="1" dirty="0">
                    <a:latin typeface="Times New Roman" panose="02020603050405020304" pitchFamily="18" charset="0"/>
                    <a:cs typeface="Times New Roman" panose="02020603050405020304" pitchFamily="18" charset="0"/>
                  </a:rPr>
                  <a:t>key relationship</a:t>
                </a:r>
                <a:r>
                  <a:rPr lang="en-US" sz="2000" dirty="0">
                    <a:latin typeface="Times New Roman" panose="02020603050405020304" pitchFamily="18" charset="0"/>
                    <a:cs typeface="Times New Roman" panose="02020603050405020304" pitchFamily="18" charset="0"/>
                  </a:rPr>
                  <a:t>, such as </a:t>
                </a:r>
                <a:r>
                  <a:rPr lang="en-US" sz="2000" b="1" dirty="0">
                    <a:latin typeface="Times New Roman" panose="02020603050405020304" pitchFamily="18" charset="0"/>
                    <a:cs typeface="Times New Roman" panose="02020603050405020304" pitchFamily="18" charset="0"/>
                  </a:rPr>
                  <a:t>primary key ↔ foreign key</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	Notation:</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sz="2000" b="1" i="1" smtClean="0">
                        <a:solidFill>
                          <a:srgbClr val="C00000"/>
                        </a:solidFill>
                        <a:latin typeface="Cambria Math" panose="02040503050406030204" pitchFamily="18" charset="0"/>
                      </a:rPr>
                      <m:t>𝑹</m:t>
                    </m:r>
                    <m:r>
                      <a:rPr lang="en-US" sz="2000" b="1">
                        <a:solidFill>
                          <a:srgbClr val="C00000"/>
                        </a:solidFill>
                        <a:latin typeface="Cambria Math" panose="02040503050406030204" pitchFamily="18" charset="0"/>
                      </a:rPr>
                      <m:t>⋈</m:t>
                    </m:r>
                    <m:r>
                      <a:rPr lang="en-US" sz="2000" b="1" i="1">
                        <a:solidFill>
                          <a:srgbClr val="C00000"/>
                        </a:solidFill>
                        <a:latin typeface="Cambria Math" panose="02040503050406030204" pitchFamily="18" charset="0"/>
                      </a:rPr>
                      <m:t>𝑺</m:t>
                    </m:r>
                    <m:r>
                      <a:rPr lang="en-US" sz="2000" b="1">
                        <a:solidFill>
                          <a:srgbClr val="C00000"/>
                        </a:solidFill>
                        <a:latin typeface="Cambria Math" panose="02040503050406030204" pitchFamily="18" charset="0"/>
                      </a:rPr>
                      <m:t> </m:t>
                    </m:r>
                    <m:r>
                      <m:rPr>
                        <m:nor/>
                      </m:rPr>
                      <a:rPr lang="en-US" sz="2000" b="1" i="1">
                        <a:solidFill>
                          <a:srgbClr val="C00000"/>
                        </a:solidFill>
                        <a:latin typeface="Times New Roman" panose="02020603050405020304" pitchFamily="18" charset="0"/>
                        <a:cs typeface="Times New Roman" panose="02020603050405020304" pitchFamily="18" charset="0"/>
                      </a:rPr>
                      <m:t>or</m:t>
                    </m:r>
                    <m:r>
                      <a:rPr lang="en-US" sz="2000" b="1">
                        <a:solidFill>
                          <a:srgbClr val="C00000"/>
                        </a:solidFill>
                        <a:latin typeface="Cambria Math" panose="02040503050406030204" pitchFamily="18" charset="0"/>
                      </a:rPr>
                      <m:t> </m:t>
                    </m:r>
                    <m:r>
                      <a:rPr lang="en-US" sz="2000" b="1" i="1">
                        <a:solidFill>
                          <a:srgbClr val="C00000"/>
                        </a:solidFill>
                        <a:latin typeface="Cambria Math" panose="02040503050406030204" pitchFamily="18" charset="0"/>
                      </a:rPr>
                      <m:t>𝑹</m:t>
                    </m:r>
                    <m:sSub>
                      <m:sSubPr>
                        <m:ctrlPr>
                          <a:rPr lang="ar-AE" sz="2000" b="1" i="1">
                            <a:solidFill>
                              <a:srgbClr val="C00000"/>
                            </a:solidFill>
                            <a:latin typeface="Cambria Math" panose="02040503050406030204" pitchFamily="18" charset="0"/>
                          </a:rPr>
                        </m:ctrlPr>
                      </m:sSubPr>
                      <m:e>
                        <m:r>
                          <a:rPr lang="ar-AE" sz="2000" b="1">
                            <a:solidFill>
                              <a:srgbClr val="C00000"/>
                            </a:solidFill>
                            <a:latin typeface="Cambria Math" panose="02040503050406030204" pitchFamily="18" charset="0"/>
                          </a:rPr>
                          <m:t>⋈</m:t>
                        </m:r>
                      </m:e>
                      <m:sub>
                        <m:r>
                          <a:rPr lang="ar-AE" sz="2000" b="1" i="1">
                            <a:solidFill>
                              <a:srgbClr val="C00000"/>
                            </a:solidFill>
                            <a:latin typeface="Cambria Math" panose="02040503050406030204" pitchFamily="18" charset="0"/>
                          </a:rPr>
                          <m:t>𝒄𝒐𝒏𝒅𝒊𝒕𝒊𝒐𝒏</m:t>
                        </m:r>
                      </m:sub>
                    </m:sSub>
                    <m:r>
                      <a:rPr lang="ar-AE" sz="2000" b="1" i="1">
                        <a:solidFill>
                          <a:srgbClr val="C00000"/>
                        </a:solidFill>
                        <a:latin typeface="Cambria Math" panose="02040503050406030204" pitchFamily="18" charset="0"/>
                      </a:rPr>
                      <m:t>𝑺</m:t>
                    </m:r>
                  </m:oMath>
                </a14:m>
                <a:endParaRPr lang="en-US" sz="2000" b="1" dirty="0">
                  <a:solidFill>
                    <a:srgbClr val="C00000"/>
                  </a:solidFill>
                  <a:latin typeface="Times New Roman" panose="02020603050405020304" pitchFamily="18" charset="0"/>
                  <a:cs typeface="Times New Roman" panose="02020603050405020304" pitchFamily="18" charset="0"/>
                </a:endParaRPr>
              </a:p>
              <a:p>
                <a:pPr marL="457200" indent="-457200">
                  <a:lnSpc>
                    <a:spcPct val="150000"/>
                  </a:lnSpc>
                  <a:buAutoNum type="arabicPeriod"/>
                </a:pPr>
                <a:r>
                  <a:rPr lang="en-US" altLang="en-US" sz="2000" b="1" dirty="0">
                    <a:solidFill>
                      <a:srgbClr val="C00000"/>
                    </a:solidFill>
                    <a:latin typeface="Times New Roman" panose="02020603050405020304" pitchFamily="18" charset="0"/>
                    <a:cs typeface="Times New Roman" panose="02020603050405020304" pitchFamily="18" charset="0"/>
                  </a:rPr>
                  <a:t>Theta / Equi Join</a:t>
                </a:r>
                <a:endParaRPr lang="en-US" altLang="en-US" sz="2000" b="1" dirty="0">
                  <a:solidFill>
                    <a:srgbClr val="C00000"/>
                  </a:solidFill>
                  <a:latin typeface="Times New Roman" panose="02020603050405020304" pitchFamily="18" charset="0"/>
                  <a:cs typeface="Times New Roman" panose="02020603050405020304" pitchFamily="18" charset="0"/>
                </a:endParaRPr>
              </a:p>
              <a:p>
                <a:r>
                  <a:rPr lang="en-US" sz="2000" b="1" dirty="0"/>
                  <a:t>Relational Algebra: </a:t>
                </a:r>
                <a14:m>
                  <m:oMath xmlns:m="http://schemas.openxmlformats.org/officeDocument/2006/math">
                    <m:r>
                      <a:rPr lang="en-US" i="1">
                        <a:latin typeface="Cambria Math" panose="02040503050406030204" pitchFamily="18" charset="0"/>
                      </a:rPr>
                      <m:t>𝑆𝑡𝑢𝑑𝑒𝑛𝑡</m:t>
                    </m:r>
                    <m:sSub>
                      <m:sSubPr>
                        <m:ctrlPr>
                          <a:rPr lang="ar-AE" i="1">
                            <a:latin typeface="Cambria Math" panose="02040503050406030204" pitchFamily="18" charset="0"/>
                          </a:rPr>
                        </m:ctrlPr>
                      </m:sSubPr>
                      <m:e>
                        <m:r>
                          <a:rPr lang="ar-AE">
                            <a:latin typeface="Cambria Math" panose="02040503050406030204" pitchFamily="18" charset="0"/>
                          </a:rPr>
                          <m:t>⋈</m:t>
                        </m:r>
                      </m:e>
                      <m:sub>
                        <m:r>
                          <a:rPr lang="ar-AE" i="1">
                            <a:latin typeface="Cambria Math" panose="02040503050406030204" pitchFamily="18" charset="0"/>
                          </a:rPr>
                          <m:t>𝑆𝑡𝑢𝑑𝑒𝑛𝑡</m:t>
                        </m:r>
                        <m:r>
                          <a:rPr lang="ar-AE">
                            <a:latin typeface="Cambria Math" panose="02040503050406030204" pitchFamily="18" charset="0"/>
                          </a:rPr>
                          <m:t>.</m:t>
                        </m:r>
                        <m:r>
                          <a:rPr lang="ar-AE" i="1">
                            <a:latin typeface="Cambria Math" panose="02040503050406030204" pitchFamily="18" charset="0"/>
                          </a:rPr>
                          <m:t>𝐷𝑒𝑝𝑡</m:t>
                        </m:r>
                        <m:r>
                          <a:rPr lang="ar-AE">
                            <a:latin typeface="Cambria Math" panose="02040503050406030204" pitchFamily="18" charset="0"/>
                          </a:rPr>
                          <m:t>=</m:t>
                        </m:r>
                        <m:r>
                          <a:rPr lang="ar-AE" i="1">
                            <a:latin typeface="Cambria Math" panose="02040503050406030204" pitchFamily="18" charset="0"/>
                          </a:rPr>
                          <m:t>𝐷𝑒𝑝𝑎𝑟𝑡𝑚𝑒𝑛𝑡</m:t>
                        </m:r>
                        <m:r>
                          <a:rPr lang="ar-AE">
                            <a:latin typeface="Cambria Math" panose="02040503050406030204" pitchFamily="18" charset="0"/>
                          </a:rPr>
                          <m:t>.</m:t>
                        </m:r>
                        <m:r>
                          <a:rPr lang="ar-AE" i="1">
                            <a:latin typeface="Cambria Math" panose="02040503050406030204" pitchFamily="18" charset="0"/>
                          </a:rPr>
                          <m:t>𝐷𝑒𝑝𝑡</m:t>
                        </m:r>
                      </m:sub>
                    </m:sSub>
                    <m:r>
                      <a:rPr lang="ar-AE" i="1">
                        <a:latin typeface="Cambria Math" panose="02040503050406030204" pitchFamily="18" charset="0"/>
                      </a:rPr>
                      <m:t>𝐷𝑒𝑝𝑎𝑟𝑡𝑚𝑒𝑛𝑡</m:t>
                    </m:r>
                  </m:oMath>
                </a14:m>
                <a:endParaRPr lang="ar-AE" sz="2000" dirty="0"/>
              </a:p>
              <a:p>
                <a:pPr lvl="8">
                  <a:lnSpc>
                    <a:spcPct val="150000"/>
                  </a:lnSpc>
                </a:pPr>
                <a:r>
                  <a:rPr lang="en-US" altLang="en-US" sz="2000" b="1" dirty="0">
                    <a:solidFill>
                      <a:srgbClr val="C00000"/>
                    </a:solidFill>
                    <a:latin typeface="Times New Roman" panose="02020603050405020304" pitchFamily="18" charset="0"/>
                    <a:cs typeface="Times New Roman" panose="02020603050405020304" pitchFamily="18" charset="0"/>
                  </a:rPr>
                  <a:t> 		  Result</a:t>
                </a:r>
                <a:endParaRPr lang="en-US" altLang="en-US" sz="2000" b="1" dirty="0">
                  <a:solidFill>
                    <a:srgbClr val="C00000"/>
                  </a:solidFill>
                  <a:latin typeface="Times New Roman" panose="02020603050405020304" pitchFamily="18" charset="0"/>
                  <a:cs typeface="Times New Roman" panose="02020603050405020304" pitchFamily="18" charset="0"/>
                </a:endParaRPr>
              </a:p>
              <a:p>
                <a:pPr>
                  <a:lnSpc>
                    <a:spcPct val="150000"/>
                  </a:lnSpc>
                </a:pPr>
                <a:r>
                  <a:rPr lang="en-US" altLang="en-US" sz="2000" b="1" dirty="0">
                    <a:latin typeface="Arial" panose="020B0604020202020204" pitchFamily="34" charset="0"/>
                  </a:rPr>
                  <a:t>Student		  Department</a:t>
                </a:r>
                <a:endParaRPr lang="en-US" altLang="en-US" sz="2000" b="1" dirty="0">
                  <a:latin typeface="Arial" panose="020B0604020202020204" pitchFamily="34" charset="0"/>
                </a:endParaRPr>
              </a:p>
              <a:p>
                <a:pPr>
                  <a:lnSpc>
                    <a:spcPct val="150000"/>
                  </a:lnSpc>
                </a:pPr>
                <a:endParaRPr lang="en-US" altLang="en-US" sz="2000" b="1" dirty="0">
                  <a:latin typeface="Arial" panose="020B0604020202020204" pitchFamily="34" charset="0"/>
                </a:endParaRPr>
              </a:p>
              <a:p>
                <a:pPr>
                  <a:lnSpc>
                    <a:spcPct val="150000"/>
                  </a:lnSpc>
                </a:pPr>
                <a:endParaRPr lang="ar-AE" sz="2000" b="1" dirty="0">
                  <a:solidFill>
                    <a:srgbClr val="C00000"/>
                  </a:solidFill>
                  <a:latin typeface="Times New Roman" panose="02020603050405020304" pitchFamily="18" charset="0"/>
                  <a:cs typeface="Times New Roman" panose="02020603050405020304" pitchFamily="18" charset="0"/>
                </a:endParaRPr>
              </a:p>
              <a:p>
                <a:pPr lvl="5"/>
                <a:endParaRPr lang="en-US" dirty="0">
                  <a:latin typeface="Times New Roman" panose="02020603050405020304" pitchFamily="18" charset="0"/>
                  <a:cs typeface="Times New Roman" panose="02020603050405020304" pitchFamily="18" charset="0"/>
                </a:endParaRPr>
              </a:p>
              <a:p>
                <a:pPr lvl="5"/>
                <a:endParaRPr lang="en-US" dirty="0">
                  <a:solidFill>
                    <a:srgbClr val="0070C0"/>
                  </a:solidFill>
                  <a:latin typeface="Times New Roman" panose="02020603050405020304" pitchFamily="18" charset="0"/>
                  <a:cs typeface="Times New Roman" panose="02020603050405020304" pitchFamily="18" charset="0"/>
                </a:endParaRPr>
              </a:p>
              <a:p>
                <a:pPr lvl="0"/>
                <a:endParaRPr lang="en-US" dirty="0">
                  <a:solidFill>
                    <a:srgbClr val="FF0000"/>
                  </a:solidFill>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marL="0" lvl="2">
                  <a:lnSpc>
                    <a:spcPct val="150000"/>
                  </a:lnSpc>
                  <a:spcBef>
                    <a:spcPts val="600"/>
                  </a:spcBef>
                  <a:defRPr/>
                </a:pPr>
                <a:endParaRPr lang="en-US"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pPr marL="457200" lvl="2" indent="-457200">
                  <a:lnSpc>
                    <a:spcPct val="150000"/>
                  </a:lnSpc>
                  <a:spcBef>
                    <a:spcPts val="600"/>
                  </a:spcBef>
                  <a:buBlip>
                    <a:blip r:embed="rId1"/>
                  </a:buBlip>
                  <a:defRPr/>
                </a:pPr>
                <a:endParaRPr lang="en-US" dirty="0">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659765" y="1004761"/>
                <a:ext cx="10872470" cy="4848478"/>
              </a:xfrm>
              <a:prstGeom prst="rect">
                <a:avLst/>
              </a:prstGeom>
              <a:blipFill rotWithShape="1">
                <a:blip r:embed="rId2"/>
                <a:stretch>
                  <a:fillRect t="-4" b="-63131"/>
                </a:stretch>
              </a:blipFill>
            </p:spPr>
            <p:txBody>
              <a:bodyPr/>
              <a:lstStyle/>
              <a:p>
                <a:r>
                  <a:rPr lang="en-GB" altLang="en-US">
                    <a:noFill/>
                  </a:rPr>
                  <a:t> </a:t>
                </a:r>
              </a:p>
            </p:txBody>
          </p:sp>
        </mc:Fallback>
      </mc:AlternateContent>
      <p:graphicFrame>
        <p:nvGraphicFramePr>
          <p:cNvPr id="3" name="Table 2"/>
          <p:cNvGraphicFramePr>
            <a:graphicFrameLocks noGrp="1"/>
          </p:cNvGraphicFramePr>
          <p:nvPr/>
        </p:nvGraphicFramePr>
        <p:xfrm>
          <a:off x="317500" y="5075872"/>
          <a:ext cx="2575630" cy="1463040"/>
        </p:xfrm>
        <a:graphic>
          <a:graphicData uri="http://schemas.openxmlformats.org/drawingml/2006/table">
            <a:tbl>
              <a:tblPr>
                <a:tableStyleId>{BDBED569-4797-4DF1-A0F4-6AAB3CD982D8}</a:tableStyleId>
              </a:tblPr>
              <a:tblGrid>
                <a:gridCol w="849630"/>
                <a:gridCol w="919480"/>
                <a:gridCol w="806520"/>
              </a:tblGrid>
              <a:tr h="0">
                <a:tc>
                  <a:txBody>
                    <a:bodyPr/>
                    <a:lstStyle/>
                    <a:p>
                      <a:pPr>
                        <a:buNone/>
                      </a:pPr>
                      <a:r>
                        <a:rPr lang="en-US" dirty="0"/>
                        <a:t>Stu_ID</a:t>
                      </a:r>
                      <a:endParaRPr lang="en-US" dirty="0"/>
                    </a:p>
                  </a:txBody>
                  <a:tcPr anchor="ctr"/>
                </a:tc>
                <a:tc>
                  <a:txBody>
                    <a:bodyPr/>
                    <a:lstStyle/>
                    <a:p>
                      <a:pPr>
                        <a:buNone/>
                      </a:pPr>
                      <a:r>
                        <a:rPr lang="en-US" dirty="0"/>
                        <a:t>Name</a:t>
                      </a:r>
                      <a:endParaRPr lang="en-US" dirty="0"/>
                    </a:p>
                  </a:txBody>
                  <a:tcPr anchor="ctr"/>
                </a:tc>
                <a:tc>
                  <a:txBody>
                    <a:bodyPr/>
                    <a:lstStyle/>
                    <a:p>
                      <a:pPr>
                        <a:buNone/>
                      </a:pPr>
                      <a:r>
                        <a:rPr lang="en-US" dirty="0"/>
                        <a:t>Dept</a:t>
                      </a:r>
                      <a:endParaRPr lang="en-US" dirty="0"/>
                    </a:p>
                  </a:txBody>
                  <a:tcPr anchor="ctr"/>
                </a:tc>
              </a:tr>
              <a:tr h="0">
                <a:tc>
                  <a:txBody>
                    <a:bodyPr/>
                    <a:lstStyle/>
                    <a:p>
                      <a:pPr>
                        <a:buNone/>
                      </a:pPr>
                      <a:r>
                        <a:rPr lang="en-US"/>
                        <a:t>101</a:t>
                      </a:r>
                      <a:endParaRPr lang="en-US"/>
                    </a:p>
                  </a:txBody>
                  <a:tcPr anchor="ctr"/>
                </a:tc>
                <a:tc>
                  <a:txBody>
                    <a:bodyPr/>
                    <a:lstStyle/>
                    <a:p>
                      <a:pPr>
                        <a:buNone/>
                      </a:pPr>
                      <a:r>
                        <a:rPr lang="en-US" dirty="0"/>
                        <a:t>Abel</a:t>
                      </a:r>
                      <a:endParaRPr lang="en-US" dirty="0"/>
                    </a:p>
                  </a:txBody>
                  <a:tcPr anchor="ctr"/>
                </a:tc>
                <a:tc>
                  <a:txBody>
                    <a:bodyPr/>
                    <a:lstStyle/>
                    <a:p>
                      <a:pPr>
                        <a:buNone/>
                      </a:pPr>
                      <a:r>
                        <a:rPr lang="en-US" dirty="0"/>
                        <a:t>CS</a:t>
                      </a:r>
                      <a:endParaRPr lang="en-US" dirty="0"/>
                    </a:p>
                  </a:txBody>
                  <a:tcPr anchor="ctr"/>
                </a:tc>
              </a:tr>
              <a:tr h="0">
                <a:tc>
                  <a:txBody>
                    <a:bodyPr/>
                    <a:lstStyle/>
                    <a:p>
                      <a:pPr>
                        <a:buNone/>
                      </a:pPr>
                      <a:r>
                        <a:rPr lang="en-US" dirty="0"/>
                        <a:t>102</a:t>
                      </a:r>
                      <a:endParaRPr lang="en-US" dirty="0"/>
                    </a:p>
                  </a:txBody>
                  <a:tcPr anchor="ctr"/>
                </a:tc>
                <a:tc>
                  <a:txBody>
                    <a:bodyPr/>
                    <a:lstStyle/>
                    <a:p>
                      <a:pPr>
                        <a:buNone/>
                      </a:pPr>
                      <a:r>
                        <a:rPr lang="en-US" dirty="0"/>
                        <a:t>Hana</a:t>
                      </a:r>
                      <a:endParaRPr lang="en-US" dirty="0"/>
                    </a:p>
                  </a:txBody>
                  <a:tcPr anchor="ctr"/>
                </a:tc>
                <a:tc>
                  <a:txBody>
                    <a:bodyPr/>
                    <a:lstStyle/>
                    <a:p>
                      <a:pPr>
                        <a:buNone/>
                      </a:pPr>
                      <a:r>
                        <a:rPr lang="en-US" dirty="0"/>
                        <a:t>IT</a:t>
                      </a:r>
                      <a:endParaRPr lang="en-US" dirty="0"/>
                    </a:p>
                  </a:txBody>
                  <a:tcPr anchor="ctr"/>
                </a:tc>
              </a:tr>
              <a:tr h="0">
                <a:tc>
                  <a:txBody>
                    <a:bodyPr/>
                    <a:lstStyle/>
                    <a:p>
                      <a:pPr>
                        <a:buNone/>
                      </a:pPr>
                      <a:r>
                        <a:rPr lang="en-US" dirty="0"/>
                        <a:t>103</a:t>
                      </a:r>
                      <a:endParaRPr lang="en-US" dirty="0"/>
                    </a:p>
                  </a:txBody>
                  <a:tcPr anchor="ctr"/>
                </a:tc>
                <a:tc>
                  <a:txBody>
                    <a:bodyPr/>
                    <a:lstStyle/>
                    <a:p>
                      <a:pPr>
                        <a:buNone/>
                      </a:pPr>
                      <a:r>
                        <a:rPr lang="en-US" dirty="0"/>
                        <a:t>Samuel</a:t>
                      </a:r>
                      <a:endParaRPr lang="en-US" dirty="0"/>
                    </a:p>
                  </a:txBody>
                  <a:tcPr anchor="ctr"/>
                </a:tc>
                <a:tc>
                  <a:txBody>
                    <a:bodyPr/>
                    <a:lstStyle/>
                    <a:p>
                      <a:pPr>
                        <a:buNone/>
                      </a:pPr>
                      <a:r>
                        <a:rPr lang="en-US" dirty="0"/>
                        <a:t>CS</a:t>
                      </a:r>
                      <a:endParaRPr lang="en-US" dirty="0"/>
                    </a:p>
                  </a:txBody>
                  <a:tcPr anchor="ctr"/>
                </a:tc>
              </a:tr>
            </a:tbl>
          </a:graphicData>
        </a:graphic>
      </p:graphicFrame>
      <p:graphicFrame>
        <p:nvGraphicFramePr>
          <p:cNvPr id="4" name="Table 3"/>
          <p:cNvGraphicFramePr>
            <a:graphicFrameLocks noGrp="1"/>
          </p:cNvGraphicFramePr>
          <p:nvPr/>
        </p:nvGraphicFramePr>
        <p:xfrm>
          <a:off x="3196240" y="5258752"/>
          <a:ext cx="1860273" cy="1097280"/>
        </p:xfrm>
        <a:graphic>
          <a:graphicData uri="http://schemas.openxmlformats.org/drawingml/2006/table">
            <a:tbl>
              <a:tblPr>
                <a:tableStyleId>{BDBED569-4797-4DF1-A0F4-6AAB3CD982D8}</a:tableStyleId>
              </a:tblPr>
              <a:tblGrid>
                <a:gridCol w="686689"/>
                <a:gridCol w="1173584"/>
              </a:tblGrid>
              <a:tr h="0">
                <a:tc>
                  <a:txBody>
                    <a:bodyPr/>
                    <a:lstStyle/>
                    <a:p>
                      <a:pPr>
                        <a:buNone/>
                      </a:pPr>
                      <a:r>
                        <a:rPr lang="en-US" dirty="0"/>
                        <a:t>Dept</a:t>
                      </a:r>
                      <a:endParaRPr lang="en-US" dirty="0"/>
                    </a:p>
                  </a:txBody>
                  <a:tcPr anchor="ctr"/>
                </a:tc>
                <a:tc>
                  <a:txBody>
                    <a:bodyPr/>
                    <a:lstStyle/>
                    <a:p>
                      <a:pPr>
                        <a:buNone/>
                      </a:pPr>
                      <a:r>
                        <a:rPr lang="en-US" dirty="0"/>
                        <a:t>HOD</a:t>
                      </a:r>
                      <a:endParaRPr lang="en-US" dirty="0"/>
                    </a:p>
                  </a:txBody>
                  <a:tcPr anchor="ctr"/>
                </a:tc>
              </a:tr>
              <a:tr h="0">
                <a:tc>
                  <a:txBody>
                    <a:bodyPr/>
                    <a:lstStyle/>
                    <a:p>
                      <a:pPr>
                        <a:buNone/>
                      </a:pPr>
                      <a:r>
                        <a:rPr lang="en-US" dirty="0"/>
                        <a:t>CS</a:t>
                      </a:r>
                      <a:endParaRPr lang="en-US" dirty="0"/>
                    </a:p>
                  </a:txBody>
                  <a:tcPr anchor="ctr"/>
                </a:tc>
                <a:tc>
                  <a:txBody>
                    <a:bodyPr/>
                    <a:lstStyle/>
                    <a:p>
                      <a:pPr>
                        <a:buNone/>
                      </a:pPr>
                      <a:r>
                        <a:rPr lang="en-US" dirty="0"/>
                        <a:t>Dr. John</a:t>
                      </a:r>
                      <a:endParaRPr lang="en-US" dirty="0"/>
                    </a:p>
                  </a:txBody>
                  <a:tcPr anchor="ctr"/>
                </a:tc>
              </a:tr>
              <a:tr h="0">
                <a:tc>
                  <a:txBody>
                    <a:bodyPr/>
                    <a:lstStyle/>
                    <a:p>
                      <a:pPr>
                        <a:buNone/>
                      </a:pPr>
                      <a:r>
                        <a:rPr lang="en-US" dirty="0"/>
                        <a:t>IT</a:t>
                      </a:r>
                      <a:endParaRPr lang="en-US" dirty="0"/>
                    </a:p>
                  </a:txBody>
                  <a:tcPr anchor="ctr"/>
                </a:tc>
                <a:tc>
                  <a:txBody>
                    <a:bodyPr/>
                    <a:lstStyle/>
                    <a:p>
                      <a:pPr>
                        <a:buNone/>
                      </a:pPr>
                      <a:r>
                        <a:rPr lang="en-US" dirty="0"/>
                        <a:t>Dr. Mary</a:t>
                      </a:r>
                      <a:endParaRPr lang="en-US" dirty="0"/>
                    </a:p>
                  </a:txBody>
                  <a:tcPr anchor="ctr"/>
                </a:tc>
              </a:tr>
            </a:tbl>
          </a:graphicData>
        </a:graphic>
      </p:graphicFrame>
      <p:graphicFrame>
        <p:nvGraphicFramePr>
          <p:cNvPr id="6" name="Table 5"/>
          <p:cNvGraphicFramePr>
            <a:graphicFrameLocks noGrp="1"/>
          </p:cNvGraphicFramePr>
          <p:nvPr/>
        </p:nvGraphicFramePr>
        <p:xfrm>
          <a:off x="5359623" y="4779923"/>
          <a:ext cx="3737012" cy="1930897"/>
        </p:xfrm>
        <a:graphic>
          <a:graphicData uri="http://schemas.openxmlformats.org/drawingml/2006/table">
            <a:tbl>
              <a:tblPr>
                <a:tableStyleId>{BDBED569-4797-4DF1-A0F4-6AAB3CD982D8}</a:tableStyleId>
              </a:tblPr>
              <a:tblGrid>
                <a:gridCol w="849630"/>
                <a:gridCol w="919480"/>
                <a:gridCol w="686689"/>
                <a:gridCol w="1281213"/>
              </a:tblGrid>
              <a:tr h="457969">
                <a:tc>
                  <a:txBody>
                    <a:bodyPr/>
                    <a:lstStyle/>
                    <a:p>
                      <a:pPr>
                        <a:buNone/>
                      </a:pPr>
                      <a:r>
                        <a:rPr lang="en-US" dirty="0"/>
                        <a:t>Stu_ID</a:t>
                      </a:r>
                      <a:endParaRPr lang="en-US" dirty="0"/>
                    </a:p>
                  </a:txBody>
                  <a:tcPr anchor="ctr"/>
                </a:tc>
                <a:tc>
                  <a:txBody>
                    <a:bodyPr/>
                    <a:lstStyle/>
                    <a:p>
                      <a:pPr>
                        <a:buNone/>
                      </a:pPr>
                      <a:r>
                        <a:rPr lang="en-US" dirty="0"/>
                        <a:t>Name</a:t>
                      </a:r>
                      <a:endParaRPr lang="en-US" dirty="0"/>
                    </a:p>
                  </a:txBody>
                  <a:tcPr anchor="ctr"/>
                </a:tc>
                <a:tc>
                  <a:txBody>
                    <a:bodyPr/>
                    <a:lstStyle/>
                    <a:p>
                      <a:pPr>
                        <a:buNone/>
                      </a:pPr>
                      <a:r>
                        <a:rPr lang="en-US"/>
                        <a:t>Dept</a:t>
                      </a:r>
                      <a:endParaRPr lang="en-US"/>
                    </a:p>
                  </a:txBody>
                  <a:tcPr anchor="ctr"/>
                </a:tc>
                <a:tc>
                  <a:txBody>
                    <a:bodyPr/>
                    <a:lstStyle/>
                    <a:p>
                      <a:pPr>
                        <a:buNone/>
                      </a:pPr>
                      <a:r>
                        <a:rPr lang="en-US"/>
                        <a:t>HOD</a:t>
                      </a:r>
                      <a:endParaRPr lang="en-US"/>
                    </a:p>
                  </a:txBody>
                  <a:tcPr anchor="ctr"/>
                </a:tc>
              </a:tr>
              <a:tr h="469711">
                <a:tc>
                  <a:txBody>
                    <a:bodyPr/>
                    <a:lstStyle/>
                    <a:p>
                      <a:pPr>
                        <a:buNone/>
                      </a:pPr>
                      <a:r>
                        <a:rPr lang="en-US"/>
                        <a:t>101</a:t>
                      </a:r>
                      <a:endParaRPr lang="en-US"/>
                    </a:p>
                  </a:txBody>
                  <a:tcPr anchor="ctr"/>
                </a:tc>
                <a:tc>
                  <a:txBody>
                    <a:bodyPr/>
                    <a:lstStyle/>
                    <a:p>
                      <a:pPr>
                        <a:buNone/>
                      </a:pPr>
                      <a:r>
                        <a:rPr lang="en-US" dirty="0"/>
                        <a:t>Abel</a:t>
                      </a:r>
                      <a:endParaRPr lang="en-US" dirty="0"/>
                    </a:p>
                  </a:txBody>
                  <a:tcPr anchor="ctr"/>
                </a:tc>
                <a:tc>
                  <a:txBody>
                    <a:bodyPr/>
                    <a:lstStyle/>
                    <a:p>
                      <a:pPr>
                        <a:buNone/>
                      </a:pPr>
                      <a:r>
                        <a:rPr lang="en-US" dirty="0"/>
                        <a:t>CS</a:t>
                      </a:r>
                      <a:endParaRPr lang="en-US" dirty="0"/>
                    </a:p>
                  </a:txBody>
                  <a:tcPr anchor="ctr"/>
                </a:tc>
                <a:tc>
                  <a:txBody>
                    <a:bodyPr/>
                    <a:lstStyle/>
                    <a:p>
                      <a:pPr>
                        <a:buNone/>
                      </a:pPr>
                      <a:r>
                        <a:rPr lang="en-US" dirty="0"/>
                        <a:t>Dr. John</a:t>
                      </a:r>
                      <a:endParaRPr lang="en-US" dirty="0"/>
                    </a:p>
                  </a:txBody>
                  <a:tcPr anchor="ctr"/>
                </a:tc>
              </a:tr>
              <a:tr h="408778">
                <a:tc>
                  <a:txBody>
                    <a:bodyPr/>
                    <a:lstStyle/>
                    <a:p>
                      <a:pPr>
                        <a:buNone/>
                      </a:pPr>
                      <a:r>
                        <a:rPr lang="en-US"/>
                        <a:t>102</a:t>
                      </a:r>
                      <a:endParaRPr lang="en-US"/>
                    </a:p>
                  </a:txBody>
                  <a:tcPr anchor="ctr"/>
                </a:tc>
                <a:tc>
                  <a:txBody>
                    <a:bodyPr/>
                    <a:lstStyle/>
                    <a:p>
                      <a:pPr>
                        <a:buNone/>
                      </a:pPr>
                      <a:r>
                        <a:rPr lang="en-US" dirty="0"/>
                        <a:t>Hana</a:t>
                      </a:r>
                      <a:endParaRPr lang="en-US" dirty="0"/>
                    </a:p>
                  </a:txBody>
                  <a:tcPr anchor="ctr"/>
                </a:tc>
                <a:tc>
                  <a:txBody>
                    <a:bodyPr/>
                    <a:lstStyle/>
                    <a:p>
                      <a:pPr>
                        <a:buNone/>
                      </a:pPr>
                      <a:r>
                        <a:rPr lang="en-US" dirty="0"/>
                        <a:t>IT</a:t>
                      </a:r>
                      <a:endParaRPr lang="en-US" dirty="0"/>
                    </a:p>
                  </a:txBody>
                  <a:tcPr anchor="ctr"/>
                </a:tc>
                <a:tc>
                  <a:txBody>
                    <a:bodyPr/>
                    <a:lstStyle/>
                    <a:p>
                      <a:pPr>
                        <a:buNone/>
                      </a:pPr>
                      <a:r>
                        <a:rPr lang="en-US" dirty="0"/>
                        <a:t>Dr. Mary</a:t>
                      </a:r>
                      <a:endParaRPr lang="en-US" dirty="0"/>
                    </a:p>
                  </a:txBody>
                  <a:tcPr anchor="ctr"/>
                </a:tc>
              </a:tr>
              <a:tr h="594439">
                <a:tc>
                  <a:txBody>
                    <a:bodyPr/>
                    <a:lstStyle/>
                    <a:p>
                      <a:pPr>
                        <a:buNone/>
                      </a:pPr>
                      <a:r>
                        <a:rPr lang="en-US" dirty="0"/>
                        <a:t>103</a:t>
                      </a:r>
                      <a:endParaRPr lang="en-US" dirty="0"/>
                    </a:p>
                  </a:txBody>
                  <a:tcPr anchor="ctr"/>
                </a:tc>
                <a:tc>
                  <a:txBody>
                    <a:bodyPr/>
                    <a:lstStyle/>
                    <a:p>
                      <a:pPr>
                        <a:buNone/>
                      </a:pPr>
                      <a:r>
                        <a:rPr lang="en-US" dirty="0"/>
                        <a:t>Samuel</a:t>
                      </a:r>
                      <a:endParaRPr lang="en-US" dirty="0"/>
                    </a:p>
                  </a:txBody>
                  <a:tcPr anchor="ctr"/>
                </a:tc>
                <a:tc>
                  <a:txBody>
                    <a:bodyPr/>
                    <a:lstStyle/>
                    <a:p>
                      <a:pPr>
                        <a:buNone/>
                      </a:pPr>
                      <a:r>
                        <a:rPr lang="en-US" dirty="0"/>
                        <a:t>CS</a:t>
                      </a:r>
                      <a:endParaRPr lang="en-US" dirty="0"/>
                    </a:p>
                  </a:txBody>
                  <a:tcPr anchor="ctr"/>
                </a:tc>
                <a:tc>
                  <a:txBody>
                    <a:bodyPr/>
                    <a:lstStyle/>
                    <a:p>
                      <a:pPr>
                        <a:buNone/>
                      </a:pPr>
                      <a:r>
                        <a:rPr lang="en-US" dirty="0"/>
                        <a:t>Dr. John</a:t>
                      </a:r>
                      <a:endParaRPr lang="en-US" dirty="0"/>
                    </a:p>
                  </a:txBody>
                  <a:tcPr anchor="ctr"/>
                </a:tc>
              </a:tr>
            </a:tbl>
          </a:graphicData>
        </a:graphic>
      </p:graphicFrame>
      <p:sp>
        <p:nvSpPr>
          <p:cNvPr id="11" name="TextBox 10"/>
          <p:cNvSpPr txBox="1"/>
          <p:nvPr/>
        </p:nvSpPr>
        <p:spPr>
          <a:xfrm rot="18181739">
            <a:off x="8635204" y="3823757"/>
            <a:ext cx="4164575" cy="1477328"/>
          </a:xfrm>
          <a:prstGeom prst="rect">
            <a:avLst/>
          </a:prstGeom>
          <a:noFill/>
        </p:spPr>
        <p:txBody>
          <a:bodyPr wrap="square">
            <a:spAutoFit/>
          </a:bodyPr>
          <a:lstStyle/>
          <a:p>
            <a:r>
              <a:rPr lang="en-US" b="1" dirty="0"/>
              <a:t>SQL Equivalent:</a:t>
            </a:r>
            <a:endParaRPr lang="en-US" dirty="0"/>
          </a:p>
          <a:p>
            <a:r>
              <a:rPr lang="en-US" dirty="0"/>
              <a:t>SELECT * </a:t>
            </a:r>
            <a:endParaRPr lang="en-US" dirty="0"/>
          </a:p>
          <a:p>
            <a:r>
              <a:rPr lang="en-US" dirty="0"/>
              <a:t>FROM Student </a:t>
            </a:r>
            <a:endParaRPr lang="en-US" dirty="0"/>
          </a:p>
          <a:p>
            <a:r>
              <a:rPr lang="en-US" dirty="0"/>
              <a:t>JOIN Department </a:t>
            </a:r>
            <a:endParaRPr lang="en-US" dirty="0"/>
          </a:p>
          <a:p>
            <a:r>
              <a:rPr lang="en-US" dirty="0"/>
              <a:t>ON </a:t>
            </a:r>
            <a:r>
              <a:rPr lang="en-US" sz="1600" dirty="0" err="1"/>
              <a:t>Student.Dept</a:t>
            </a:r>
            <a:r>
              <a:rPr lang="en-US" sz="1600" dirty="0"/>
              <a:t> = </a:t>
            </a:r>
            <a:r>
              <a:rPr lang="en-US" sz="1600" dirty="0" err="1"/>
              <a:t>Department.Dept</a:t>
            </a:r>
            <a:r>
              <a:rPr lang="en-US" dirty="0"/>
              <a:t>;</a:t>
            </a:r>
            <a:endParaRPr lang="en-US" dirty="0"/>
          </a:p>
        </p:txBody>
      </p:sp>
    </p:spTree>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18511" y="147180"/>
            <a:ext cx="8676005" cy="583565"/>
          </a:xfrm>
          <a:prstGeom prst="rect">
            <a:avLst/>
          </a:prstGeom>
          <a:noFill/>
        </p:spPr>
        <p:txBody>
          <a:bodyPr wrap="none" lIns="91440" tIns="45720" rIns="91440" bIns="45720">
            <a:spAutoFit/>
          </a:bodyPr>
          <a:lstStyle/>
          <a:p>
            <a:pPr algn="ctr"/>
            <a:r>
              <a:rPr lang="en-US" sz="3200" b="1" dirty="0">
                <a:solidFill>
                  <a:srgbClr val="FF0000"/>
                </a:solidFill>
                <a:latin typeface="Times New Roman" panose="02020603050405020304" pitchFamily="18" charset="0"/>
                <a:cs typeface="Times New Roman" panose="02020603050405020304" pitchFamily="18" charset="0"/>
              </a:rPr>
              <a:t>Translating SQL Queries into Relational Algebra</a:t>
            </a:r>
            <a:endParaRPr lang="en-US" sz="3200" b="1" dirty="0">
              <a:solidFill>
                <a:srgbClr val="FF0000"/>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7500" y="85891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2200" y="85890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13" name="Rectangle 12"/>
              <p:cNvSpPr/>
              <p:nvPr/>
            </p:nvSpPr>
            <p:spPr>
              <a:xfrm>
                <a:off x="838199" y="1052830"/>
                <a:ext cx="11073765" cy="5303520"/>
              </a:xfrm>
              <a:prstGeom prst="rect">
                <a:avLst/>
              </a:prstGeom>
            </p:spPr>
            <p:txBody>
              <a:bodyPr wrap="square">
                <a:noAutofit/>
              </a:bodyPr>
              <a:lstStyle/>
              <a:p>
                <a:pPr>
                  <a:buNone/>
                </a:pPr>
                <a:r>
                  <a:rPr lang="en-US" sz="2000" b="1" dirty="0">
                    <a:solidFill>
                      <a:srgbClr val="C00000"/>
                    </a:solidFill>
                  </a:rPr>
                  <a:t>2. Natural Join (⋈)</a:t>
                </a:r>
                <a:endParaRPr lang="en-US" sz="2000" b="1" dirty="0">
                  <a:solidFill>
                    <a:srgbClr val="C00000"/>
                  </a:solidFill>
                </a:endParaRPr>
              </a:p>
              <a:p>
                <a:pPr>
                  <a:lnSpc>
                    <a:spcPct val="150000"/>
                  </a:lnSpc>
                </a:pPr>
                <a:r>
                  <a:rPr lang="en-US" sz="2000" dirty="0"/>
                  <a:t>Automatically </a:t>
                </a:r>
                <a:r>
                  <a:rPr lang="en-US" sz="2000" b="1" dirty="0"/>
                  <a:t>matches rows using all common attributes</a:t>
                </a:r>
                <a:r>
                  <a:rPr lang="en-US" sz="2000" dirty="0"/>
                  <a:t>.</a:t>
                </a:r>
                <a:endParaRPr lang="en-US" sz="2000" dirty="0"/>
              </a:p>
              <a:p>
                <a:pPr>
                  <a:lnSpc>
                    <a:spcPct val="150000"/>
                  </a:lnSpc>
                </a:pPr>
                <a:r>
                  <a:rPr lang="en-US" sz="2000" b="1" dirty="0"/>
                  <a:t>Duplicate columns are merged</a:t>
                </a:r>
                <a:r>
                  <a:rPr lang="en-US" sz="2000" dirty="0"/>
                  <a:t>.</a:t>
                </a:r>
                <a:endParaRPr lang="en-US" sz="2000" dirty="0"/>
              </a:p>
              <a:p>
                <a:pPr>
                  <a:lnSpc>
                    <a:spcPct val="150000"/>
                  </a:lnSpc>
                  <a:buNone/>
                </a:pPr>
                <a:r>
                  <a:rPr lang="en-US" sz="2000" b="1" dirty="0"/>
                  <a:t>Example: </a:t>
                </a:r>
                <a14:m>
                  <m:oMath xmlns:m="http://schemas.openxmlformats.org/officeDocument/2006/math">
                    <m:r>
                      <a:rPr lang="en-US" sz="2000" i="1">
                        <a:latin typeface="Cambria Math" panose="02040503050406030204" pitchFamily="18" charset="0"/>
                      </a:rPr>
                      <m:t>𝑆𝑡𝑢𝑑𝑒𝑛𝑡</m:t>
                    </m:r>
                    <m:r>
                      <a:rPr lang="en-US" sz="2000" i="0">
                        <a:latin typeface="Cambria Math" panose="02040503050406030204" pitchFamily="18" charset="0"/>
                      </a:rPr>
                      <m:t>⋈</m:t>
                    </m:r>
                    <m:r>
                      <a:rPr lang="en-US" sz="2000" i="1">
                        <a:latin typeface="Cambria Math" panose="02040503050406030204" pitchFamily="18" charset="0"/>
                      </a:rPr>
                      <m:t>𝐷𝑒𝑝𝑎𝑟𝑡𝑚𝑒𝑛𝑡</m:t>
                    </m:r>
                  </m:oMath>
                </a14:m>
                <a:endParaRPr lang="en-US" sz="2000" dirty="0"/>
              </a:p>
              <a:p>
                <a:pPr>
                  <a:lnSpc>
                    <a:spcPct val="150000"/>
                  </a:lnSpc>
                  <a:buNone/>
                </a:pPr>
                <a:r>
                  <a:rPr lang="en-US" sz="2000" dirty="0"/>
                  <a:t>✔ Works only if both relations have a </a:t>
                </a:r>
                <a:r>
                  <a:rPr lang="en-US" sz="2000" b="1" dirty="0"/>
                  <a:t>common column with the same name</a:t>
                </a:r>
                <a:r>
                  <a:rPr lang="en-US" sz="2000" dirty="0"/>
                  <a:t> (like Dept).</a:t>
                </a:r>
                <a:br>
                  <a:rPr lang="en-US" sz="2000" dirty="0"/>
                </a:br>
                <a:r>
                  <a:rPr lang="en-US" sz="2000" dirty="0"/>
                  <a:t>✔ Equivalent to </a:t>
                </a:r>
                <a:r>
                  <a:rPr lang="en-US" sz="2000" b="1" dirty="0"/>
                  <a:t>Equi Join + Remove duplicate column</a:t>
                </a:r>
                <a:r>
                  <a:rPr lang="en-US" sz="2000" dirty="0"/>
                  <a:t>.</a:t>
                </a:r>
                <a:endParaRPr lang="en-US" sz="2000" dirty="0"/>
              </a:p>
              <a:p>
                <a:pPr>
                  <a:lnSpc>
                    <a:spcPct val="150000"/>
                  </a:lnSpc>
                  <a:buNone/>
                </a:pPr>
                <a:r>
                  <a:rPr lang="en-US" sz="24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Outer Joins (</a:t>
                </a:r>
                <a:r>
                  <a:rPr lang="en-US" sz="24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Preserve Unmatched</a:t>
                </a:r>
                <a:r>
                  <a:rPr lang="en-US" sz="2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Rows</a:t>
                </a:r>
                <a:r>
                  <a:rPr lang="en-US" sz="2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sz="2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buNone/>
                </a:pPr>
                <a:endParaRPr lang="en-US" sz="20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mc:Choice>
        <mc:Fallback>
          <p:sp>
            <p:nvSpPr>
              <p:cNvPr id="13" name="Rectangle 12"/>
              <p:cNvSpPr>
                <a:spLocks noRot="1" noChangeAspect="1" noMove="1" noResize="1" noEditPoints="1" noAdjustHandles="1" noChangeArrowheads="1" noChangeShapeType="1" noTextEdit="1"/>
              </p:cNvSpPr>
              <p:nvPr/>
            </p:nvSpPr>
            <p:spPr>
              <a:xfrm>
                <a:off x="838199" y="1052830"/>
                <a:ext cx="11073765" cy="5303520"/>
              </a:xfrm>
              <a:prstGeom prst="rect">
                <a:avLst/>
              </a:prstGeom>
              <a:blipFill rotWithShape="1">
                <a:blip r:embed="rId1"/>
                <a:stretch>
                  <a:fillRect l="-6" r="6"/>
                </a:stretch>
              </a:blipFill>
            </p:spPr>
            <p:txBody>
              <a:bodyPr/>
              <a:lstStyle/>
              <a:p>
                <a:r>
                  <a:rPr lang="en-GB" altLang="en-US">
                    <a:noFill/>
                  </a:rPr>
                  <a:t> </a:t>
                </a:r>
              </a:p>
            </p:txBody>
          </p:sp>
        </mc:Fallback>
      </mc:AlternateContent>
      <p:graphicFrame>
        <p:nvGraphicFramePr>
          <p:cNvPr id="4" name="Table 3"/>
          <p:cNvGraphicFramePr>
            <a:graphicFrameLocks noGrp="1"/>
          </p:cNvGraphicFramePr>
          <p:nvPr/>
        </p:nvGraphicFramePr>
        <p:xfrm>
          <a:off x="715617" y="4456360"/>
          <a:ext cx="8856600" cy="2011680"/>
        </p:xfrm>
        <a:graphic>
          <a:graphicData uri="http://schemas.openxmlformats.org/drawingml/2006/table">
            <a:tbl>
              <a:tblPr>
                <a:tableStyleId>{0505E3EF-67EA-436B-97B2-0124C06EBD24}</a:tableStyleId>
              </a:tblPr>
              <a:tblGrid>
                <a:gridCol w="1581157"/>
                <a:gridCol w="1272209"/>
                <a:gridCol w="2067339"/>
                <a:gridCol w="3935895"/>
              </a:tblGrid>
              <a:tr h="0">
                <a:tc>
                  <a:txBody>
                    <a:bodyPr/>
                    <a:lstStyle/>
                    <a:p>
                      <a:pPr>
                        <a:buNone/>
                      </a:pPr>
                      <a:r>
                        <a:rPr lang="en-US" dirty="0">
                          <a:solidFill>
                            <a:srgbClr val="C00000"/>
                          </a:solidFill>
                          <a:latin typeface="Times New Roman" panose="02020603050405020304" pitchFamily="18" charset="0"/>
                          <a:cs typeface="Times New Roman" panose="02020603050405020304" pitchFamily="18" charset="0"/>
                        </a:rPr>
                        <a:t>Type</a:t>
                      </a:r>
                      <a:endParaRPr lang="en-US" dirty="0">
                        <a:solidFill>
                          <a:srgbClr val="C00000"/>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a:solidFill>
                            <a:srgbClr val="C00000"/>
                          </a:solidFill>
                          <a:latin typeface="Times New Roman" panose="02020603050405020304" pitchFamily="18" charset="0"/>
                          <a:cs typeface="Times New Roman" panose="02020603050405020304" pitchFamily="18" charset="0"/>
                        </a:rPr>
                        <a:t>Symbol</a:t>
                      </a:r>
                      <a:endParaRPr lang="en-US">
                        <a:solidFill>
                          <a:srgbClr val="C00000"/>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a:solidFill>
                            <a:srgbClr val="C00000"/>
                          </a:solidFill>
                          <a:latin typeface="Times New Roman" panose="02020603050405020304" pitchFamily="18" charset="0"/>
                          <a:cs typeface="Times New Roman" panose="02020603050405020304" pitchFamily="18" charset="0"/>
                        </a:rPr>
                        <a:t>SQL</a:t>
                      </a:r>
                      <a:endParaRPr lang="en-US">
                        <a:solidFill>
                          <a:srgbClr val="C00000"/>
                        </a:solidFill>
                        <a:latin typeface="Times New Roman" panose="02020603050405020304" pitchFamily="18" charset="0"/>
                        <a:cs typeface="Times New Roman" panose="02020603050405020304" pitchFamily="18" charset="0"/>
                      </a:endParaRPr>
                    </a:p>
                  </a:txBody>
                  <a:tcPr anchor="ctr"/>
                </a:tc>
                <a:tc>
                  <a:txBody>
                    <a:bodyPr/>
                    <a:lstStyle/>
                    <a:p>
                      <a:pPr>
                        <a:buNone/>
                      </a:pPr>
                      <a:r>
                        <a:rPr lang="en-US" dirty="0">
                          <a:solidFill>
                            <a:srgbClr val="C00000"/>
                          </a:solidFill>
                          <a:latin typeface="Times New Roman" panose="02020603050405020304" pitchFamily="18" charset="0"/>
                          <a:cs typeface="Times New Roman" panose="02020603050405020304" pitchFamily="18" charset="0"/>
                        </a:rPr>
                        <a:t>Meaning</a:t>
                      </a:r>
                      <a:endParaRPr lang="en-US" dirty="0">
                        <a:solidFill>
                          <a:srgbClr val="C00000"/>
                        </a:solidFill>
                        <a:latin typeface="Times New Roman" panose="02020603050405020304" pitchFamily="18" charset="0"/>
                        <a:cs typeface="Times New Roman" panose="02020603050405020304" pitchFamily="18" charset="0"/>
                      </a:endParaRPr>
                    </a:p>
                  </a:txBody>
                  <a:tcPr anchor="ctr"/>
                </a:tc>
              </a:tr>
              <a:tr h="0">
                <a:tc>
                  <a:txBody>
                    <a:bodyPr/>
                    <a:lstStyle/>
                    <a:p>
                      <a:pPr>
                        <a:buNone/>
                      </a:pPr>
                      <a:r>
                        <a:rPr lang="en-US" b="1" dirty="0"/>
                        <a:t>Left Outer Join</a:t>
                      </a:r>
                      <a:endParaRPr lang="en-US" dirty="0"/>
                    </a:p>
                  </a:txBody>
                  <a:tcPr anchor="ctr"/>
                </a:tc>
                <a:tc>
                  <a:txBody>
                    <a:bodyPr/>
                    <a:lstStyle/>
                    <a:p>
                      <a:pPr>
                        <a:buNone/>
                      </a:pPr>
                      <a:r>
                        <a:rPr lang="en-US" dirty="0"/>
                        <a:t>R ⟕ S</a:t>
                      </a:r>
                      <a:endParaRPr lang="en-US" dirty="0"/>
                    </a:p>
                  </a:txBody>
                  <a:tcPr anchor="ctr"/>
                </a:tc>
                <a:tc>
                  <a:txBody>
                    <a:bodyPr/>
                    <a:lstStyle/>
                    <a:p>
                      <a:pPr>
                        <a:buNone/>
                      </a:pPr>
                      <a:r>
                        <a:rPr lang="en-US"/>
                        <a:t>LEFT JOIN</a:t>
                      </a:r>
                      <a:endParaRPr lang="en-US"/>
                    </a:p>
                  </a:txBody>
                  <a:tcPr anchor="ctr"/>
                </a:tc>
                <a:tc>
                  <a:txBody>
                    <a:bodyPr/>
                    <a:lstStyle/>
                    <a:p>
                      <a:pPr>
                        <a:buNone/>
                      </a:pPr>
                      <a:r>
                        <a:rPr lang="en-US"/>
                        <a:t>Keep all rows from Left (R), even if no match</a:t>
                      </a:r>
                      <a:endParaRPr lang="en-US"/>
                    </a:p>
                  </a:txBody>
                  <a:tcPr anchor="ctr"/>
                </a:tc>
              </a:tr>
              <a:tr h="0">
                <a:tc>
                  <a:txBody>
                    <a:bodyPr/>
                    <a:lstStyle/>
                    <a:p>
                      <a:pPr>
                        <a:buNone/>
                      </a:pPr>
                      <a:r>
                        <a:rPr lang="en-US" b="1" dirty="0"/>
                        <a:t>Right Outer Join</a:t>
                      </a:r>
                      <a:endParaRPr lang="en-US" dirty="0"/>
                    </a:p>
                  </a:txBody>
                  <a:tcPr anchor="ctr"/>
                </a:tc>
                <a:tc>
                  <a:txBody>
                    <a:bodyPr/>
                    <a:lstStyle/>
                    <a:p>
                      <a:pPr>
                        <a:buNone/>
                      </a:pPr>
                      <a:r>
                        <a:rPr lang="en-US"/>
                        <a:t>R ⟖ S</a:t>
                      </a:r>
                      <a:endParaRPr lang="en-US"/>
                    </a:p>
                  </a:txBody>
                  <a:tcPr anchor="ctr"/>
                </a:tc>
                <a:tc>
                  <a:txBody>
                    <a:bodyPr/>
                    <a:lstStyle/>
                    <a:p>
                      <a:pPr>
                        <a:buNone/>
                      </a:pPr>
                      <a:r>
                        <a:rPr lang="en-US"/>
                        <a:t>RIGHT JOIN</a:t>
                      </a:r>
                      <a:endParaRPr lang="en-US"/>
                    </a:p>
                  </a:txBody>
                  <a:tcPr anchor="ctr"/>
                </a:tc>
                <a:tc>
                  <a:txBody>
                    <a:bodyPr/>
                    <a:lstStyle/>
                    <a:p>
                      <a:pPr>
                        <a:buNone/>
                      </a:pPr>
                      <a:r>
                        <a:rPr lang="en-US"/>
                        <a:t>Keep all rows from Right (S)</a:t>
                      </a:r>
                      <a:endParaRPr lang="en-US"/>
                    </a:p>
                  </a:txBody>
                  <a:tcPr anchor="ctr"/>
                </a:tc>
              </a:tr>
              <a:tr h="0">
                <a:tc>
                  <a:txBody>
                    <a:bodyPr/>
                    <a:lstStyle/>
                    <a:p>
                      <a:pPr>
                        <a:buNone/>
                      </a:pPr>
                      <a:r>
                        <a:rPr lang="en-US" b="1" dirty="0"/>
                        <a:t>Full Outer Join</a:t>
                      </a:r>
                      <a:endParaRPr lang="en-US" dirty="0"/>
                    </a:p>
                  </a:txBody>
                  <a:tcPr anchor="ctr"/>
                </a:tc>
                <a:tc>
                  <a:txBody>
                    <a:bodyPr/>
                    <a:lstStyle/>
                    <a:p>
                      <a:pPr>
                        <a:buNone/>
                      </a:pPr>
                      <a:r>
                        <a:rPr lang="en-US" dirty="0"/>
                        <a:t>R ⟗ S</a:t>
                      </a:r>
                      <a:endParaRPr lang="en-US" dirty="0"/>
                    </a:p>
                  </a:txBody>
                  <a:tcPr anchor="ctr"/>
                </a:tc>
                <a:tc>
                  <a:txBody>
                    <a:bodyPr/>
                    <a:lstStyle/>
                    <a:p>
                      <a:pPr>
                        <a:buNone/>
                      </a:pPr>
                      <a:r>
                        <a:rPr lang="en-US" dirty="0"/>
                        <a:t>FULL JOIN</a:t>
                      </a:r>
                      <a:endParaRPr lang="en-US" dirty="0"/>
                    </a:p>
                  </a:txBody>
                  <a:tcPr anchor="ctr"/>
                </a:tc>
                <a:tc>
                  <a:txBody>
                    <a:bodyPr/>
                    <a:lstStyle/>
                    <a:p>
                      <a:pPr>
                        <a:buNone/>
                      </a:pPr>
                      <a:r>
                        <a:rPr lang="en-US" dirty="0"/>
                        <a:t>Keep all rows from both sides</a:t>
                      </a:r>
                      <a:endParaRPr lang="en-US" dirty="0"/>
                    </a:p>
                  </a:txBody>
                  <a:tcPr anchor="ctr"/>
                </a:tc>
              </a:tr>
            </a:tbl>
          </a:graphicData>
        </a:graphic>
      </p:graphicFrame>
    </p:spTree>
  </p:cSld>
  <p:clrMapOvr>
    <a:masterClrMapping/>
  </p:clrMapOvr>
  <p:transition spd="slow">
    <p:cove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4475" y="100097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34430" y="100088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573405" y="1230630"/>
            <a:ext cx="11044555" cy="512572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algn="l">
              <a:buClr>
                <a:srgbClr val="44546A"/>
              </a:buClr>
              <a:buFont typeface="Wingdings" panose="05000000000000000000" charset="0"/>
            </a:pPr>
            <a:r>
              <a:rPr lang="en-US" sz="2400" b="1" dirty="0">
                <a:solidFill>
                  <a:srgbClr val="002060"/>
                </a:solidFill>
                <a:latin typeface="Times New Roman" panose="02020603050405020304" pitchFamily="18" charset="0"/>
                <a:ea typeface="Adobe Kaiti Std R" panose="02020400000000000000" pitchFamily="18" charset="-128"/>
                <a:cs typeface="Times New Roman" panose="02020603050405020304" pitchFamily="18" charset="0"/>
                <a:sym typeface="+mn-ea"/>
              </a:rPr>
              <a:t>Query Processing </a:t>
            </a:r>
            <a:r>
              <a:rPr lang="en-US" sz="2400" dirty="0">
                <a:latin typeface="Times New Roman" panose="02020603050405020304" pitchFamily="18" charset="0"/>
                <a:cs typeface="Times New Roman" panose="02020603050405020304" pitchFamily="18" charset="0"/>
                <a:sym typeface="+mn-ea"/>
              </a:rPr>
              <a:t> is the process of translating a high-level query, such as SQL, into a low-level query that can be executed by the</a:t>
            </a:r>
            <a:r>
              <a:rPr lang="en-US" sz="2400" dirty="0">
                <a:solidFill>
                  <a:srgbClr val="FF0000"/>
                </a:solidFill>
                <a:latin typeface="Times New Roman" panose="02020603050405020304" pitchFamily="18" charset="0"/>
                <a:cs typeface="Times New Roman" panose="02020603050405020304" pitchFamily="18" charset="0"/>
                <a:sym typeface="+mn-ea"/>
              </a:rPr>
              <a:t> database system.</a:t>
            </a:r>
            <a:r>
              <a:rPr lang="en-US" sz="2400" dirty="0">
                <a:latin typeface="Times New Roman" panose="02020603050405020304" pitchFamily="18" charset="0"/>
                <a:cs typeface="Times New Roman" panose="02020603050405020304" pitchFamily="18" charset="0"/>
                <a:sym typeface="+mn-ea"/>
              </a:rPr>
              <a:t> </a:t>
            </a:r>
            <a:endParaRPr lang="en-US" sz="240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50000"/>
              </a:lnSpc>
              <a:buClr>
                <a:srgbClr val="44546A"/>
              </a:buClr>
              <a:buFont typeface="Wingdings" panose="05000000000000000000" charset="0"/>
              <a:buChar char="ü"/>
            </a:pPr>
            <a:r>
              <a:rPr lang="en-US" sz="2400" dirty="0">
                <a:latin typeface="Times New Roman" panose="02020603050405020304" pitchFamily="18" charset="0"/>
                <a:cs typeface="Times New Roman" panose="02020603050405020304" pitchFamily="18" charset="0"/>
                <a:sym typeface="+mn-ea"/>
              </a:rPr>
              <a:t>This involves </a:t>
            </a:r>
            <a:r>
              <a:rPr lang="en-US" sz="2400" dirty="0">
                <a:solidFill>
                  <a:srgbClr val="C00000"/>
                </a:solidFill>
                <a:latin typeface="Times New Roman" panose="02020603050405020304" pitchFamily="18" charset="0"/>
                <a:cs typeface="Times New Roman" panose="02020603050405020304" pitchFamily="18" charset="0"/>
                <a:sym typeface="+mn-ea"/>
              </a:rPr>
              <a:t>parsing, validating, and optimizing the query</a:t>
            </a:r>
            <a:r>
              <a:rPr lang="en-US" sz="2400" dirty="0">
                <a:latin typeface="Times New Roman" panose="02020603050405020304" pitchFamily="18" charset="0"/>
                <a:cs typeface="Times New Roman" panose="02020603050405020304" pitchFamily="18" charset="0"/>
                <a:sym typeface="+mn-ea"/>
              </a:rPr>
              <a:t>, as well as generating a </a:t>
            </a:r>
            <a:r>
              <a:rPr lang="en-US" sz="2400" dirty="0">
                <a:solidFill>
                  <a:srgbClr val="C00000"/>
                </a:solidFill>
                <a:latin typeface="Times New Roman" panose="02020603050405020304" pitchFamily="18" charset="0"/>
                <a:cs typeface="Times New Roman" panose="02020603050405020304" pitchFamily="18" charset="0"/>
                <a:sym typeface="+mn-ea"/>
              </a:rPr>
              <a:t>query execution plan</a:t>
            </a:r>
            <a:r>
              <a:rPr lang="en-US" sz="2400" dirty="0">
                <a:latin typeface="Times New Roman" panose="02020603050405020304" pitchFamily="18" charset="0"/>
                <a:cs typeface="Times New Roman" panose="02020603050405020304" pitchFamily="18" charset="0"/>
                <a:sym typeface="+mn-ea"/>
              </a:rPr>
              <a:t>. </a:t>
            </a:r>
            <a:endParaRPr lang="en-US" sz="2400" dirty="0">
              <a:solidFill>
                <a:schemeClr val="tx1"/>
              </a:solidFill>
              <a:latin typeface="Times New Roman" panose="02020603050405020304" pitchFamily="18" charset="0"/>
              <a:cs typeface="Times New Roman" panose="02020603050405020304" pitchFamily="18" charset="0"/>
            </a:endParaRPr>
          </a:p>
          <a:p>
            <a:pPr algn="l">
              <a:lnSpc>
                <a:spcPct val="150000"/>
              </a:lnSpc>
            </a:pPr>
            <a:r>
              <a:rPr lang="en-US" sz="2400" dirty="0">
                <a:solidFill>
                  <a:srgbClr val="C00000"/>
                </a:solidFill>
                <a:latin typeface="Times New Roman" panose="02020603050405020304" pitchFamily="18" charset="0"/>
                <a:cs typeface="Times New Roman" panose="02020603050405020304" pitchFamily="18" charset="0"/>
                <a:sym typeface="+mn-ea"/>
              </a:rPr>
              <a:t>	A query execution plan</a:t>
            </a:r>
            <a:r>
              <a:rPr lang="en-US" sz="2400" dirty="0">
                <a:latin typeface="Times New Roman" panose="02020603050405020304" pitchFamily="18" charset="0"/>
                <a:cs typeface="Times New Roman" panose="02020603050405020304" pitchFamily="18" charset="0"/>
                <a:sym typeface="+mn-ea"/>
              </a:rPr>
              <a:t> is a </a:t>
            </a:r>
            <a:r>
              <a:rPr lang="en-US" sz="2400" dirty="0">
                <a:solidFill>
                  <a:srgbClr val="C00000"/>
                </a:solidFill>
                <a:latin typeface="Times New Roman" panose="02020603050405020304" pitchFamily="18" charset="0"/>
                <a:cs typeface="Times New Roman" panose="02020603050405020304" pitchFamily="18" charset="0"/>
                <a:sym typeface="+mn-ea"/>
              </a:rPr>
              <a:t>sequence of operations</a:t>
            </a:r>
            <a:r>
              <a:rPr lang="en-US" sz="2400" dirty="0">
                <a:latin typeface="Times New Roman" panose="02020603050405020304" pitchFamily="18" charset="0"/>
                <a:cs typeface="Times New Roman" panose="02020603050405020304" pitchFamily="18" charset="0"/>
                <a:sym typeface="+mn-ea"/>
              </a:rPr>
              <a:t> that the database system performs to retrieve the data requested by the query.</a:t>
            </a:r>
            <a:endParaRPr lang="en-US" sz="240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50000"/>
              </a:lnSpc>
              <a:buClr>
                <a:srgbClr val="44546A"/>
              </a:buClr>
              <a:buFont typeface="Wingdings" panose="05000000000000000000" charset="0"/>
              <a:buChar char="ü"/>
            </a:pPr>
            <a:r>
              <a:rPr lang="en-US" sz="2400" dirty="0">
                <a:latin typeface="Times New Roman" panose="02020603050405020304" pitchFamily="18" charset="0"/>
                <a:cs typeface="Times New Roman" panose="02020603050405020304" pitchFamily="18" charset="0"/>
                <a:sym typeface="+mn-ea"/>
              </a:rPr>
              <a:t>An important aspect of query processing is </a:t>
            </a:r>
            <a:r>
              <a:rPr lang="en-US" sz="2400" dirty="0">
                <a:solidFill>
                  <a:srgbClr val="C00000"/>
                </a:solidFill>
                <a:latin typeface="Times New Roman" panose="02020603050405020304" pitchFamily="18" charset="0"/>
                <a:cs typeface="Times New Roman" panose="02020603050405020304" pitchFamily="18" charset="0"/>
                <a:sym typeface="+mn-ea"/>
              </a:rPr>
              <a:t>query optimization</a:t>
            </a:r>
            <a:r>
              <a:rPr lang="en-US" sz="2400" dirty="0">
                <a:latin typeface="Times New Roman" panose="02020603050405020304" pitchFamily="18" charset="0"/>
                <a:cs typeface="Times New Roman" panose="02020603050405020304" pitchFamily="18" charset="0"/>
                <a:sym typeface="+mn-ea"/>
              </a:rPr>
              <a:t>.</a:t>
            </a:r>
            <a:endParaRPr lang="en-US" sz="2400" dirty="0">
              <a:solidFill>
                <a:schemeClr val="tx1"/>
              </a:solidFill>
              <a:latin typeface="Times New Roman" panose="02020603050405020304" pitchFamily="18" charset="0"/>
              <a:cs typeface="Times New Roman" panose="02020603050405020304" pitchFamily="18" charset="0"/>
            </a:endParaRPr>
          </a:p>
          <a:p>
            <a:pPr indent="0" algn="l">
              <a:lnSpc>
                <a:spcPct val="150000"/>
              </a:lnSpc>
              <a:buClr>
                <a:srgbClr val="44546A"/>
              </a:buClr>
              <a:buFont typeface="Wingdings" panose="05000000000000000000" charset="0"/>
            </a:pPr>
            <a:r>
              <a:rPr lang="en-US" sz="2400" dirty="0">
                <a:solidFill>
                  <a:schemeClr val="tx1"/>
                </a:solidFill>
                <a:latin typeface="Times New Roman" panose="02020603050405020304" pitchFamily="18" charset="0"/>
                <a:cs typeface="Times New Roman" panose="02020603050405020304" pitchFamily="18" charset="0"/>
              </a:rPr>
              <a:t>What is the aim of query processing? </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10" name="Title 1"/>
          <p:cNvSpPr txBox="1"/>
          <p:nvPr/>
        </p:nvSpPr>
        <p:spPr>
          <a:xfrm>
            <a:off x="713740" y="326390"/>
            <a:ext cx="10993755" cy="67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002060"/>
                </a:solidFill>
                <a:effectLst>
                  <a:outerShdw blurRad="38100" dist="38100" dir="2700000" algn="tl">
                    <a:srgbClr val="000000">
                      <a:alpha val="43137"/>
                    </a:srgbClr>
                  </a:outerShdw>
                </a:effectLst>
                <a:latin typeface="Palatino Linotype" panose="02040502050505030304" charset="0"/>
                <a:ea typeface="Adobe Kaiti Std R" panose="02020400000000000000" pitchFamily="18" charset="-128"/>
                <a:cs typeface="Palatino Linotype" panose="02040502050505030304" charset="0"/>
              </a:rPr>
              <a:t>What is Query Processing?</a:t>
            </a:r>
            <a:endParaRPr lang="en-US" sz="3200" b="1" dirty="0">
              <a:solidFill>
                <a:srgbClr val="002060"/>
              </a:solidFill>
              <a:effectLst>
                <a:outerShdw blurRad="38100" dist="38100" dir="2700000" algn="tl">
                  <a:srgbClr val="000000">
                    <a:alpha val="43137"/>
                  </a:srgbClr>
                </a:outerShdw>
              </a:effectLst>
              <a:latin typeface="Palatino Linotype" panose="02040502050505030304" charset="0"/>
              <a:ea typeface="Adobe Kaiti Std R" panose="02020400000000000000" pitchFamily="18" charset="-128"/>
              <a:cs typeface="Palatino Linotype" panose="02040502050505030304"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1390650" y="4386580"/>
            <a:ext cx="4064000" cy="368300"/>
          </a:xfrm>
          <a:prstGeom prst="rect">
            <a:avLst/>
          </a:prstGeom>
          <a:noFill/>
        </p:spPr>
        <p:txBody>
          <a:bodyPr wrap="square" rtlCol="0">
            <a:spAutoFit/>
          </a:bodyPr>
          <a:p>
            <a:endParaRPr lang="en-GB" altLang="en-US"/>
          </a:p>
        </p:txBody>
      </p:sp>
    </p:spTree>
  </p:cSld>
  <p:clrMapOvr>
    <a:masterClrMapping/>
  </p:clrMapOvr>
  <p:transition spd="slow">
    <p:cove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   </a:t>
            </a:r>
            <a:endParaRPr lang="en-US"/>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2070100" y="492760"/>
            <a:ext cx="8452485" cy="521970"/>
          </a:xfrm>
          <a:prstGeom prst="rect">
            <a:avLst/>
          </a:prstGeom>
          <a:noFill/>
        </p:spPr>
        <p:txBody>
          <a:bodyPr wrap="square" rtlCol="0" anchor="t">
            <a:spAutoFit/>
          </a:bodyPr>
          <a:lstStyle/>
          <a:p>
            <a:r>
              <a:rPr lang="en-US" sz="2800">
                <a:solidFill>
                  <a:srgbClr val="C00000"/>
                </a:solidFill>
                <a:effectLst>
                  <a:outerShdw blurRad="38100" dist="38100" dir="2700000" algn="tl">
                    <a:srgbClr val="000000">
                      <a:alpha val="43137"/>
                    </a:srgbClr>
                  </a:outerShdw>
                </a:effectLst>
              </a:rPr>
              <a:t>Steps in Processing High-Level Query</a:t>
            </a:r>
            <a:endParaRPr lang="en-US" sz="2800">
              <a:solidFill>
                <a:srgbClr val="C00000"/>
              </a:solidFill>
              <a:effectLst>
                <a:outerShdw blurRad="38100" dist="38100" dir="2700000" algn="tl">
                  <a:srgbClr val="000000">
                    <a:alpha val="43137"/>
                  </a:srgbClr>
                </a:outerShdw>
              </a:effectLst>
            </a:endParaRPr>
          </a:p>
        </p:txBody>
      </p:sp>
      <p:pic>
        <p:nvPicPr>
          <p:cNvPr id="5" name="Picture 5"/>
          <p:cNvPicPr>
            <a:picLocks noGrp="1" noChangeAspect="1"/>
          </p:cNvPicPr>
          <p:nvPr>
            <p:ph idx="1"/>
          </p:nvPr>
        </p:nvPicPr>
        <p:blipFill>
          <a:blip r:embed="rId1"/>
          <a:stretch>
            <a:fillRect/>
          </a:stretch>
        </p:blipFill>
        <p:spPr>
          <a:xfrm>
            <a:off x="1717040" y="1148080"/>
            <a:ext cx="8211820" cy="5074920"/>
          </a:xfrm>
          <a:prstGeom prst="rect">
            <a:avLst/>
          </a:prstGeom>
        </p:spPr>
      </p:pic>
    </p:spTree>
  </p:cSld>
  <p:clrMapOvr>
    <a:masterClrMapping/>
  </p:clrMapOvr>
  <p:transition spd="slow">
    <p:cove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60045" y="840324"/>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74105" y="819905"/>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359830" y="2190083"/>
            <a:ext cx="10993549" cy="14750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600" dirty="0">
              <a:solidFill>
                <a:srgbClr val="002060"/>
              </a:solidFill>
              <a:latin typeface="Times New Roman" panose="02020603050405020304" pitchFamily="18" charset="0"/>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360680" y="909955"/>
            <a:ext cx="11744325" cy="5742305"/>
          </a:xfrm>
          <a:prstGeom prst="rect">
            <a:avLst/>
          </a:prstGeom>
          <a:noFill/>
        </p:spPr>
        <p:txBody>
          <a:bodyPr wrap="square" rtlCol="0" anchor="t">
            <a:noAutofit/>
          </a:bodyPr>
          <a:lstStyle/>
          <a:p>
            <a:pPr>
              <a:lnSpc>
                <a:spcPct val="150000"/>
              </a:lnSpc>
            </a:pPr>
            <a:r>
              <a:rPr lang="en-US" sz="2100"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Scanner</a:t>
            </a:r>
            <a:r>
              <a:rPr lang="en-US" sz="2100" b="1">
                <a:latin typeface="Times New Roman" panose="02020603050405020304" pitchFamily="18" charset="0"/>
                <a:cs typeface="Times New Roman" panose="02020603050405020304" pitchFamily="18" charset="0"/>
              </a:rPr>
              <a:t>:</a:t>
            </a:r>
            <a:r>
              <a:rPr lang="en-US" sz="2100">
                <a:latin typeface="Times New Roman" panose="02020603050405020304" pitchFamily="18" charset="0"/>
                <a:cs typeface="Times New Roman" panose="02020603050405020304" pitchFamily="18" charset="0"/>
              </a:rPr>
              <a:t> The scanner identifies the language tokens such as </a:t>
            </a:r>
            <a:r>
              <a:rPr lang="en-US" sz="2100">
                <a:solidFill>
                  <a:srgbClr val="C00000"/>
                </a:solidFill>
                <a:latin typeface="Times New Roman" panose="02020603050405020304" pitchFamily="18" charset="0"/>
                <a:cs typeface="Times New Roman" panose="02020603050405020304" pitchFamily="18" charset="0"/>
              </a:rPr>
              <a:t>SQL Keywords</a:t>
            </a:r>
            <a:r>
              <a:rPr lang="en-US" sz="2100">
                <a:latin typeface="Times New Roman" panose="02020603050405020304" pitchFamily="18" charset="0"/>
                <a:cs typeface="Times New Roman" panose="02020603050405020304" pitchFamily="18" charset="0"/>
              </a:rPr>
              <a:t>, </a:t>
            </a:r>
            <a:r>
              <a:rPr lang="en-US" sz="2100">
                <a:solidFill>
                  <a:srgbClr val="C00000"/>
                </a:solidFill>
                <a:latin typeface="Times New Roman" panose="02020603050405020304" pitchFamily="18" charset="0"/>
                <a:cs typeface="Times New Roman" panose="02020603050405020304" pitchFamily="18" charset="0"/>
              </a:rPr>
              <a:t>attribute</a:t>
            </a:r>
            <a:r>
              <a:rPr lang="en-US" sz="2100">
                <a:latin typeface="Times New Roman" panose="02020603050405020304" pitchFamily="18" charset="0"/>
                <a:cs typeface="Times New Roman" panose="02020603050405020304" pitchFamily="18" charset="0"/>
              </a:rPr>
              <a:t> names, and </a:t>
            </a:r>
            <a:r>
              <a:rPr lang="en-US" sz="2100">
                <a:solidFill>
                  <a:srgbClr val="C00000"/>
                </a:solidFill>
                <a:latin typeface="Times New Roman" panose="02020603050405020304" pitchFamily="18" charset="0"/>
                <a:cs typeface="Times New Roman" panose="02020603050405020304" pitchFamily="18" charset="0"/>
              </a:rPr>
              <a:t>relation</a:t>
            </a:r>
            <a:r>
              <a:rPr lang="en-US" sz="2100">
                <a:latin typeface="Times New Roman" panose="02020603050405020304" pitchFamily="18" charset="0"/>
                <a:cs typeface="Times New Roman" panose="02020603050405020304" pitchFamily="18" charset="0"/>
              </a:rPr>
              <a:t> names in the text of the query.</a:t>
            </a:r>
            <a:endParaRPr lang="en-US" sz="2100">
              <a:latin typeface="Times New Roman" panose="02020603050405020304" pitchFamily="18" charset="0"/>
              <a:cs typeface="Times New Roman" panose="02020603050405020304" pitchFamily="18" charset="0"/>
            </a:endParaRPr>
          </a:p>
          <a:p>
            <a:pPr>
              <a:lnSpc>
                <a:spcPct val="150000"/>
              </a:lnSpc>
            </a:pPr>
            <a:r>
              <a:rPr lang="en-US" sz="2100"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Parser</a:t>
            </a:r>
            <a:r>
              <a:rPr lang="en-US" sz="2100" b="1">
                <a:latin typeface="Times New Roman" panose="02020603050405020304" pitchFamily="18" charset="0"/>
                <a:cs typeface="Times New Roman" panose="02020603050405020304" pitchFamily="18" charset="0"/>
              </a:rPr>
              <a:t>:</a:t>
            </a:r>
            <a:r>
              <a:rPr lang="en-US" sz="2100">
                <a:latin typeface="Times New Roman" panose="02020603050405020304" pitchFamily="18" charset="0"/>
                <a:cs typeface="Times New Roman" panose="02020603050405020304" pitchFamily="18" charset="0"/>
              </a:rPr>
              <a:t> The parser </a:t>
            </a:r>
            <a:r>
              <a:rPr lang="en-US" sz="2100">
                <a:solidFill>
                  <a:srgbClr val="C00000"/>
                </a:solidFill>
                <a:latin typeface="Times New Roman" panose="02020603050405020304" pitchFamily="18" charset="0"/>
                <a:cs typeface="Times New Roman" panose="02020603050405020304" pitchFamily="18" charset="0"/>
              </a:rPr>
              <a:t>checks the query syntax</a:t>
            </a:r>
            <a:r>
              <a:rPr lang="en-US" sz="2100">
                <a:latin typeface="Times New Roman" panose="02020603050405020304" pitchFamily="18" charset="0"/>
                <a:cs typeface="Times New Roman" panose="02020603050405020304" pitchFamily="18" charset="0"/>
              </a:rPr>
              <a:t> to determine whether it is formulated according to the syntax rules (rules of grammar) of the query language.</a:t>
            </a:r>
            <a:endParaRPr lang="en-US" sz="2100">
              <a:latin typeface="Times New Roman" panose="02020603050405020304" pitchFamily="18" charset="0"/>
              <a:cs typeface="Times New Roman" panose="02020603050405020304" pitchFamily="18" charset="0"/>
            </a:endParaRPr>
          </a:p>
          <a:p>
            <a:pPr>
              <a:lnSpc>
                <a:spcPct val="150000"/>
              </a:lnSpc>
            </a:pPr>
            <a:r>
              <a:rPr lang="en-US" sz="2100"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Validation</a:t>
            </a:r>
            <a:r>
              <a:rPr lang="en-US" sz="2100" b="1">
                <a:latin typeface="Times New Roman" panose="02020603050405020304" pitchFamily="18" charset="0"/>
                <a:cs typeface="Times New Roman" panose="02020603050405020304" pitchFamily="18" charset="0"/>
              </a:rPr>
              <a:t>:</a:t>
            </a:r>
            <a:r>
              <a:rPr lang="en-US" sz="2100">
                <a:latin typeface="Times New Roman" panose="02020603050405020304" pitchFamily="18" charset="0"/>
                <a:cs typeface="Times New Roman" panose="02020603050405020304" pitchFamily="18" charset="0"/>
              </a:rPr>
              <a:t> The query must be </a:t>
            </a:r>
            <a:r>
              <a:rPr lang="en-US" sz="2100">
                <a:solidFill>
                  <a:srgbClr val="C00000"/>
                </a:solidFill>
                <a:latin typeface="Times New Roman" panose="02020603050405020304" pitchFamily="18" charset="0"/>
                <a:cs typeface="Times New Roman" panose="02020603050405020304" pitchFamily="18" charset="0"/>
              </a:rPr>
              <a:t>validated by checking</a:t>
            </a:r>
            <a:r>
              <a:rPr lang="en-US" sz="2100">
                <a:latin typeface="Times New Roman" panose="02020603050405020304" pitchFamily="18" charset="0"/>
                <a:cs typeface="Times New Roman" panose="02020603050405020304" pitchFamily="18" charset="0"/>
              </a:rPr>
              <a:t> that all </a:t>
            </a:r>
            <a:r>
              <a:rPr lang="en-US" sz="2100">
                <a:solidFill>
                  <a:srgbClr val="C00000"/>
                </a:solidFill>
                <a:latin typeface="Times New Roman" panose="02020603050405020304" pitchFamily="18" charset="0"/>
                <a:cs typeface="Times New Roman" panose="02020603050405020304" pitchFamily="18" charset="0"/>
              </a:rPr>
              <a:t>attributes and relation</a:t>
            </a:r>
            <a:r>
              <a:rPr lang="en-US" sz="2100">
                <a:latin typeface="Times New Roman" panose="02020603050405020304" pitchFamily="18" charset="0"/>
                <a:cs typeface="Times New Roman" panose="02020603050405020304" pitchFamily="18" charset="0"/>
              </a:rPr>
              <a:t> names are </a:t>
            </a:r>
            <a:r>
              <a:rPr lang="en-US" sz="2100">
                <a:solidFill>
                  <a:srgbClr val="C00000"/>
                </a:solidFill>
                <a:latin typeface="Times New Roman" panose="02020603050405020304" pitchFamily="18" charset="0"/>
                <a:cs typeface="Times New Roman" panose="02020603050405020304" pitchFamily="18" charset="0"/>
              </a:rPr>
              <a:t>valid and semantically</a:t>
            </a:r>
            <a:r>
              <a:rPr lang="en-US" sz="2100">
                <a:latin typeface="Times New Roman" panose="02020603050405020304" pitchFamily="18" charset="0"/>
                <a:cs typeface="Times New Roman" panose="02020603050405020304" pitchFamily="18" charset="0"/>
              </a:rPr>
              <a:t> meaningful names in the schema of the particular database being queried.</a:t>
            </a:r>
            <a:endParaRPr lang="en-US" sz="2100">
              <a:latin typeface="Times New Roman" panose="02020603050405020304" pitchFamily="18" charset="0"/>
              <a:cs typeface="Times New Roman" panose="02020603050405020304" pitchFamily="18" charset="0"/>
            </a:endParaRPr>
          </a:p>
          <a:p>
            <a:pPr>
              <a:lnSpc>
                <a:spcPct val="150000"/>
              </a:lnSpc>
            </a:pPr>
            <a:r>
              <a:rPr lang="en-US" sz="2100"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Query Optimization</a:t>
            </a:r>
            <a:r>
              <a:rPr lang="en-US" sz="2100" b="1">
                <a:latin typeface="Times New Roman" panose="02020603050405020304" pitchFamily="18" charset="0"/>
                <a:cs typeface="Times New Roman" panose="02020603050405020304" pitchFamily="18" charset="0"/>
              </a:rPr>
              <a:t>: </a:t>
            </a:r>
            <a:r>
              <a:rPr lang="en-US" sz="2100">
                <a:latin typeface="Times New Roman" panose="02020603050405020304" pitchFamily="18" charset="0"/>
                <a:cs typeface="Times New Roman" panose="02020603050405020304" pitchFamily="18" charset="0"/>
              </a:rPr>
              <a:t>The process of choosing a suitable execution strategy for processing a query. This module has the task of producing an execution plan.</a:t>
            </a:r>
            <a:endParaRPr lang="en-US" sz="2100">
              <a:latin typeface="Times New Roman" panose="02020603050405020304" pitchFamily="18" charset="0"/>
              <a:cs typeface="Times New Roman" panose="02020603050405020304" pitchFamily="18" charset="0"/>
            </a:endParaRPr>
          </a:p>
          <a:p>
            <a:pPr>
              <a:lnSpc>
                <a:spcPct val="150000"/>
              </a:lnSpc>
            </a:pPr>
            <a:r>
              <a:rPr lang="en-US" sz="2100"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Query Code Generator</a:t>
            </a:r>
            <a:r>
              <a:rPr lang="en-US" sz="2100">
                <a:solidFill>
                  <a:srgbClr val="C00000"/>
                </a:solidFill>
                <a:latin typeface="Times New Roman" panose="02020603050405020304" pitchFamily="18" charset="0"/>
                <a:cs typeface="Times New Roman" panose="02020603050405020304" pitchFamily="18" charset="0"/>
              </a:rPr>
              <a:t>:</a:t>
            </a:r>
            <a:r>
              <a:rPr lang="en-US" sz="2100">
                <a:latin typeface="Times New Roman" panose="02020603050405020304" pitchFamily="18" charset="0"/>
                <a:cs typeface="Times New Roman" panose="02020603050405020304" pitchFamily="18" charset="0"/>
              </a:rPr>
              <a:t> It generates the code to execute the plan.</a:t>
            </a:r>
            <a:endParaRPr lang="en-US" sz="2100">
              <a:latin typeface="Times New Roman" panose="02020603050405020304" pitchFamily="18" charset="0"/>
              <a:cs typeface="Times New Roman" panose="02020603050405020304" pitchFamily="18" charset="0"/>
            </a:endParaRPr>
          </a:p>
          <a:p>
            <a:pPr>
              <a:lnSpc>
                <a:spcPct val="150000"/>
              </a:lnSpc>
            </a:pPr>
            <a:r>
              <a:rPr lang="en-US" sz="2100" b="1">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Runtime Database Processor</a:t>
            </a:r>
            <a:r>
              <a:rPr lang="en-US" sz="2100" b="1">
                <a:latin typeface="Times New Roman" panose="02020603050405020304" pitchFamily="18" charset="0"/>
                <a:cs typeface="Times New Roman" panose="02020603050405020304" pitchFamily="18" charset="0"/>
              </a:rPr>
              <a:t>:</a:t>
            </a:r>
            <a:r>
              <a:rPr lang="en-US" sz="2100">
                <a:latin typeface="Times New Roman" panose="02020603050405020304" pitchFamily="18" charset="0"/>
                <a:cs typeface="Times New Roman" panose="02020603050405020304" pitchFamily="18" charset="0"/>
              </a:rPr>
              <a:t> It has the task of running the query code whether in </a:t>
            </a:r>
            <a:r>
              <a:rPr lang="en-US" sz="2100">
                <a:solidFill>
                  <a:srgbClr val="FF0000"/>
                </a:solidFill>
                <a:latin typeface="Times New Roman" panose="02020603050405020304" pitchFamily="18" charset="0"/>
                <a:cs typeface="Times New Roman" panose="02020603050405020304" pitchFamily="18" charset="0"/>
              </a:rPr>
              <a:t>compiled or interpreted</a:t>
            </a:r>
            <a:r>
              <a:rPr lang="en-US" sz="2100">
                <a:latin typeface="Times New Roman" panose="02020603050405020304" pitchFamily="18" charset="0"/>
                <a:cs typeface="Times New Roman" panose="02020603050405020304" pitchFamily="18" charset="0"/>
              </a:rPr>
              <a:t> mode. If a runtime error results an error message is generated by the runtime database processor.</a:t>
            </a:r>
            <a:endParaRPr lang="en-US" sz="2100">
              <a:latin typeface="Times New Roman" panose="02020603050405020304" pitchFamily="18" charset="0"/>
              <a:cs typeface="Times New Roman" panose="02020603050405020304" pitchFamily="18" charset="0"/>
            </a:endParaRPr>
          </a:p>
        </p:txBody>
      </p:sp>
      <p:sp>
        <p:nvSpPr>
          <p:cNvPr id="3" name="Text Box 2"/>
          <p:cNvSpPr txBox="1"/>
          <p:nvPr/>
        </p:nvSpPr>
        <p:spPr>
          <a:xfrm>
            <a:off x="3999865" y="283210"/>
            <a:ext cx="2540000" cy="362585"/>
          </a:xfrm>
          <a:prstGeom prst="rect">
            <a:avLst/>
          </a:prstGeom>
          <a:noFill/>
        </p:spPr>
        <p:txBody>
          <a:bodyPr wrap="square" rtlCol="0" anchor="t">
            <a:noAutofit/>
          </a:bodyPr>
          <a:lstStyle/>
          <a:p>
            <a:r>
              <a:rPr lang="en-US" sz="3200"/>
              <a:t>Cont’d...</a:t>
            </a:r>
            <a:endParaRPr lang="en-US" sz="3200"/>
          </a:p>
        </p:txBody>
      </p:sp>
    </p:spTree>
  </p:cSld>
  <p:clrMapOvr>
    <a:masterClrMapping/>
  </p:clrMapOvr>
  <p:transition spd="slow">
    <p:cove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43840" y="1293714"/>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37910" y="1293615"/>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599225" y="3197828"/>
            <a:ext cx="10993549" cy="14750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600" dirty="0">
              <a:solidFill>
                <a:srgbClr val="002060"/>
              </a:solidFill>
              <a:latin typeface="Times New Roman" panose="02020603050405020304" pitchFamily="18" charset="0"/>
              <a:cs typeface="Times New Roman" panose="02020603050405020304" pitchFamily="18" charset="0"/>
            </a:endParaRPr>
          </a:p>
        </p:txBody>
      </p:sp>
      <p:sp>
        <p:nvSpPr>
          <p:cNvPr id="10" name="Title 1"/>
          <p:cNvSpPr txBox="1"/>
          <p:nvPr/>
        </p:nvSpPr>
        <p:spPr>
          <a:xfrm>
            <a:off x="525780" y="2108200"/>
            <a:ext cx="11276330" cy="441388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50000"/>
              </a:lnSpc>
            </a:pPr>
            <a:r>
              <a:rPr lang="en-US" sz="2400" b="1" dirty="0">
                <a:solidFill>
                  <a:srgbClr val="002060"/>
                </a:solidFill>
                <a:effectLst>
                  <a:outerShdw blurRad="38100" dist="38100" dir="2700000" algn="tl">
                    <a:srgbClr val="000000">
                      <a:alpha val="43137"/>
                    </a:srgbClr>
                  </a:outerShdw>
                </a:effectLst>
                <a:latin typeface="Times New Roman" panose="02020603050405020304" pitchFamily="18" charset="0"/>
                <a:ea typeface="Adobe Kaiti Std R" panose="02020400000000000000" pitchFamily="18" charset="-128"/>
                <a:cs typeface="Times New Roman" panose="02020603050405020304" pitchFamily="18" charset="0"/>
              </a:rPr>
              <a:t>Query Decomposition:-</a:t>
            </a:r>
            <a:r>
              <a:rPr lang="en-US" sz="2400" b="1" dirty="0">
                <a:solidFill>
                  <a:srgbClr val="002060"/>
                </a:solidFill>
                <a:latin typeface="Times New Roman" panose="02020603050405020304" pitchFamily="18" charset="0"/>
                <a:ea typeface="Adobe Kaiti Std R" panose="02020400000000000000" pitchFamily="18" charset="-128"/>
                <a:cs typeface="Times New Roman" panose="02020603050405020304" pitchFamily="18" charset="0"/>
              </a:rPr>
              <a:t> </a:t>
            </a:r>
            <a:endParaRPr lang="en-US" sz="2400" b="1" dirty="0">
              <a:solidFill>
                <a:srgbClr val="002060"/>
              </a:solidFill>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50000"/>
              </a:lnSpc>
            </a:pPr>
            <a:r>
              <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It is the process of transforming a high-level query into a relational algebra query, and to check that the query is </a:t>
            </a:r>
            <a:r>
              <a:rPr lang="en-US" sz="2400" dirty="0">
                <a:solidFill>
                  <a:srgbClr val="C00000"/>
                </a:solidFill>
                <a:effectLst/>
                <a:latin typeface="Times New Roman" panose="02020603050405020304" pitchFamily="18" charset="0"/>
                <a:ea typeface="Adobe Kaiti Std R" panose="02020400000000000000" pitchFamily="18" charset="-128"/>
                <a:cs typeface="Times New Roman" panose="02020603050405020304" pitchFamily="18" charset="0"/>
              </a:rPr>
              <a:t>syntactically and semantically correct.</a:t>
            </a:r>
            <a:r>
              <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 </a:t>
            </a:r>
            <a:endPar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50000"/>
              </a:lnSpc>
            </a:pPr>
            <a:r>
              <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It Consists of </a:t>
            </a:r>
            <a:r>
              <a:rPr lang="en-US" sz="2400" dirty="0">
                <a:solidFill>
                  <a:srgbClr val="C00000"/>
                </a:solidFill>
                <a:effectLst/>
                <a:latin typeface="Times New Roman" panose="02020603050405020304" pitchFamily="18" charset="0"/>
                <a:ea typeface="Adobe Kaiti Std R" panose="02020400000000000000" pitchFamily="18" charset="-128"/>
                <a:cs typeface="Times New Roman" panose="02020603050405020304" pitchFamily="18" charset="0"/>
              </a:rPr>
              <a:t>parsing and validation</a:t>
            </a:r>
            <a:r>
              <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 </a:t>
            </a:r>
            <a:endPar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50000"/>
              </a:lnSpc>
            </a:pPr>
            <a:r>
              <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Typical stages in query decomposition are:</a:t>
            </a:r>
            <a:endPar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00000"/>
              </a:lnSpc>
            </a:pPr>
            <a:r>
              <a:rPr lang="en-US" sz="2400"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	</a:t>
            </a:r>
            <a:r>
              <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1. Analysis: </a:t>
            </a:r>
            <a:endPar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00000"/>
              </a:lnSpc>
            </a:pPr>
            <a:r>
              <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	2. Normalization:</a:t>
            </a:r>
            <a:endPar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00000"/>
              </a:lnSpc>
            </a:pPr>
            <a:r>
              <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	3. Semantic Analysis</a:t>
            </a:r>
            <a:endPar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00000"/>
              </a:lnSpc>
            </a:pPr>
            <a:r>
              <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rPr>
              <a:t>	4. Simplification</a:t>
            </a:r>
            <a:endParaRPr lang="en-US" sz="2000" i="1" dirty="0">
              <a:solidFill>
                <a:schemeClr val="tx1"/>
              </a:solidFill>
              <a:effectLst/>
              <a:latin typeface="Times New Roman" panose="02020603050405020304" pitchFamily="18" charset="0"/>
              <a:ea typeface="Adobe Kaiti Std R" panose="02020400000000000000" pitchFamily="18" charset="-128"/>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243840" y="1600200"/>
            <a:ext cx="11558270" cy="426720"/>
          </a:xfrm>
          <a:prstGeom prst="rect">
            <a:avLst/>
          </a:prstGeom>
          <a:noFill/>
        </p:spPr>
        <p:txBody>
          <a:bodyPr wrap="square" rtlCol="0" anchor="t">
            <a:noAutofit/>
          </a:bodyPr>
          <a:lstStyle/>
          <a:p>
            <a:r>
              <a:rPr lang="en-US" sz="2000"/>
              <a:t>Processing can be divided into </a:t>
            </a:r>
            <a:r>
              <a:rPr lang="en-US" sz="2000">
                <a:solidFill>
                  <a:srgbClr val="C00000"/>
                </a:solidFill>
              </a:rPr>
              <a:t>Decomposition, Optimization, Execution, and Code generation</a:t>
            </a:r>
            <a:r>
              <a:rPr lang="en-US" sz="2000"/>
              <a:t>.</a:t>
            </a:r>
            <a:endParaRPr lang="en-US" sz="2000"/>
          </a:p>
        </p:txBody>
      </p:sp>
      <p:sp>
        <p:nvSpPr>
          <p:cNvPr id="3" name="Text Box 2"/>
          <p:cNvSpPr txBox="1"/>
          <p:nvPr/>
        </p:nvSpPr>
        <p:spPr>
          <a:xfrm>
            <a:off x="3430270" y="617220"/>
            <a:ext cx="3387725" cy="460375"/>
          </a:xfrm>
          <a:prstGeom prst="rect">
            <a:avLst/>
          </a:prstGeom>
          <a:noFill/>
        </p:spPr>
        <p:txBody>
          <a:bodyPr wrap="square" rtlCol="0" anchor="t">
            <a:spAutoFit/>
          </a:bodyPr>
          <a:lstStyle/>
          <a:p>
            <a:r>
              <a:rPr lang="en-US" sz="2400" dirty="0">
                <a:effectLst>
                  <a:outerShdw blurRad="38100" dist="38100" dir="2700000" algn="tl">
                    <a:srgbClr val="000000">
                      <a:alpha val="43137"/>
                    </a:srgbClr>
                  </a:outerShdw>
                </a:effectLst>
                <a:sym typeface="+mn-ea"/>
              </a:rPr>
              <a:t>Processing can be...</a:t>
            </a:r>
            <a:r>
              <a:rPr lang="en-US" dirty="0">
                <a:sym typeface="+mn-ea"/>
              </a:rPr>
              <a:t>.</a:t>
            </a:r>
            <a:endParaRPr lang="en-US" dirty="0"/>
          </a:p>
        </p:txBody>
      </p:sp>
    </p:spTree>
  </p:cSld>
  <p:clrMapOvr>
    <a:masterClrMapping/>
  </p:clrMapOvr>
  <p:transition spd="slow">
    <p:cove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58124"/>
            <a:ext cx="10515600" cy="332673"/>
          </a:xfrm>
        </p:spPr>
        <p:txBody>
          <a:bodyPr>
            <a:normAutofit fontScale="90000"/>
          </a:bodyPr>
          <a:lstStyle/>
          <a:p>
            <a:r>
              <a:rPr lang="en-US" sz="3200" dirty="0">
                <a:effectLst>
                  <a:outerShdw blurRad="38100" dist="38100" dir="2700000" algn="tl">
                    <a:srgbClr val="000000">
                      <a:alpha val="43137"/>
                    </a:srgbClr>
                  </a:outerShdw>
                </a:effectLst>
                <a:sym typeface="+mn-ea"/>
              </a:rPr>
              <a:t>Processing can be...</a:t>
            </a:r>
            <a:r>
              <a:rPr lang="en-US" sz="3200" dirty="0">
                <a:sym typeface="+mn-ea"/>
              </a:rPr>
              <a:t>.</a:t>
            </a:r>
            <a:endParaRPr lang="en-US" sz="3200" dirty="0"/>
          </a:p>
        </p:txBody>
      </p:sp>
      <p:sp>
        <p:nvSpPr>
          <p:cNvPr id="3" name="Content Placeholder 2"/>
          <p:cNvSpPr>
            <a:spLocks noGrp="1"/>
          </p:cNvSpPr>
          <p:nvPr>
            <p:ph sz="half" idx="1"/>
          </p:nvPr>
        </p:nvSpPr>
        <p:spPr>
          <a:xfrm>
            <a:off x="278296" y="963874"/>
            <a:ext cx="5741504" cy="5757601"/>
          </a:xfrm>
        </p:spPr>
        <p:txBody>
          <a:bodyPr>
            <a:normAutofit fontScale="77500" lnSpcReduction="20000"/>
          </a:bodyPr>
          <a:lstStyle/>
          <a:p>
            <a:pPr marL="0" indent="0">
              <a:buNone/>
            </a:pPr>
            <a:r>
              <a:rPr lang="en-US" sz="2400" b="1" dirty="0">
                <a:solidFill>
                  <a:srgbClr val="C00000"/>
                </a:solidFill>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a:t>
            </a:r>
            <a:r>
              <a:rPr lang="en-US" sz="2400" b="1" dirty="0">
                <a:solidFill>
                  <a:srgbClr val="C00000"/>
                </a:solidFill>
                <a:latin typeface="Times New Roman" panose="02020603050405020304" pitchFamily="18" charset="0"/>
                <a:cs typeface="Times New Roman" panose="02020603050405020304" pitchFamily="18" charset="0"/>
              </a:rPr>
              <a:t> Analysis (Parsing &amp; Validation)</a:t>
            </a:r>
            <a:endParaRPr lang="en-US" sz="2400" b="1" dirty="0">
              <a:solidFill>
                <a:srgbClr val="C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The DBMS </a:t>
            </a:r>
            <a:r>
              <a:rPr lang="en-US" sz="2400" b="1" dirty="0">
                <a:latin typeface="Times New Roman" panose="02020603050405020304" pitchFamily="18" charset="0"/>
                <a:cs typeface="Times New Roman" panose="02020603050405020304" pitchFamily="18" charset="0"/>
              </a:rPr>
              <a:t>checks syntax and verifies table/column names</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If you wrote something like:</a:t>
            </a:r>
            <a:endParaRPr lang="en-US" sz="24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r>
              <a:rPr lang="en-US" sz="2000"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SELECT </a:t>
            </a:r>
            <a:r>
              <a:rPr lang="en-US" sz="2000" dirty="0" err="1">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SName</a:t>
            </a:r>
            <a:r>
              <a:rPr lang="en-US" sz="2000"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FROM Students WHERE Dept = 'CS';</a:t>
            </a:r>
            <a:endParaRPr lang="en-US" sz="2000"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It checks:</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Does table Students exist?</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Does column </a:t>
            </a:r>
            <a:r>
              <a:rPr lang="en-US" sz="2000" dirty="0" err="1">
                <a:latin typeface="Times New Roman" panose="02020603050405020304" pitchFamily="18" charset="0"/>
                <a:cs typeface="Times New Roman" panose="02020603050405020304" pitchFamily="18" charset="0"/>
              </a:rPr>
              <a:t>SName</a:t>
            </a:r>
            <a:r>
              <a:rPr lang="en-US" sz="2000" dirty="0">
                <a:latin typeface="Times New Roman" panose="02020603050405020304" pitchFamily="18" charset="0"/>
                <a:cs typeface="Times New Roman" panose="02020603050405020304" pitchFamily="18" charset="0"/>
              </a:rPr>
              <a:t> exist?</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Is the SQL syntax valid?</a:t>
            </a:r>
            <a:endParaRPr lang="en-US" sz="2000" dirty="0">
              <a:latin typeface="Times New Roman" panose="02020603050405020304" pitchFamily="18" charset="0"/>
              <a:cs typeface="Times New Roman" panose="02020603050405020304" pitchFamily="18" charset="0"/>
            </a:endParaRPr>
          </a:p>
          <a:p>
            <a:pPr marL="0" indent="0">
              <a:buNone/>
            </a:pPr>
            <a:r>
              <a:rPr lang="en-US" b="1" dirty="0">
                <a:solidFill>
                  <a:srgbClr val="C00000"/>
                </a:solidFill>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a:t>
            </a:r>
            <a:r>
              <a:rPr lang="en-US" b="1" dirty="0">
                <a:solidFill>
                  <a:srgbClr val="C00000"/>
                </a:solidFill>
                <a:latin typeface="Times New Roman" panose="02020603050405020304" pitchFamily="18" charset="0"/>
                <a:cs typeface="Times New Roman" panose="02020603050405020304" pitchFamily="18" charset="0"/>
              </a:rPr>
              <a:t>Normalization</a:t>
            </a:r>
            <a:endParaRPr lang="en-US" b="1" dirty="0">
              <a:solidFill>
                <a:srgbClr val="C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Convert the query into a </a:t>
            </a:r>
            <a:r>
              <a:rPr lang="en-US" sz="2300" b="1" dirty="0">
                <a:latin typeface="Times New Roman" panose="02020603050405020304" pitchFamily="18" charset="0"/>
                <a:cs typeface="Times New Roman" panose="02020603050405020304" pitchFamily="18" charset="0"/>
              </a:rPr>
              <a:t>standard / canonical relational algebra form.</a:t>
            </a:r>
            <a:endParaRPr lang="en-US" sz="23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300" dirty="0">
                <a:latin typeface="Times New Roman" panose="02020603050405020304" pitchFamily="18" charset="0"/>
                <a:cs typeface="Times New Roman" panose="02020603050405020304" pitchFamily="18" charset="0"/>
              </a:rPr>
              <a:t>Break </a:t>
            </a:r>
            <a:r>
              <a:rPr lang="en-US" sz="2300" b="1" dirty="0">
                <a:latin typeface="Times New Roman" panose="02020603050405020304" pitchFamily="18" charset="0"/>
                <a:cs typeface="Times New Roman" panose="02020603050405020304" pitchFamily="18" charset="0"/>
              </a:rPr>
              <a:t>complex conditions</a:t>
            </a:r>
            <a:r>
              <a:rPr lang="en-US" sz="2300" dirty="0">
                <a:latin typeface="Times New Roman" panose="02020603050405020304" pitchFamily="18" charset="0"/>
                <a:cs typeface="Times New Roman" panose="02020603050405020304" pitchFamily="18" charset="0"/>
              </a:rPr>
              <a:t> into </a:t>
            </a:r>
            <a:r>
              <a:rPr lang="en-US" sz="2300" b="1" dirty="0">
                <a:latin typeface="Times New Roman" panose="02020603050405020304" pitchFamily="18" charset="0"/>
                <a:cs typeface="Times New Roman" panose="02020603050405020304" pitchFamily="18" charset="0"/>
              </a:rPr>
              <a:t>simpler components</a:t>
            </a:r>
            <a:r>
              <a:rPr lang="en-US" sz="23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buNone/>
            </a:pPr>
            <a:r>
              <a:rPr lang="en-US" sz="2600" b="1" dirty="0">
                <a:solidFill>
                  <a:srgbClr val="C00000"/>
                </a:solidFill>
                <a:latin typeface="Times New Roman" panose="02020603050405020304" pitchFamily="18" charset="0"/>
                <a:cs typeface="Times New Roman" panose="02020603050405020304" pitchFamily="18" charset="0"/>
              </a:rPr>
              <a:t>Example:</a:t>
            </a:r>
            <a:endParaRPr lang="en-US" sz="2600" dirty="0">
              <a:solidFill>
                <a:srgbClr val="C00000"/>
              </a:solidFill>
              <a:latin typeface="Times New Roman" panose="02020603050405020304" pitchFamily="18" charset="0"/>
              <a:cs typeface="Times New Roman" panose="02020603050405020304" pitchFamily="18" charset="0"/>
            </a:endParaRPr>
          </a:p>
          <a:p>
            <a:pPr marL="0" indent="0">
              <a:buNone/>
            </a:pPr>
            <a:r>
              <a:rPr lang="en-US" sz="2000" b="1" dirty="0">
                <a:solidFill>
                  <a:srgbClr val="0070C0"/>
                </a:solidFill>
                <a:latin typeface="Times New Roman" panose="02020603050405020304" pitchFamily="18" charset="0"/>
                <a:cs typeface="Times New Roman" panose="02020603050405020304" pitchFamily="18" charset="0"/>
              </a:rPr>
              <a:t>SELECT Name FROM Student WHERE NOT (Dept != 'CS' OR Age &lt; 18);</a:t>
            </a:r>
            <a:endParaRPr lang="en-US" sz="2000" b="1" dirty="0">
              <a:solidFill>
                <a:srgbClr val="007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2600" dirty="0">
                <a:latin typeface="Times New Roman" panose="02020603050405020304" pitchFamily="18" charset="0"/>
                <a:cs typeface="Times New Roman" panose="02020603050405020304" pitchFamily="18" charset="0"/>
              </a:rPr>
              <a:t> Normalize using </a:t>
            </a:r>
            <a:r>
              <a:rPr lang="en-US" sz="2600" b="1" dirty="0">
                <a:latin typeface="Times New Roman" panose="02020603050405020304" pitchFamily="18" charset="0"/>
                <a:cs typeface="Times New Roman" panose="02020603050405020304" pitchFamily="18" charset="0"/>
              </a:rPr>
              <a:t>De Morgan’s Law</a:t>
            </a:r>
            <a:r>
              <a:rPr lang="en-US" sz="2600" dirty="0">
                <a:latin typeface="Times New Roman" panose="02020603050405020304" pitchFamily="18" charset="0"/>
                <a:cs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a:p>
            <a:pPr marL="0" indent="0">
              <a:buNone/>
            </a:pPr>
            <a:r>
              <a:rPr lang="en-US" sz="2600" dirty="0">
                <a:latin typeface="Times New Roman" panose="02020603050405020304" pitchFamily="18" charset="0"/>
                <a:cs typeface="Times New Roman" panose="02020603050405020304" pitchFamily="18" charset="0"/>
              </a:rPr>
              <a:t>	Dept = 'CS' AND Age &gt;= 18</a:t>
            </a:r>
            <a:endParaRPr lang="en-US" sz="26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sz="half" idx="2"/>
          </p:nvPr>
        </p:nvGraphicFramePr>
        <p:xfrm>
          <a:off x="6248620" y="2585421"/>
          <a:ext cx="5664200" cy="2002542"/>
        </p:xfrm>
        <a:graphic>
          <a:graphicData uri="http://schemas.openxmlformats.org/drawingml/2006/table">
            <a:tbl>
              <a:tblPr/>
              <a:tblGrid>
                <a:gridCol w="2832100"/>
                <a:gridCol w="2832100"/>
              </a:tblGrid>
              <a:tr h="370951">
                <a:tc>
                  <a:txBody>
                    <a:bodyPr/>
                    <a:lstStyle/>
                    <a:p>
                      <a:pPr>
                        <a:buNone/>
                      </a:pPr>
                      <a:r>
                        <a:rPr lang="en-US" sz="1100">
                          <a:latin typeface="Times New Roman" panose="02020603050405020304" pitchFamily="18" charset="0"/>
                          <a:cs typeface="Times New Roman" panose="02020603050405020304" pitchFamily="18" charset="0"/>
                        </a:rPr>
                        <a:t>Condition</a:t>
                      </a:r>
                      <a:endParaRPr lang="en-US" sz="110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c>
                  <a:txBody>
                    <a:bodyPr/>
                    <a:lstStyle/>
                    <a:p>
                      <a:pPr>
                        <a:buNone/>
                      </a:pPr>
                      <a:r>
                        <a:rPr lang="en-US" sz="1100">
                          <a:latin typeface="Times New Roman" panose="02020603050405020304" pitchFamily="18" charset="0"/>
                          <a:cs typeface="Times New Roman" panose="02020603050405020304" pitchFamily="18" charset="0"/>
                        </a:rPr>
                        <a:t>Semantic Error?</a:t>
                      </a:r>
                      <a:endParaRPr lang="en-US" sz="110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r>
              <a:tr h="370951">
                <a:tc>
                  <a:txBody>
                    <a:bodyPr/>
                    <a:lstStyle/>
                    <a:p>
                      <a:pPr>
                        <a:buNone/>
                      </a:pPr>
                      <a:r>
                        <a:rPr lang="en-US" sz="1100" dirty="0">
                          <a:latin typeface="Times New Roman" panose="02020603050405020304" pitchFamily="18" charset="0"/>
                          <a:cs typeface="Times New Roman" panose="02020603050405020304" pitchFamily="18" charset="0"/>
                        </a:rPr>
                        <a:t>WHERE Age = 'CS'</a:t>
                      </a:r>
                      <a:endParaRPr lang="en-US" sz="1100" dirty="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c>
                  <a:txBody>
                    <a:bodyPr/>
                    <a:lstStyle/>
                    <a:p>
                      <a:pPr>
                        <a:buNone/>
                      </a:pPr>
                      <a:r>
                        <a:rPr lang="en-US" sz="1100">
                          <a:latin typeface="Times New Roman" panose="02020603050405020304" pitchFamily="18" charset="0"/>
                          <a:cs typeface="Times New Roman" panose="02020603050405020304" pitchFamily="18" charset="0"/>
                        </a:rPr>
                        <a:t>❌ Age is numeric, 'CS' is string</a:t>
                      </a:r>
                      <a:endParaRPr lang="en-US" sz="110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r>
              <a:tr h="630320">
                <a:tc>
                  <a:txBody>
                    <a:bodyPr/>
                    <a:lstStyle/>
                    <a:p>
                      <a:pPr>
                        <a:buNone/>
                      </a:pPr>
                      <a:r>
                        <a:rPr lang="en-US" sz="1100" dirty="0">
                          <a:latin typeface="Times New Roman" panose="02020603050405020304" pitchFamily="18" charset="0"/>
                          <a:cs typeface="Times New Roman" panose="02020603050405020304" pitchFamily="18" charset="0"/>
                        </a:rPr>
                        <a:t>WHERE Salary &gt; 100 but column is VARCHAR</a:t>
                      </a:r>
                      <a:endParaRPr lang="en-US" sz="1100" dirty="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c>
                  <a:txBody>
                    <a:bodyPr/>
                    <a:lstStyle/>
                    <a:p>
                      <a:pPr>
                        <a:buNone/>
                      </a:pPr>
                      <a:r>
                        <a:rPr lang="en-US" sz="1100" dirty="0">
                          <a:latin typeface="Times New Roman" panose="02020603050405020304" pitchFamily="18" charset="0"/>
                          <a:cs typeface="Times New Roman" panose="02020603050405020304" pitchFamily="18" charset="0"/>
                        </a:rPr>
                        <a:t>❌ Type mismatch</a:t>
                      </a:r>
                      <a:endParaRPr lang="en-US" sz="1100" dirty="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r>
              <a:tr h="630320">
                <a:tc>
                  <a:txBody>
                    <a:bodyPr/>
                    <a:lstStyle/>
                    <a:p>
                      <a:pPr>
                        <a:buNone/>
                      </a:pPr>
                      <a:r>
                        <a:rPr lang="en-US" sz="1100" dirty="0">
                          <a:latin typeface="Times New Roman" panose="02020603050405020304" pitchFamily="18" charset="0"/>
                          <a:cs typeface="Times New Roman" panose="02020603050405020304" pitchFamily="18" charset="0"/>
                        </a:rPr>
                        <a:t>Accessing a column user has </a:t>
                      </a:r>
                      <a:r>
                        <a:rPr lang="en-US" sz="1100" b="1" dirty="0">
                          <a:latin typeface="Times New Roman" panose="02020603050405020304" pitchFamily="18" charset="0"/>
                          <a:cs typeface="Times New Roman" panose="02020603050405020304" pitchFamily="18" charset="0"/>
                        </a:rPr>
                        <a:t>no permission</a:t>
                      </a:r>
                      <a:r>
                        <a:rPr lang="en-US" sz="1100" dirty="0">
                          <a:latin typeface="Times New Roman" panose="02020603050405020304" pitchFamily="18" charset="0"/>
                          <a:cs typeface="Times New Roman" panose="02020603050405020304" pitchFamily="18" charset="0"/>
                        </a:rPr>
                        <a:t> on</a:t>
                      </a:r>
                      <a:endParaRPr lang="en-US" sz="1100" dirty="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c>
                  <a:txBody>
                    <a:bodyPr/>
                    <a:lstStyle/>
                    <a:p>
                      <a:pPr>
                        <a:buNone/>
                      </a:pPr>
                      <a:r>
                        <a:rPr lang="en-US" sz="1100" dirty="0">
                          <a:latin typeface="Times New Roman" panose="02020603050405020304" pitchFamily="18" charset="0"/>
                          <a:cs typeface="Times New Roman" panose="02020603050405020304" pitchFamily="18" charset="0"/>
                        </a:rPr>
                        <a:t>❌ Authorization failure</a:t>
                      </a:r>
                      <a:endParaRPr lang="en-US" sz="1100" dirty="0">
                        <a:latin typeface="Times New Roman" panose="02020603050405020304" pitchFamily="18" charset="0"/>
                        <a:cs typeface="Times New Roman" panose="02020603050405020304" pitchFamily="18" charset="0"/>
                      </a:endParaRPr>
                    </a:p>
                  </a:txBody>
                  <a:tcPr marL="52581" marR="52581" marT="26290" marB="26290" anchor="ctr">
                    <a:lnL>
                      <a:noFill/>
                    </a:lnL>
                    <a:lnR>
                      <a:noFill/>
                    </a:lnR>
                    <a:lnT>
                      <a:noFill/>
                    </a:lnT>
                    <a:lnB>
                      <a:noFill/>
                    </a:lnB>
                    <a:noFill/>
                  </a:tcPr>
                </a:tc>
              </a:tr>
            </a:tbl>
          </a:graphicData>
        </a:graphic>
      </p:graphicFrame>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sp>
        <p:nvSpPr>
          <p:cNvPr id="7" name="Rectangle 1"/>
          <p:cNvSpPr>
            <a:spLocks noChangeArrowheads="1"/>
          </p:cNvSpPr>
          <p:nvPr/>
        </p:nvSpPr>
        <p:spPr bwMode="auto">
          <a:xfrm>
            <a:off x="6019800" y="590797"/>
            <a:ext cx="5953983"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rgbClr val="C00000"/>
                </a:solidFill>
                <a:effectLst/>
                <a:latin typeface="Arial" panose="020B0604020202020204" pitchFamily="34" charset="0"/>
              </a:rPr>
              <a:t>3. </a:t>
            </a:r>
            <a:r>
              <a:rPr kumimoji="0" lang="en-US" altLang="en-US" sz="1600" b="1" i="0" u="none" strike="noStrike" cap="none" normalizeH="0" baseline="0" dirty="0">
                <a:ln>
                  <a:noFill/>
                </a:ln>
                <a:solidFill>
                  <a:srgbClr val="C00000"/>
                </a:solidFill>
                <a:effectLst/>
                <a:latin typeface="Arial" panose="020B0604020202020204" pitchFamily="34" charset="0"/>
              </a:rPr>
              <a:t>Semantic Analysis</a:t>
            </a:r>
            <a:endParaRPr kumimoji="0" lang="en-US" altLang="en-US" sz="1600" b="1" i="0" u="none" strike="noStrike" cap="none" normalizeH="0" baseline="0" dirty="0">
              <a:ln>
                <a:noFill/>
              </a:ln>
              <a:solidFill>
                <a:srgbClr val="C00000"/>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ü"/>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step checks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meaning-based correctness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type compatibility, constraints, permissions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etc.</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Example: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checks: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Only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logically valid queries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proceed</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p:cNvSpPr txBox="1"/>
          <p:nvPr/>
        </p:nvSpPr>
        <p:spPr>
          <a:xfrm>
            <a:off x="6103729" y="4507587"/>
            <a:ext cx="5953983" cy="2031325"/>
          </a:xfrm>
          <a:prstGeom prst="rect">
            <a:avLst/>
          </a:prstGeom>
          <a:noFill/>
        </p:spPr>
        <p:txBody>
          <a:bodyPr wrap="square">
            <a:spAutoFit/>
          </a:bodyPr>
          <a:lstStyle/>
          <a:p>
            <a:pPr>
              <a:buNone/>
            </a:pPr>
            <a:r>
              <a:rPr lang="en-US" b="1" dirty="0">
                <a:solidFill>
                  <a:srgbClr val="C00000"/>
                </a:solidFill>
                <a:latin typeface="Times New Roman" panose="02020603050405020304" pitchFamily="18" charset="0"/>
                <a:cs typeface="Times New Roman" panose="02020603050405020304" pitchFamily="18" charset="0"/>
              </a:rPr>
              <a:t>4. Simplification</a:t>
            </a:r>
            <a:endParaRPr lang="en-US" b="1" dirty="0">
              <a:solidFill>
                <a:srgbClr val="C00000"/>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DBMS </a:t>
            </a:r>
            <a:r>
              <a:rPr lang="en-US" b="1" dirty="0">
                <a:latin typeface="Times New Roman" panose="02020603050405020304" pitchFamily="18" charset="0"/>
                <a:cs typeface="Times New Roman" panose="02020603050405020304" pitchFamily="18" charset="0"/>
              </a:rPr>
              <a:t>removes redundant conditions</a:t>
            </a:r>
            <a:r>
              <a:rPr lang="en-US" dirty="0">
                <a:latin typeface="Times New Roman" panose="02020603050405020304" pitchFamily="18" charset="0"/>
                <a:cs typeface="Times New Roman" panose="02020603050405020304" pitchFamily="18" charset="0"/>
              </a:rPr>
              <a:t> and simplifies expressions.</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Example:</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a:t>
            </a:r>
            <a:r>
              <a:rPr lang="en-US" sz="1600" b="1" dirty="0">
                <a:solidFill>
                  <a:schemeClr val="accent1">
                    <a:lumMod val="75000"/>
                  </a:schemeClr>
                </a:solidFill>
                <a:latin typeface="Times New Roman" panose="02020603050405020304" pitchFamily="18" charset="0"/>
                <a:cs typeface="Times New Roman" panose="02020603050405020304" pitchFamily="18" charset="0"/>
              </a:rPr>
              <a:t>WHERE Dept = 'CS' AND (Dept = 'CS' OR Age &gt; 20)</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Simplified to:</a:t>
            </a: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	WHERE Dept = 'CS'</a:t>
            </a:r>
            <a:endParaRPr lang="en-US" dirty="0">
              <a:latin typeface="Times New Roman" panose="02020603050405020304" pitchFamily="18" charset="0"/>
              <a:cs typeface="Times New Roman" panose="02020603050405020304" pitchFamily="18" charset="0"/>
            </a:endParaRPr>
          </a:p>
        </p:txBody>
      </p:sp>
      <p:sp>
        <p:nvSpPr>
          <p:cNvPr id="10" name="Rectangle 9"/>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103729" y="601353"/>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555625"/>
          </a:xfrm>
        </p:spPr>
        <p:txBody>
          <a:bodyPr>
            <a:normAutofit fontScale="90000"/>
          </a:bodyPr>
          <a:lstStyle/>
          <a:p>
            <a:r>
              <a:rPr lang="en-US"/>
              <a:t>   </a:t>
            </a:r>
            <a:endParaRPr lang="en-US"/>
          </a:p>
        </p:txBody>
      </p:sp>
      <p:sp>
        <p:nvSpPr>
          <p:cNvPr id="7" name="Rectangle 6"/>
          <p:cNvSpPr/>
          <p:nvPr/>
        </p:nvSpPr>
        <p:spPr>
          <a:xfrm>
            <a:off x="268605" y="920334"/>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10300" y="920235"/>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713525" y="2190083"/>
            <a:ext cx="10993549" cy="14750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600" dirty="0">
              <a:solidFill>
                <a:srgbClr val="002060"/>
              </a:solidFill>
              <a:latin typeface="Times New Roman" panose="02020603050405020304" pitchFamily="18" charset="0"/>
              <a:cs typeface="Times New Roman" panose="02020603050405020304" pitchFamily="18" charset="0"/>
            </a:endParaRPr>
          </a:p>
        </p:txBody>
      </p:sp>
      <p:sp>
        <p:nvSpPr>
          <p:cNvPr id="10" name="Title 1"/>
          <p:cNvSpPr txBox="1"/>
          <p:nvPr/>
        </p:nvSpPr>
        <p:spPr>
          <a:xfrm>
            <a:off x="713740" y="1242060"/>
            <a:ext cx="10993120" cy="486981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l">
              <a:lnSpc>
                <a:spcPct val="150000"/>
              </a:lnSpc>
              <a:buClr>
                <a:srgbClr val="44546A"/>
              </a:buClr>
              <a:buFont typeface="Wingdings" panose="05000000000000000000" charset="0"/>
              <a:buChar char="ü"/>
            </a:pPr>
            <a:r>
              <a:rPr lang="en-US" sz="2400" dirty="0">
                <a:solidFill>
                  <a:srgbClr val="C00000"/>
                </a:solidFill>
                <a:latin typeface="Times New Roman" panose="02020603050405020304" pitchFamily="18" charset="0"/>
                <a:cs typeface="Times New Roman" panose="02020603050405020304" pitchFamily="18" charset="0"/>
                <a:sym typeface="+mn-ea"/>
              </a:rPr>
              <a:t>Query optimization</a:t>
            </a:r>
            <a:r>
              <a:rPr lang="en-US" sz="2400" dirty="0">
                <a:latin typeface="Times New Roman" panose="02020603050405020304" pitchFamily="18" charset="0"/>
                <a:cs typeface="Times New Roman" panose="02020603050405020304" pitchFamily="18" charset="0"/>
                <a:sym typeface="+mn-ea"/>
              </a:rPr>
              <a:t> is the process of </a:t>
            </a:r>
            <a:r>
              <a:rPr lang="en-US" sz="2400" dirty="0">
                <a:solidFill>
                  <a:srgbClr val="C00000"/>
                </a:solidFill>
                <a:latin typeface="Times New Roman" panose="02020603050405020304" pitchFamily="18" charset="0"/>
                <a:cs typeface="Times New Roman" panose="02020603050405020304" pitchFamily="18" charset="0"/>
                <a:sym typeface="+mn-ea"/>
              </a:rPr>
              <a:t>finding the best query execution plan</a:t>
            </a:r>
            <a:r>
              <a:rPr lang="en-US" sz="2400" dirty="0">
                <a:latin typeface="Times New Roman" panose="02020603050405020304" pitchFamily="18" charset="0"/>
                <a:cs typeface="Times New Roman" panose="02020603050405020304" pitchFamily="18" charset="0"/>
                <a:sym typeface="+mn-ea"/>
              </a:rPr>
              <a:t> for a given query, based on various factors such as the </a:t>
            </a:r>
            <a:r>
              <a:rPr lang="en-US" sz="2400" dirty="0">
                <a:solidFill>
                  <a:srgbClr val="C00000"/>
                </a:solidFill>
                <a:latin typeface="Times New Roman" panose="02020603050405020304" pitchFamily="18" charset="0"/>
                <a:cs typeface="Times New Roman" panose="02020603050405020304" pitchFamily="18" charset="0"/>
                <a:sym typeface="+mn-ea"/>
              </a:rPr>
              <a:t>schema, the data, the indexes, the statistics, and the system resources. </a:t>
            </a:r>
            <a:endParaRPr lang="en-US" sz="2400" dirty="0">
              <a:solidFill>
                <a:srgbClr val="C00000"/>
              </a:solidFill>
              <a:latin typeface="Times New Roman" panose="02020603050405020304" pitchFamily="18" charset="0"/>
              <a:cs typeface="Times New Roman" panose="02020603050405020304" pitchFamily="18" charset="0"/>
            </a:endParaRPr>
          </a:p>
          <a:p>
            <a:pPr marL="342900" indent="-342900" algn="l">
              <a:lnSpc>
                <a:spcPct val="150000"/>
              </a:lnSpc>
              <a:buClr>
                <a:srgbClr val="44546A"/>
              </a:buClr>
              <a:buFont typeface="Wingdings" panose="05000000000000000000" charset="0"/>
              <a:buChar char="ü"/>
            </a:pPr>
            <a:r>
              <a:rPr lang="en-US" sz="2400" dirty="0">
                <a:latin typeface="Times New Roman" panose="02020603050405020304" pitchFamily="18" charset="0"/>
                <a:cs typeface="Times New Roman" panose="02020603050405020304" pitchFamily="18" charset="0"/>
                <a:sym typeface="+mn-ea"/>
              </a:rPr>
              <a:t>Query optimization aims to </a:t>
            </a:r>
            <a:r>
              <a:rPr lang="en-US" sz="2400" dirty="0">
                <a:solidFill>
                  <a:srgbClr val="C00000"/>
                </a:solidFill>
                <a:latin typeface="Times New Roman" panose="02020603050405020304" pitchFamily="18" charset="0"/>
                <a:cs typeface="Times New Roman" panose="02020603050405020304" pitchFamily="18" charset="0"/>
                <a:sym typeface="+mn-ea"/>
              </a:rPr>
              <a:t>minimize</a:t>
            </a:r>
            <a:r>
              <a:rPr lang="en-US" sz="2400" dirty="0">
                <a:latin typeface="Times New Roman" panose="02020603050405020304" pitchFamily="18" charset="0"/>
                <a:cs typeface="Times New Roman" panose="02020603050405020304" pitchFamily="18" charset="0"/>
                <a:sym typeface="+mn-ea"/>
              </a:rPr>
              <a:t> the </a:t>
            </a:r>
            <a:r>
              <a:rPr lang="en-US" sz="2400" dirty="0">
                <a:solidFill>
                  <a:srgbClr val="C00000"/>
                </a:solidFill>
                <a:latin typeface="Times New Roman" panose="02020603050405020304" pitchFamily="18" charset="0"/>
                <a:cs typeface="Times New Roman" panose="02020603050405020304" pitchFamily="18" charset="0"/>
                <a:sym typeface="+mn-ea"/>
              </a:rPr>
              <a:t>cost of executing the query</a:t>
            </a:r>
            <a:r>
              <a:rPr lang="en-US" sz="2400" dirty="0">
                <a:latin typeface="Times New Roman" panose="02020603050405020304" pitchFamily="18" charset="0"/>
                <a:cs typeface="Times New Roman" panose="02020603050405020304" pitchFamily="18" charset="0"/>
                <a:sym typeface="+mn-ea"/>
              </a:rPr>
              <a:t>, which can be measured by the </a:t>
            </a:r>
            <a:r>
              <a:rPr lang="en-US" sz="2400" dirty="0">
                <a:solidFill>
                  <a:srgbClr val="C00000"/>
                </a:solidFill>
                <a:latin typeface="Times New Roman" panose="02020603050405020304" pitchFamily="18" charset="0"/>
                <a:cs typeface="Times New Roman" panose="02020603050405020304" pitchFamily="18" charset="0"/>
                <a:sym typeface="+mn-ea"/>
              </a:rPr>
              <a:t>time</a:t>
            </a:r>
            <a:r>
              <a:rPr lang="en-US" sz="2400" dirty="0">
                <a:latin typeface="Times New Roman" panose="02020603050405020304" pitchFamily="18" charset="0"/>
                <a:cs typeface="Times New Roman" panose="02020603050405020304" pitchFamily="18" charset="0"/>
                <a:sym typeface="+mn-ea"/>
              </a:rPr>
              <a:t>, the </a:t>
            </a:r>
            <a:r>
              <a:rPr lang="en-US" sz="2400" dirty="0">
                <a:solidFill>
                  <a:srgbClr val="C00000"/>
                </a:solidFill>
                <a:latin typeface="Times New Roman" panose="02020603050405020304" pitchFamily="18" charset="0"/>
                <a:cs typeface="Times New Roman" panose="02020603050405020304" pitchFamily="18" charset="0"/>
                <a:sym typeface="+mn-ea"/>
              </a:rPr>
              <a:t>disk I/O, the memory usage</a:t>
            </a:r>
            <a:r>
              <a:rPr lang="en-US" sz="2400" dirty="0">
                <a:latin typeface="Times New Roman" panose="02020603050405020304" pitchFamily="18" charset="0"/>
                <a:cs typeface="Times New Roman" panose="02020603050405020304" pitchFamily="18" charset="0"/>
                <a:sym typeface="+mn-ea"/>
              </a:rPr>
              <a:t>, or </a:t>
            </a:r>
            <a:r>
              <a:rPr lang="en-US" sz="2400" dirty="0">
                <a:solidFill>
                  <a:srgbClr val="C00000"/>
                </a:solidFill>
                <a:latin typeface="Times New Roman" panose="02020603050405020304" pitchFamily="18" charset="0"/>
                <a:cs typeface="Times New Roman" panose="02020603050405020304" pitchFamily="18" charset="0"/>
                <a:sym typeface="+mn-ea"/>
              </a:rPr>
              <a:t>the network traffic</a:t>
            </a:r>
            <a:r>
              <a:rPr lang="en-US" sz="2400" dirty="0">
                <a:latin typeface="Times New Roman" panose="02020603050405020304" pitchFamily="18" charset="0"/>
                <a:cs typeface="Times New Roman" panose="02020603050405020304" pitchFamily="18" charset="0"/>
                <a:sym typeface="+mn-ea"/>
              </a:rPr>
              <a:t>.</a:t>
            </a:r>
            <a:endParaRPr lang="en-US" sz="2400" dirty="0">
              <a:latin typeface="Times New Roman" panose="02020603050405020304" pitchFamily="18" charset="0"/>
              <a:cs typeface="Times New Roman" panose="02020603050405020304" pitchFamily="18" charset="0"/>
              <a:sym typeface="+mn-ea"/>
            </a:endParaRPr>
          </a:p>
          <a:p>
            <a:pPr indent="0" algn="l">
              <a:buClr>
                <a:srgbClr val="44546A"/>
              </a:buClr>
              <a:buFont typeface="Wingdings" panose="05000000000000000000" charset="0"/>
            </a:pPr>
            <a:endParaRPr lang="en-US" sz="2400" dirty="0">
              <a:solidFill>
                <a:schemeClr val="tx1"/>
              </a:solidFill>
              <a:latin typeface="Times New Roman" panose="02020603050405020304" pitchFamily="18" charset="0"/>
              <a:cs typeface="Times New Roman" panose="02020603050405020304" pitchFamily="18" charset="0"/>
            </a:endParaRPr>
          </a:p>
          <a:p>
            <a:pPr marL="342900" indent="-342900" algn="l">
              <a:buClr>
                <a:srgbClr val="44546A"/>
              </a:buClr>
              <a:buFont typeface="Wingdings" panose="05000000000000000000" charset="0"/>
              <a:buChar char="ü"/>
            </a:pPr>
            <a:endParaRPr lang="en-US" sz="2400" dirty="0">
              <a:solidFill>
                <a:schemeClr val="tx1"/>
              </a:solidFill>
              <a:latin typeface="Times New Roman" panose="02020603050405020304" pitchFamily="18" charset="0"/>
              <a:cs typeface="Times New Roman" panose="02020603050405020304" pitchFamily="18" charset="0"/>
            </a:endParaRPr>
          </a:p>
          <a:p>
            <a:pPr indent="0" algn="l">
              <a:buClr>
                <a:srgbClr val="44546A"/>
              </a:buClr>
              <a:buFont typeface="Wingdings" panose="05000000000000000000" charset="0"/>
            </a:pPr>
            <a:endParaRPr lang="en-US" sz="2400" b="1" dirty="0">
              <a:solidFill>
                <a:srgbClr val="002060"/>
              </a:solidFill>
              <a:latin typeface="Adobe Kaiti Std R" panose="02020400000000000000" pitchFamily="18" charset="-128"/>
              <a:ea typeface="Adobe Kaiti Std R" panose="02020400000000000000" pitchFamily="18" charset="-128"/>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5" name="Title 1"/>
          <p:cNvSpPr txBox="1"/>
          <p:nvPr/>
        </p:nvSpPr>
        <p:spPr>
          <a:xfrm>
            <a:off x="713740" y="326390"/>
            <a:ext cx="10993755" cy="67437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3200" b="1" dirty="0">
                <a:solidFill>
                  <a:schemeClr val="bg1"/>
                </a:solidFill>
                <a:latin typeface="Adobe Kaiti Std R" panose="02020400000000000000" pitchFamily="18" charset="-128"/>
                <a:ea typeface="Adobe Kaiti Std R" panose="02020400000000000000" pitchFamily="18" charset="-128"/>
              </a:rPr>
              <a:t>What is</a:t>
            </a:r>
            <a:r>
              <a:rPr lang="en-US" sz="3200" b="1" dirty="0">
                <a:solidFill>
                  <a:srgbClr val="002060"/>
                </a:solidFill>
                <a:latin typeface="Adobe Kaiti Std R" panose="02020400000000000000" pitchFamily="18" charset="-128"/>
                <a:ea typeface="Adobe Kaiti Std R" panose="02020400000000000000" pitchFamily="18" charset="-128"/>
              </a:rPr>
              <a:t> Query Optimization</a:t>
            </a:r>
            <a:r>
              <a:rPr lang="en-US" sz="3200" b="1" dirty="0">
                <a:solidFill>
                  <a:schemeClr val="bg1"/>
                </a:solidFill>
                <a:latin typeface="Adobe Kaiti Std R" panose="02020400000000000000" pitchFamily="18" charset="-128"/>
                <a:ea typeface="Adobe Kaiti Std R" panose="02020400000000000000" pitchFamily="18" charset="-128"/>
              </a:rPr>
              <a:t>?</a:t>
            </a:r>
            <a:endParaRPr lang="en-US" sz="3200" b="1" dirty="0">
              <a:solidFill>
                <a:schemeClr val="bg1"/>
              </a:solidFill>
              <a:latin typeface="Adobe Kaiti Std R" panose="02020400000000000000" pitchFamily="18" charset="-128"/>
              <a:ea typeface="Adobe Kaiti Std R" panose="02020400000000000000" pitchFamily="18" charset="-128"/>
            </a:endParaRPr>
          </a:p>
        </p:txBody>
      </p:sp>
    </p:spTree>
  </p:cSld>
  <p:clrMapOvr>
    <a:masterClrMapping/>
  </p:clrMapOvr>
  <p:transition spd="slow">
    <p:cove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7365" y="1157605"/>
            <a:ext cx="5518785" cy="9017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429375" y="1157605"/>
            <a:ext cx="5542280" cy="9017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507365" y="215900"/>
            <a:ext cx="10993755" cy="9417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2400" dirty="0">
              <a:solidFill>
                <a:srgbClr val="002060"/>
              </a:solidFill>
              <a:latin typeface="Times New Roman" panose="02020603050405020304" pitchFamily="18" charset="0"/>
              <a:cs typeface="Times New Roman" panose="02020603050405020304" pitchFamily="18" charset="0"/>
            </a:endParaRPr>
          </a:p>
          <a:p>
            <a:pPr algn="ctr"/>
            <a:r>
              <a:rPr lang="en-US" sz="24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Query Optimization</a:t>
            </a:r>
            <a:endParaRPr lang="en-US" sz="24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 name="Title 1"/>
          <p:cNvSpPr txBox="1"/>
          <p:nvPr/>
        </p:nvSpPr>
        <p:spPr>
          <a:xfrm>
            <a:off x="507365" y="1383030"/>
            <a:ext cx="11174095" cy="483806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50000"/>
              </a:lnSpc>
            </a:pP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Problem of query optimization is to find the </a:t>
            </a:r>
            <a:r>
              <a:rPr lang="en-US" sz="2400" dirty="0">
                <a:solidFill>
                  <a:srgbClr val="C00000"/>
                </a:solidFill>
                <a:latin typeface="Times New Roman" panose="02020603050405020304" pitchFamily="18" charset="0"/>
                <a:ea typeface="Adobe Kaiti Std R" panose="02020400000000000000" pitchFamily="18" charset="-128"/>
                <a:cs typeface="Times New Roman" panose="02020603050405020304" pitchFamily="18" charset="0"/>
              </a:rPr>
              <a:t>sequence of steps</a:t>
            </a: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 that produces the answer to user request in the </a:t>
            </a:r>
            <a:r>
              <a:rPr lang="en-US" sz="2400" dirty="0">
                <a:solidFill>
                  <a:srgbClr val="FF0000"/>
                </a:solidFill>
                <a:latin typeface="Times New Roman" panose="02020603050405020304" pitchFamily="18" charset="0"/>
                <a:ea typeface="Adobe Kaiti Std R" panose="02020400000000000000" pitchFamily="18" charset="-128"/>
                <a:cs typeface="Times New Roman" panose="02020603050405020304" pitchFamily="18" charset="0"/>
              </a:rPr>
              <a:t>most efficient manner</a:t>
            </a: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 given the database structure. </a:t>
            </a:r>
            <a:endPar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50000"/>
              </a:lnSpc>
            </a:pP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The performance of a query is affected by:-  </a:t>
            </a:r>
            <a:endPar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endParaRPr>
          </a:p>
          <a:p>
            <a:pPr marL="800100" lvl="1" indent="-342900" algn="l">
              <a:lnSpc>
                <a:spcPct val="150000"/>
              </a:lnSpc>
              <a:buClr>
                <a:srgbClr val="44546A"/>
              </a:buClr>
              <a:buFont typeface="Wingdings" panose="05000000000000000000" charset="0"/>
              <a:buChar char="ü"/>
            </a:pPr>
            <a:r>
              <a:rPr lang="en-US" sz="20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the</a:t>
            </a:r>
            <a:r>
              <a:rPr lang="en-US" sz="2000" dirty="0">
                <a:solidFill>
                  <a:srgbClr val="C00000"/>
                </a:solidFill>
                <a:latin typeface="Times New Roman" panose="02020603050405020304" pitchFamily="18" charset="0"/>
                <a:ea typeface="Adobe Kaiti Std R" panose="02020400000000000000" pitchFamily="18" charset="-128"/>
                <a:cs typeface="Times New Roman" panose="02020603050405020304" pitchFamily="18" charset="0"/>
              </a:rPr>
              <a:t> tables or queries</a:t>
            </a:r>
            <a:r>
              <a:rPr lang="en-US" sz="20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 that underlies the query,</a:t>
            </a:r>
            <a:endParaRPr lang="en-US" sz="20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endParaRPr>
          </a:p>
          <a:p>
            <a:pPr marL="800100" lvl="1" indent="-342900" algn="l">
              <a:lnSpc>
                <a:spcPct val="150000"/>
              </a:lnSpc>
              <a:buClr>
                <a:srgbClr val="44546A"/>
              </a:buClr>
              <a:buFont typeface="Wingdings" panose="05000000000000000000" charset="0"/>
              <a:buChar char="ü"/>
            </a:pPr>
            <a:r>
              <a:rPr lang="en-US" sz="20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the </a:t>
            </a:r>
            <a:r>
              <a:rPr lang="en-US" sz="2000" dirty="0">
                <a:solidFill>
                  <a:srgbClr val="C00000"/>
                </a:solidFill>
                <a:latin typeface="Times New Roman" panose="02020603050405020304" pitchFamily="18" charset="0"/>
                <a:ea typeface="Adobe Kaiti Std R" panose="02020400000000000000" pitchFamily="18" charset="-128"/>
                <a:cs typeface="Times New Roman" panose="02020603050405020304" pitchFamily="18" charset="0"/>
              </a:rPr>
              <a:t>complexity</a:t>
            </a:r>
            <a:r>
              <a:rPr lang="en-US" sz="20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 of the query. </a:t>
            </a:r>
            <a:endParaRPr lang="en-US" sz="20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endParaRPr>
          </a:p>
          <a:p>
            <a:pPr algn="l">
              <a:lnSpc>
                <a:spcPct val="150000"/>
              </a:lnSpc>
            </a:pP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Given a request for data manipulation or retrieval, an </a:t>
            </a:r>
            <a:r>
              <a:rPr lang="en-US" sz="2400" dirty="0">
                <a:solidFill>
                  <a:srgbClr val="FF0000"/>
                </a:solidFill>
                <a:latin typeface="Times New Roman" panose="02020603050405020304" pitchFamily="18" charset="0"/>
                <a:ea typeface="Adobe Kaiti Std R" panose="02020400000000000000" pitchFamily="18" charset="-128"/>
                <a:cs typeface="Times New Roman" panose="02020603050405020304" pitchFamily="18" charset="0"/>
              </a:rPr>
              <a:t>optimizer will choose an optimal plan</a:t>
            </a: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 for evaluating the request from among the manifold </a:t>
            </a:r>
            <a:r>
              <a:rPr lang="en-US" sz="2400" dirty="0">
                <a:solidFill>
                  <a:srgbClr val="FF0000"/>
                </a:solidFill>
                <a:latin typeface="Times New Roman" panose="02020603050405020304" pitchFamily="18" charset="0"/>
                <a:ea typeface="Adobe Kaiti Std R" panose="02020400000000000000" pitchFamily="18" charset="-128"/>
                <a:cs typeface="Times New Roman" panose="02020603050405020304" pitchFamily="18" charset="0"/>
              </a:rPr>
              <a:t>alternative strategies</a:t>
            </a:r>
            <a:r>
              <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rPr>
              <a:t>. i.e. there are many ways (access paths) for accessing desired file/record. </a:t>
            </a:r>
            <a:endParaRPr lang="en-US" sz="2400" dirty="0">
              <a:solidFill>
                <a:schemeClr val="tx1"/>
              </a:solidFill>
              <a:latin typeface="Times New Roman" panose="02020603050405020304" pitchFamily="18" charset="0"/>
              <a:ea typeface="Adobe Kaiti Std R" panose="02020400000000000000" pitchFamily="18" charset="-128"/>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17500" y="160041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10300" y="159905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713740" y="2190115"/>
            <a:ext cx="9466580" cy="1475105"/>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600" dirty="0">
              <a:solidFill>
                <a:srgbClr val="002060"/>
              </a:solidFill>
              <a:latin typeface="Times New Roman" panose="02020603050405020304" pitchFamily="18" charset="0"/>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1299210" y="2190115"/>
            <a:ext cx="9761220" cy="2724785"/>
          </a:xfrm>
          <a:prstGeom prst="rect">
            <a:avLst/>
          </a:prstGeom>
          <a:noFill/>
        </p:spPr>
        <p:txBody>
          <a:bodyPr wrap="square" rtlCol="0" anchor="t">
            <a:noAutofit/>
          </a:bodyPr>
          <a:lstStyle/>
          <a:p>
            <a:r>
              <a:rPr lang="en-US" sz="2400" dirty="0"/>
              <a:t>What are Transformational rules for relational Algebra?</a:t>
            </a:r>
            <a:endParaRPr lang="en-US" sz="2400" dirty="0"/>
          </a:p>
          <a:p>
            <a:endParaRPr lang="en-US" sz="2400" dirty="0"/>
          </a:p>
          <a:p>
            <a:r>
              <a:rPr lang="en-US" sz="2400" dirty="0"/>
              <a:t>Reference:- Fundamentals of Database  Systems</a:t>
            </a:r>
            <a:endParaRPr lang="en-US" sz="2400" dirty="0"/>
          </a:p>
          <a:p>
            <a:r>
              <a:rPr lang="en-US" sz="2400" dirty="0"/>
              <a:t>SIXTH EDITION (page 706 -711)</a:t>
            </a:r>
            <a:endParaRPr lang="en-US" sz="2400" dirty="0"/>
          </a:p>
          <a:p>
            <a:r>
              <a:rPr lang="en-US" sz="2400" dirty="0"/>
              <a:t>by:- Ramez Elmasri and Shamkant B. Navathe</a:t>
            </a:r>
            <a:endParaRPr lang="en-US" sz="2400" dirty="0"/>
          </a:p>
        </p:txBody>
      </p:sp>
      <p:sp>
        <p:nvSpPr>
          <p:cNvPr id="4" name="Text Box 3"/>
          <p:cNvSpPr txBox="1"/>
          <p:nvPr/>
        </p:nvSpPr>
        <p:spPr>
          <a:xfrm>
            <a:off x="2112010" y="829945"/>
            <a:ext cx="6994525" cy="583565"/>
          </a:xfrm>
          <a:prstGeom prst="rect">
            <a:avLst/>
          </a:prstGeom>
          <a:noFill/>
        </p:spPr>
        <p:txBody>
          <a:bodyPr wrap="square" rtlCol="0" anchor="t">
            <a:spAutoFit/>
          </a:bodyPr>
          <a:lstStyle/>
          <a:p>
            <a:r>
              <a:rPr lang="en-US" sz="3200">
                <a:effectLst>
                  <a:outerShdw blurRad="38100" dist="38100" dir="2700000" algn="tl">
                    <a:srgbClr val="000000">
                      <a:alpha val="43137"/>
                    </a:srgbClr>
                  </a:outerShdw>
                </a:effectLst>
                <a:sym typeface="+mn-ea"/>
              </a:rPr>
              <a:t>Reading Assignment</a:t>
            </a:r>
            <a:endParaRPr lang="en-US" sz="3200">
              <a:effectLst>
                <a:outerShdw blurRad="38100" dist="38100" dir="2700000" algn="tl">
                  <a:srgbClr val="000000">
                    <a:alpha val="43137"/>
                  </a:srgbClr>
                </a:outerShdw>
              </a:effectLst>
              <a:sym typeface="+mn-ea"/>
            </a:endParaRPr>
          </a:p>
        </p:txBody>
      </p:sp>
    </p:spTree>
  </p:cSld>
  <p:clrMapOvr>
    <a:masterClrMapping/>
  </p:clrMapOvr>
  <p:transition spd="slow">
    <p:cove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84979" y="1214984"/>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95682" y="126011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713525" y="2190083"/>
            <a:ext cx="10993549" cy="14750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600" dirty="0">
              <a:solidFill>
                <a:srgbClr val="002060"/>
              </a:solidFill>
              <a:latin typeface="Times New Roman" panose="02020603050405020304" pitchFamily="18" charset="0"/>
              <a:cs typeface="Times New Roman" panose="02020603050405020304" pitchFamily="18" charset="0"/>
            </a:endParaRPr>
          </a:p>
        </p:txBody>
      </p:sp>
      <p:sp>
        <p:nvSpPr>
          <p:cNvPr id="10" name="Title 1"/>
          <p:cNvSpPr txBox="1"/>
          <p:nvPr/>
        </p:nvSpPr>
        <p:spPr>
          <a:xfrm>
            <a:off x="598805" y="537210"/>
            <a:ext cx="10993755" cy="564515"/>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effectLst>
                  <a:outerShdw blurRad="38100" dist="38100" dir="2700000" algn="tl">
                    <a:srgbClr val="000000">
                      <a:alpha val="43137"/>
                    </a:srgbClr>
                  </a:outerShdw>
                </a:effectLst>
                <a:sym typeface="+mn-ea"/>
              </a:rPr>
              <a:t>Techniques for Query Optimization</a:t>
            </a:r>
            <a:endParaRPr lang="en-US" sz="3200" b="1" dirty="0">
              <a:solidFill>
                <a:srgbClr val="002060"/>
              </a:solidFill>
              <a:effectLst>
                <a:outerShdw blurRad="38100" dist="38100" dir="2700000" algn="tl">
                  <a:srgbClr val="000000">
                    <a:alpha val="43137"/>
                  </a:srgbClr>
                </a:outerShdw>
              </a:effectLst>
              <a:latin typeface="Adobe Kaiti Std R" panose="02020400000000000000" pitchFamily="18" charset="-128"/>
              <a:ea typeface="Adobe Kaiti Std R" panose="02020400000000000000" pitchFamily="18" charset="-128"/>
              <a:sym typeface="+mn-ea"/>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371061" y="1508780"/>
            <a:ext cx="11388821" cy="3354070"/>
          </a:xfrm>
          <a:prstGeom prst="rect">
            <a:avLst/>
          </a:prstGeom>
          <a:noFill/>
        </p:spPr>
        <p:txBody>
          <a:bodyPr wrap="square" rtlCol="0" anchor="t">
            <a:noAutofit/>
          </a:bodyPr>
          <a:lstStyle/>
          <a:p>
            <a:pPr>
              <a:lnSpc>
                <a:spcPct val="150000"/>
              </a:lnSpc>
            </a:pPr>
            <a:r>
              <a:rPr lang="en-US" sz="2400" dirty="0">
                <a:latin typeface="Times New Roman" panose="02020603050405020304" pitchFamily="18" charset="0"/>
                <a:cs typeface="Times New Roman" panose="02020603050405020304" pitchFamily="18" charset="0"/>
              </a:rPr>
              <a:t>Two main Techniques for Query Optimization:</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1.</a:t>
            </a:r>
            <a:r>
              <a:rPr 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Heuristic Rules</a:t>
            </a:r>
            <a:r>
              <a:rPr lang="en-US" sz="2400" dirty="0">
                <a:latin typeface="Times New Roman" panose="02020603050405020304" pitchFamily="18" charset="0"/>
                <a:cs typeface="Times New Roman" panose="02020603050405020304" pitchFamily="18" charset="0"/>
              </a:rPr>
              <a:t>: -Rules for ordering the operations in query optimization.</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2.</a:t>
            </a:r>
            <a:r>
              <a:rPr lang="en-US" sz="24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Cost-Based Optimization</a:t>
            </a:r>
            <a:r>
              <a:rPr lang="en-US" sz="2400" dirty="0"/>
              <a:t>(</a:t>
            </a:r>
            <a:r>
              <a:rPr lang="en-US" sz="2400" i="1" dirty="0">
                <a:solidFill>
                  <a:srgbClr val="002060"/>
                </a:solidFill>
              </a:rPr>
              <a:t>Using Selectivity &amp; Cost Estimates</a:t>
            </a:r>
            <a:r>
              <a:rPr lang="en-US" sz="2400" dirty="0"/>
              <a:t>) </a:t>
            </a:r>
            <a:r>
              <a:rPr lang="en-US" sz="2400" dirty="0">
                <a:latin typeface="Times New Roman" panose="02020603050405020304" pitchFamily="18" charset="0"/>
                <a:cs typeface="Times New Roman" panose="02020603050405020304" pitchFamily="18" charset="0"/>
              </a:rPr>
              <a:t>: -It estimates cost of different execution strategies and chooses the execution plan with lowest execution cost.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ransition spd="slow" advTm="0">
    <p:cove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19710" y="823179"/>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00445" y="823080"/>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454025" y="930275"/>
            <a:ext cx="11543030" cy="562546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lnSpc>
                <a:spcPct val="100000"/>
              </a:lnSpc>
            </a:pPr>
            <a:r>
              <a:rPr lang="en-US" sz="2400" dirty="0">
                <a:solidFill>
                  <a:schemeClr val="tx1"/>
                </a:solidFill>
                <a:latin typeface="Times New Roman" panose="02020603050405020304" pitchFamily="18" charset="0"/>
                <a:cs typeface="Times New Roman" panose="02020603050405020304" pitchFamily="18" charset="0"/>
              </a:rPr>
              <a:t>The heuristic query optimizer will transform  </a:t>
            </a:r>
            <a:r>
              <a:rPr lang="en-US" sz="2400" dirty="0">
                <a:solidFill>
                  <a:srgbClr val="FF0000"/>
                </a:solidFill>
                <a:latin typeface="Times New Roman" panose="02020603050405020304" pitchFamily="18" charset="0"/>
                <a:cs typeface="Times New Roman" panose="02020603050405020304" pitchFamily="18" charset="0"/>
              </a:rPr>
              <a:t>initial query tree into an equivalent final  query tree</a:t>
            </a:r>
            <a:r>
              <a:rPr lang="en-US" sz="2400" dirty="0">
                <a:solidFill>
                  <a:schemeClr val="tx1"/>
                </a:solidFill>
                <a:latin typeface="Times New Roman" panose="02020603050405020304" pitchFamily="18" charset="0"/>
                <a:cs typeface="Times New Roman" panose="02020603050405020304" pitchFamily="18" charset="0"/>
              </a:rPr>
              <a:t> that is efficient to execute.The optimizer must include </a:t>
            </a:r>
            <a:r>
              <a:rPr lang="en-US" sz="2400" dirty="0">
                <a:solidFill>
                  <a:srgbClr val="FF0000"/>
                </a:solidFill>
                <a:latin typeface="Times New Roman" panose="02020603050405020304" pitchFamily="18" charset="0"/>
                <a:cs typeface="Times New Roman" panose="02020603050405020304" pitchFamily="18" charset="0"/>
              </a:rPr>
              <a:t>rules for equivalence among relational algebra expression</a:t>
            </a:r>
            <a:r>
              <a:rPr lang="en-US" sz="2400" dirty="0">
                <a:solidFill>
                  <a:schemeClr val="tx1"/>
                </a:solidFill>
                <a:latin typeface="Times New Roman" panose="02020603050405020304" pitchFamily="18" charset="0"/>
                <a:cs typeface="Times New Roman" panose="02020603050405020304" pitchFamily="18" charset="0"/>
              </a:rPr>
              <a:t>s that can be applied to transform the initial tree into the final, optimized query tree.</a:t>
            </a:r>
            <a:endParaRPr lang="en-US" sz="2400" dirty="0">
              <a:solidFill>
                <a:schemeClr val="tx1"/>
              </a:solidFill>
              <a:latin typeface="Times New Roman" panose="02020603050405020304" pitchFamily="18" charset="0"/>
              <a:cs typeface="Times New Roman" panose="02020603050405020304" pitchFamily="18" charset="0"/>
            </a:endParaRPr>
          </a:p>
          <a:p>
            <a:pPr algn="l">
              <a:lnSpc>
                <a:spcPct val="100000"/>
              </a:lnSpc>
            </a:pPr>
            <a:r>
              <a:rPr lang="en-US" sz="2400" dirty="0">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Processes/steps for heuristics optimization: </a:t>
            </a:r>
            <a:endParaRPr lang="en-US" sz="2400" dirty="0">
              <a:solidFill>
                <a:schemeClr val="tx1"/>
              </a:solidFill>
              <a:latin typeface="Times New Roman" panose="02020603050405020304" pitchFamily="18" charset="0"/>
              <a:cs typeface="Times New Roman" panose="02020603050405020304" pitchFamily="18" charset="0"/>
            </a:endParaRPr>
          </a:p>
          <a:p>
            <a:pPr algn="l">
              <a:lnSpc>
                <a:spcPct val="100000"/>
              </a:lnSpc>
            </a:pPr>
            <a:r>
              <a:rPr lang="en-US" sz="2400" dirty="0">
                <a:latin typeface="Times New Roman" panose="02020603050405020304" pitchFamily="18" charset="0"/>
                <a:cs typeface="Times New Roman" panose="02020603050405020304" pitchFamily="18" charset="0"/>
              </a:rPr>
              <a:t>1. Break up SELECT operations with conjunctive conditions into a cascade of SELECT  operations </a:t>
            </a:r>
            <a:endParaRPr lang="en-US" sz="2400" dirty="0">
              <a:latin typeface="Times New Roman" panose="02020603050405020304" pitchFamily="18" charset="0"/>
              <a:cs typeface="Times New Roman" panose="02020603050405020304" pitchFamily="18" charset="0"/>
            </a:endParaRPr>
          </a:p>
          <a:p>
            <a:pPr algn="l">
              <a:lnSpc>
                <a:spcPct val="100000"/>
              </a:lnSpc>
            </a:pPr>
            <a:r>
              <a:rPr lang="en-US" sz="2400" dirty="0">
                <a:latin typeface="Times New Roman" panose="02020603050405020304" pitchFamily="18" charset="0"/>
                <a:cs typeface="Times New Roman" panose="02020603050405020304" pitchFamily="18" charset="0"/>
              </a:rPr>
              <a:t>2. Using the commutativity of SELECT with other operations, move each SELECT operation as  far down the query tree as is permitted by the attributes involved in the select condition</a:t>
            </a:r>
            <a:endParaRPr lang="en-US" sz="2400" dirty="0">
              <a:latin typeface="Times New Roman" panose="02020603050405020304" pitchFamily="18" charset="0"/>
              <a:cs typeface="Times New Roman" panose="02020603050405020304" pitchFamily="18" charset="0"/>
            </a:endParaRPr>
          </a:p>
          <a:p>
            <a:pPr algn="l">
              <a:lnSpc>
                <a:spcPct val="100000"/>
              </a:lnSpc>
            </a:pPr>
            <a:r>
              <a:rPr lang="en-US" sz="2400" dirty="0">
                <a:latin typeface="Times New Roman" panose="02020603050405020304" pitchFamily="18" charset="0"/>
                <a:cs typeface="Times New Roman" panose="02020603050405020304" pitchFamily="18" charset="0"/>
              </a:rPr>
              <a:t>3. Using commutativity and associativity of binary operations, rearrange the leaf nodes of the  tree </a:t>
            </a:r>
            <a:endParaRPr lang="en-US" sz="2400" dirty="0">
              <a:latin typeface="Times New Roman" panose="02020603050405020304" pitchFamily="18" charset="0"/>
              <a:cs typeface="Times New Roman" panose="02020603050405020304" pitchFamily="18" charset="0"/>
            </a:endParaRPr>
          </a:p>
          <a:p>
            <a:pPr algn="l">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3293428" y="339725"/>
            <a:ext cx="4439285" cy="460375"/>
          </a:xfrm>
          <a:prstGeom prst="rect">
            <a:avLst/>
          </a:prstGeom>
          <a:noFill/>
        </p:spPr>
        <p:txBody>
          <a:bodyPr wrap="none" rtlCol="0" anchor="t">
            <a:spAutoFit/>
          </a:bodyPr>
          <a:lstStyle/>
          <a:p>
            <a:pPr algn="ctr"/>
            <a:r>
              <a:rPr lang="en-US" sz="2400"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Heuristic Query Tree Optimization</a:t>
            </a:r>
            <a:endParaRPr lang="en-US" sz="2400"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endParaRPr>
          </a:p>
        </p:txBody>
      </p:sp>
    </p:spTree>
  </p:cSld>
  <p:clrMapOvr>
    <a:masterClrMapping/>
  </p:clrMapOvr>
  <p:transition spd="slow">
    <p:cove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544512"/>
          </a:xfrm>
        </p:spPr>
        <p:txBody>
          <a:bodyPr>
            <a:noAutofit/>
          </a:bodyPr>
          <a:lstStyle/>
          <a:p>
            <a:pPr algn="ctr"/>
            <a:r>
              <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Cont’d...</a:t>
            </a:r>
            <a:endParaRPr lang="en-US" sz="3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484505" y="1351915"/>
            <a:ext cx="10970260" cy="4351655"/>
          </a:xfrm>
        </p:spPr>
        <p:txBody>
          <a:bodyPr>
            <a:noAutofit/>
          </a:bodyPr>
          <a:lstStyle/>
          <a:p>
            <a:pPr marL="0" indent="0" algn="l">
              <a:lnSpc>
                <a:spcPct val="150000"/>
              </a:lnSpc>
              <a:buNone/>
            </a:pPr>
            <a:r>
              <a:rPr lang="en-US" sz="2400" dirty="0">
                <a:latin typeface="Times New Roman" panose="02020603050405020304" pitchFamily="18" charset="0"/>
                <a:cs typeface="Times New Roman" panose="02020603050405020304" pitchFamily="18" charset="0"/>
                <a:sym typeface="+mn-ea"/>
              </a:rPr>
              <a:t>4. Combine a CARTESIAN PRODUCT operation with a subsequent SELECT operation in the tree into a JOIN operation, if the condition represents a join condition </a:t>
            </a:r>
            <a:endParaRPr lang="en-US" sz="2400" dirty="0">
              <a:latin typeface="Times New Roman" panose="02020603050405020304" pitchFamily="18" charset="0"/>
              <a:cs typeface="Times New Roman" panose="02020603050405020304" pitchFamily="18" charset="0"/>
              <a:sym typeface="+mn-ea"/>
            </a:endParaRPr>
          </a:p>
          <a:p>
            <a:pPr marL="0" indent="0" algn="l">
              <a:lnSpc>
                <a:spcPct val="150000"/>
              </a:lnSpc>
              <a:buNone/>
            </a:pPr>
            <a:r>
              <a:rPr lang="en-US" sz="2400" dirty="0">
                <a:latin typeface="Times New Roman" panose="02020603050405020304" pitchFamily="18" charset="0"/>
                <a:cs typeface="Times New Roman" panose="02020603050405020304" pitchFamily="18" charset="0"/>
                <a:sym typeface="+mn-ea"/>
              </a:rPr>
              <a:t>5. Using the cascading of PROJECT and the commuting of PROJECT with other operations, break down and move lists of projection attributes down the tree as far as possible by creating new PROJECT operations as needed </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r>
              <a:rPr lang="en-US" sz="2400" dirty="0">
                <a:latin typeface="Times New Roman" panose="02020603050405020304" pitchFamily="18" charset="0"/>
                <a:cs typeface="Times New Roman" panose="02020603050405020304" pitchFamily="18" charset="0"/>
              </a:rPr>
              <a:t>6. Identify sub-trees that represent groups of operations that can be executed by a single  algorithm </a:t>
            </a:r>
            <a:endParaRPr lang="en-US" sz="2400" dirty="0">
              <a:latin typeface="Times New Roman" panose="02020603050405020304" pitchFamily="18" charset="0"/>
              <a:cs typeface="Times New Roman" panose="02020603050405020304" pitchFamily="18" charset="0"/>
            </a:endParaRPr>
          </a:p>
          <a:p>
            <a:pPr marL="0" indent="0">
              <a:lnSpc>
                <a:spcPct val="150000"/>
              </a:lnSpc>
              <a:buNone/>
            </a:pPr>
            <a:endParaRPr lang="en-US" sz="2400" dirty="0">
              <a:latin typeface="Times New Roman" panose="02020603050405020304" pitchFamily="18" charset="0"/>
              <a:cs typeface="Times New Roman" panose="02020603050405020304" pitchFamily="18" charset="0"/>
            </a:endParaRPr>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sp>
        <p:nvSpPr>
          <p:cNvPr id="6" name="Rectangle 5"/>
          <p:cNvSpPr/>
          <p:nvPr/>
        </p:nvSpPr>
        <p:spPr>
          <a:xfrm>
            <a:off x="305435" y="736757"/>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6096000" y="736757"/>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t>   </a:t>
            </a:r>
            <a:endParaRPr lang="en-US"/>
          </a:p>
        </p:txBody>
      </p:sp>
      <p:sp>
        <p:nvSpPr>
          <p:cNvPr id="7" name="Rectangle 6"/>
          <p:cNvSpPr/>
          <p:nvPr/>
        </p:nvSpPr>
        <p:spPr>
          <a:xfrm>
            <a:off x="713740" y="847944"/>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527165" y="848360"/>
            <a:ext cx="5382260" cy="90170"/>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p:nvPr/>
        </p:nvSpPr>
        <p:spPr>
          <a:xfrm>
            <a:off x="713525" y="2190083"/>
            <a:ext cx="10993549" cy="147501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6600" dirty="0">
              <a:solidFill>
                <a:srgbClr val="002060"/>
              </a:solidFill>
              <a:latin typeface="Times New Roman" panose="02020603050405020304" pitchFamily="18" charset="0"/>
              <a:cs typeface="Times New Roman" panose="02020603050405020304" pitchFamily="18" charset="0"/>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sp>
        <p:nvSpPr>
          <p:cNvPr id="2" name="Text Box 1"/>
          <p:cNvSpPr txBox="1"/>
          <p:nvPr/>
        </p:nvSpPr>
        <p:spPr>
          <a:xfrm>
            <a:off x="469265" y="984885"/>
            <a:ext cx="11482705" cy="4399915"/>
          </a:xfrm>
          <a:prstGeom prst="rect">
            <a:avLst/>
          </a:prstGeom>
          <a:noFill/>
        </p:spPr>
        <p:txBody>
          <a:bodyPr wrap="square" rtlCol="0" anchor="t">
            <a:spAutoFit/>
          </a:bodyPr>
          <a:lstStyle/>
          <a:p>
            <a:pPr>
              <a:lnSpc>
                <a:spcPct val="150000"/>
              </a:lnSpc>
            </a:pPr>
            <a:r>
              <a:rPr lang="en-US" sz="2000">
                <a:solidFill>
                  <a:srgbClr val="C00000"/>
                </a:solidFill>
                <a:latin typeface="Times New Roman" panose="02020603050405020304" pitchFamily="18" charset="0"/>
                <a:cs typeface="Times New Roman" panose="02020603050405020304" pitchFamily="18" charset="0"/>
              </a:rPr>
              <a:t>Query tree:</a:t>
            </a:r>
            <a:endParaRPr lang="en-US" sz="2000">
              <a:solidFill>
                <a:srgbClr val="C00000"/>
              </a:solidFill>
              <a:latin typeface="Times New Roman" panose="02020603050405020304" pitchFamily="18" charset="0"/>
              <a:cs typeface="Times New Roman" panose="02020603050405020304" pitchFamily="18" charset="0"/>
            </a:endParaRPr>
          </a:p>
          <a:p>
            <a:pPr>
              <a:lnSpc>
                <a:spcPct val="150000"/>
              </a:lnSpc>
            </a:pPr>
            <a:r>
              <a:rPr lang="en-US" sz="2000">
                <a:latin typeface="Times New Roman" panose="02020603050405020304" pitchFamily="18" charset="0"/>
                <a:cs typeface="Times New Roman" panose="02020603050405020304" pitchFamily="18" charset="0"/>
              </a:rPr>
              <a:t>A tree data structure that corresponds to a </a:t>
            </a:r>
            <a:r>
              <a:rPr lang="en-US" sz="2000">
                <a:solidFill>
                  <a:srgbClr val="C00000"/>
                </a:solidFill>
                <a:latin typeface="Times New Roman" panose="02020603050405020304" pitchFamily="18" charset="0"/>
                <a:cs typeface="Times New Roman" panose="02020603050405020304" pitchFamily="18" charset="0"/>
              </a:rPr>
              <a:t>relational algebra expression</a:t>
            </a:r>
            <a:r>
              <a:rPr lang="en-US" sz="2000">
                <a:latin typeface="Times New Roman" panose="02020603050405020304" pitchFamily="18" charset="0"/>
                <a:cs typeface="Times New Roman" panose="02020603050405020304" pitchFamily="18" charset="0"/>
              </a:rPr>
              <a:t>. It represents the </a:t>
            </a:r>
            <a:r>
              <a:rPr lang="en-US" sz="2000" u="sng">
                <a:solidFill>
                  <a:srgbClr val="FF0000"/>
                </a:solidFill>
                <a:latin typeface="Times New Roman" panose="02020603050405020304" pitchFamily="18" charset="0"/>
                <a:cs typeface="Times New Roman" panose="02020603050405020304" pitchFamily="18" charset="0"/>
              </a:rPr>
              <a:t>input relations</a:t>
            </a:r>
            <a:r>
              <a:rPr lang="en-US" sz="2000">
                <a:latin typeface="Times New Roman" panose="02020603050405020304" pitchFamily="18" charset="0"/>
                <a:cs typeface="Times New Roman" panose="02020603050405020304" pitchFamily="18" charset="0"/>
              </a:rPr>
              <a:t> of the query as </a:t>
            </a:r>
            <a:r>
              <a:rPr lang="en-US" sz="2000" u="sng">
                <a:solidFill>
                  <a:srgbClr val="C00000"/>
                </a:solidFill>
                <a:latin typeface="Times New Roman" panose="02020603050405020304" pitchFamily="18" charset="0"/>
                <a:cs typeface="Times New Roman" panose="02020603050405020304" pitchFamily="18" charset="0"/>
              </a:rPr>
              <a:t>leaf nodes of the tree</a:t>
            </a:r>
            <a:r>
              <a:rPr lang="en-US" sz="2000">
                <a:latin typeface="Times New Roman" panose="02020603050405020304" pitchFamily="18" charset="0"/>
                <a:cs typeface="Times New Roman" panose="02020603050405020304" pitchFamily="18" charset="0"/>
              </a:rPr>
              <a:t>, and represents the </a:t>
            </a:r>
            <a:r>
              <a:rPr lang="en-US" sz="2000" u="sng">
                <a:solidFill>
                  <a:srgbClr val="C00000"/>
                </a:solidFill>
                <a:latin typeface="Times New Roman" panose="02020603050405020304" pitchFamily="18" charset="0"/>
                <a:cs typeface="Times New Roman" panose="02020603050405020304" pitchFamily="18" charset="0"/>
              </a:rPr>
              <a:t>relational algebra operations</a:t>
            </a:r>
            <a:r>
              <a:rPr lang="en-US" sz="2000">
                <a:solidFill>
                  <a:srgbClr val="C00000"/>
                </a:solidFill>
                <a:latin typeface="Times New Roman" panose="02020603050405020304" pitchFamily="18" charset="0"/>
                <a:cs typeface="Times New Roman" panose="02020603050405020304" pitchFamily="18" charset="0"/>
              </a:rPr>
              <a:t> as </a:t>
            </a:r>
            <a:r>
              <a:rPr lang="en-US" sz="2000" u="sng">
                <a:solidFill>
                  <a:srgbClr val="C00000"/>
                </a:solidFill>
                <a:latin typeface="Times New Roman" panose="02020603050405020304" pitchFamily="18" charset="0"/>
                <a:cs typeface="Times New Roman" panose="02020603050405020304" pitchFamily="18" charset="0"/>
              </a:rPr>
              <a:t>internal nodes</a:t>
            </a:r>
            <a:r>
              <a:rPr lang="en-US" sz="2000">
                <a:solidFill>
                  <a:srgbClr val="C00000"/>
                </a:solidFill>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rPr>
              <a:t>  </a:t>
            </a:r>
            <a:endParaRPr lang="en-US" sz="2000">
              <a:latin typeface="Times New Roman" panose="02020603050405020304" pitchFamily="18" charset="0"/>
              <a:cs typeface="Times New Roman" panose="02020603050405020304" pitchFamily="18" charset="0"/>
            </a:endParaRPr>
          </a:p>
          <a:p>
            <a:pPr marL="0" indent="0">
              <a:buNone/>
            </a:pPr>
            <a:r>
              <a:rPr lang="en-US" sz="2000">
                <a:latin typeface="Times New Roman" panose="02020603050405020304" pitchFamily="18" charset="0"/>
                <a:cs typeface="Times New Roman" panose="02020603050405020304" pitchFamily="18" charset="0"/>
              </a:rPr>
              <a:t>Example:  </a:t>
            </a:r>
            <a:r>
              <a:rPr lang="en-US" sz="2000" dirty="0">
                <a:latin typeface="Times New Roman" panose="02020603050405020304" pitchFamily="18" charset="0"/>
                <a:cs typeface="Times New Roman" panose="02020603050405020304" pitchFamily="18" charset="0"/>
                <a:sym typeface="+mn-ea"/>
              </a:rPr>
              <a:t>Query : "Find the last names of employees born after 1957 who work on a project named </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sym typeface="+mn-ea"/>
              </a:rPr>
              <a:t>‗Aquarius‘."</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a:latin typeface="Times New Roman" panose="02020603050405020304" pitchFamily="18" charset="0"/>
                <a:cs typeface="Times New Roman" panose="02020603050405020304" pitchFamily="18" charset="0"/>
              </a:rPr>
              <a:t> </a:t>
            </a:r>
            <a:endParaRPr lang="en-US" sz="2000">
              <a:latin typeface="Times New Roman" panose="02020603050405020304" pitchFamily="18" charset="0"/>
              <a:cs typeface="Times New Roman" panose="02020603050405020304" pitchFamily="18" charset="0"/>
            </a:endParaRPr>
          </a:p>
          <a:p>
            <a:pPr>
              <a:lnSpc>
                <a:spcPct val="150000"/>
              </a:lnSpc>
            </a:pPr>
            <a:endParaRPr lang="en-US" sz="2000">
              <a:latin typeface="Times New Roman" panose="02020603050405020304" pitchFamily="18" charset="0"/>
              <a:cs typeface="Times New Roman" panose="02020603050405020304" pitchFamily="18" charset="0"/>
            </a:endParaRPr>
          </a:p>
          <a:p>
            <a:pPr>
              <a:lnSpc>
                <a:spcPct val="150000"/>
              </a:lnSpc>
            </a:pPr>
            <a:endParaRPr lang="en-US" sz="2000">
              <a:latin typeface="Times New Roman" panose="02020603050405020304" pitchFamily="18" charset="0"/>
              <a:cs typeface="Times New Roman" panose="02020603050405020304" pitchFamily="18" charset="0"/>
            </a:endParaRPr>
          </a:p>
          <a:p>
            <a:pPr>
              <a:lnSpc>
                <a:spcPct val="150000"/>
              </a:lnSpc>
            </a:pPr>
            <a:endParaRPr lang="en-US" sz="2000">
              <a:latin typeface="Times New Roman" panose="02020603050405020304" pitchFamily="18" charset="0"/>
              <a:cs typeface="Times New Roman" panose="02020603050405020304" pitchFamily="18" charset="0"/>
            </a:endParaRPr>
          </a:p>
          <a:p>
            <a:pPr>
              <a:lnSpc>
                <a:spcPct val="150000"/>
              </a:lnSpc>
            </a:pPr>
            <a:endParaRPr lang="en-US" sz="2000">
              <a:latin typeface="Times New Roman" panose="02020603050405020304" pitchFamily="18" charset="0"/>
              <a:cs typeface="Times New Roman" panose="02020603050405020304" pitchFamily="18" charset="0"/>
            </a:endParaRPr>
          </a:p>
        </p:txBody>
      </p:sp>
      <p:sp>
        <p:nvSpPr>
          <p:cNvPr id="3" name="Text Box 2"/>
          <p:cNvSpPr txBox="1"/>
          <p:nvPr/>
        </p:nvSpPr>
        <p:spPr>
          <a:xfrm>
            <a:off x="3935730" y="341630"/>
            <a:ext cx="2849880" cy="460375"/>
          </a:xfrm>
          <a:prstGeom prst="rect">
            <a:avLst/>
          </a:prstGeom>
          <a:noFill/>
        </p:spPr>
        <p:txBody>
          <a:bodyPr wrap="square" rtlCol="0" anchor="t">
            <a:spAutoFit/>
          </a:bodyPr>
          <a:lstStyle/>
          <a:p>
            <a:r>
              <a:rPr lang="en-US" sz="2400">
                <a:effectLst>
                  <a:outerShdw blurRad="38100" dist="38100" dir="2700000" algn="tl">
                    <a:srgbClr val="000000">
                      <a:alpha val="43137"/>
                    </a:srgbClr>
                  </a:outerShdw>
                </a:effectLst>
                <a:sym typeface="+mn-ea"/>
              </a:rPr>
              <a:t>Query tree:</a:t>
            </a:r>
            <a:endParaRPr lang="en-US" sz="2400">
              <a:effectLst>
                <a:outerShdw blurRad="38100" dist="38100" dir="2700000" algn="tl">
                  <a:srgbClr val="000000">
                    <a:alpha val="43137"/>
                  </a:srgbClr>
                </a:outerShdw>
              </a:effectLst>
              <a:sym typeface="+mn-ea"/>
            </a:endParaRPr>
          </a:p>
        </p:txBody>
      </p:sp>
      <p:sp>
        <p:nvSpPr>
          <p:cNvPr id="6" name="Content Placeholder 5"/>
          <p:cNvSpPr>
            <a:spLocks noGrp="1"/>
          </p:cNvSpPr>
          <p:nvPr>
            <p:ph sz="half" idx="1"/>
          </p:nvPr>
        </p:nvSpPr>
        <p:spPr/>
        <p:txBody>
          <a:bodyPr/>
          <a:lstStyle/>
          <a:p>
            <a:pPr marL="0" indent="0">
              <a:buNone/>
            </a:pPr>
            <a:r>
              <a:rPr lang="en-US"/>
              <a:t> </a:t>
            </a:r>
            <a:endParaRPr lang="en-US"/>
          </a:p>
        </p:txBody>
      </p:sp>
      <p:pic>
        <p:nvPicPr>
          <p:cNvPr id="10" name="Content Placeholder 9"/>
          <p:cNvPicPr>
            <a:picLocks noGrp="1" noChangeAspect="1"/>
          </p:cNvPicPr>
          <p:nvPr>
            <p:ph sz="half" idx="2"/>
          </p:nvPr>
        </p:nvPicPr>
        <p:blipFill>
          <a:blip r:embed="rId1"/>
          <a:stretch>
            <a:fillRect/>
          </a:stretch>
        </p:blipFill>
        <p:spPr>
          <a:xfrm>
            <a:off x="1411605" y="3085465"/>
            <a:ext cx="8434705" cy="1759585"/>
          </a:xfrm>
          <a:prstGeom prst="rect">
            <a:avLst/>
          </a:prstGeom>
        </p:spPr>
      </p:pic>
    </p:spTree>
  </p:cSld>
  <p:clrMapOvr>
    <a:masterClrMapping/>
  </p:clrMapOvr>
  <p:transition spd="slow">
    <p:cove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369" y="618251"/>
            <a:ext cx="11084560" cy="1325880"/>
          </a:xfrm>
        </p:spPr>
        <p:txBody>
          <a:bodyPr>
            <a:noAutofit/>
          </a:bodyPr>
          <a:lstStyle/>
          <a:p>
            <a:r>
              <a:rPr lang="en-US" sz="2800" dirty="0">
                <a:latin typeface="Times New Roman" panose="02020603050405020304" pitchFamily="18" charset="0"/>
                <a:cs typeface="Times New Roman" panose="02020603050405020304" pitchFamily="18" charset="0"/>
              </a:rPr>
              <a:t>Steps:1 </a:t>
            </a:r>
            <a:r>
              <a:rPr lang="en-US" sz="2400" dirty="0">
                <a:latin typeface="Times New Roman" panose="02020603050405020304" pitchFamily="18" charset="0"/>
                <a:cs typeface="Times New Roman" panose="02020603050405020304" pitchFamily="18" charset="0"/>
              </a:rPr>
              <a:t>Steps in converting a query tree during heuristic optimization. (a) Initial (canonical) query tree for SQL query Q</a:t>
            </a:r>
            <a:r>
              <a:rPr 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a:t> </a:t>
            </a:r>
            <a:endParaRPr lang="en-US"/>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pic>
        <p:nvPicPr>
          <p:cNvPr id="5" name="Content Placeholder 4"/>
          <p:cNvPicPr>
            <a:picLocks noGrp="1" noChangeAspect="1"/>
          </p:cNvPicPr>
          <p:nvPr>
            <p:ph sz="half" idx="2"/>
          </p:nvPr>
        </p:nvPicPr>
        <p:blipFill>
          <a:blip r:embed="rId1"/>
          <a:stretch>
            <a:fillRect/>
          </a:stretch>
        </p:blipFill>
        <p:spPr>
          <a:xfrm>
            <a:off x="1727835" y="1825625"/>
            <a:ext cx="7767320" cy="3618230"/>
          </a:xfrm>
          <a:prstGeom prst="rect">
            <a:avLst/>
          </a:prstGeom>
        </p:spPr>
      </p:pic>
      <p:sp>
        <p:nvSpPr>
          <p:cNvPr id="6" name="Rectangle 5"/>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539" y="646488"/>
            <a:ext cx="10867390" cy="1325880"/>
          </a:xfrm>
        </p:spPr>
        <p:txBody>
          <a:bodyPr>
            <a:noAutofit/>
          </a:bodyPr>
          <a:lstStyle/>
          <a:p>
            <a:r>
              <a:rPr lang="en-US" sz="2400" dirty="0">
                <a:latin typeface="Times New Roman" panose="02020603050405020304" pitchFamily="18" charset="0"/>
                <a:cs typeface="Times New Roman" panose="02020603050405020304" pitchFamily="18" charset="0"/>
              </a:rPr>
              <a:t>Step 2:  converting a query tree during heuristic optimization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 Moving SELECT operations down the query tree.</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a:t>   </a:t>
            </a:r>
            <a:endParaRPr lang="en-US"/>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pic>
        <p:nvPicPr>
          <p:cNvPr id="6" name="Picture 5"/>
          <p:cNvPicPr>
            <a:picLocks noChangeAspect="1"/>
          </p:cNvPicPr>
          <p:nvPr/>
        </p:nvPicPr>
        <p:blipFill>
          <a:blip r:embed="rId1"/>
          <a:stretch>
            <a:fillRect/>
          </a:stretch>
        </p:blipFill>
        <p:spPr>
          <a:xfrm>
            <a:off x="2352675" y="2196465"/>
            <a:ext cx="6257925" cy="3609975"/>
          </a:xfrm>
          <a:prstGeom prst="rect">
            <a:avLst/>
          </a:prstGeom>
        </p:spPr>
      </p:pic>
      <p:sp>
        <p:nvSpPr>
          <p:cNvPr id="7" name="Rectangle 6"/>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00062"/>
            <a:ext cx="10515600" cy="1325563"/>
          </a:xfrm>
        </p:spPr>
        <p:txBody>
          <a:bodyPr>
            <a:noAutofit/>
          </a:bodyPr>
          <a:lstStyle/>
          <a:p>
            <a:r>
              <a:rPr lang="en-US" sz="2800" dirty="0">
                <a:latin typeface="Times New Roman" panose="02020603050405020304" pitchFamily="18" charset="0"/>
                <a:cs typeface="Times New Roman" panose="02020603050405020304" pitchFamily="18" charset="0"/>
              </a:rPr>
              <a:t>Step 3: converting a query tree during heuristic optimization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(c) Applying the more restrictive SELECT operation first.</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a:t>   </a:t>
            </a:r>
            <a:endParaRPr lang="en-US"/>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pic>
        <p:nvPicPr>
          <p:cNvPr id="6" name="Picture 5"/>
          <p:cNvPicPr>
            <a:picLocks noChangeAspect="1"/>
          </p:cNvPicPr>
          <p:nvPr/>
        </p:nvPicPr>
        <p:blipFill>
          <a:blip r:embed="rId1"/>
          <a:stretch>
            <a:fillRect/>
          </a:stretch>
        </p:blipFill>
        <p:spPr>
          <a:xfrm>
            <a:off x="2412503" y="1690688"/>
            <a:ext cx="6711950" cy="4351020"/>
          </a:xfrm>
          <a:prstGeom prst="rect">
            <a:avLst/>
          </a:prstGeom>
        </p:spPr>
      </p:pic>
      <p:sp>
        <p:nvSpPr>
          <p:cNvPr id="7" name="Rectangle 6"/>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765" y="499745"/>
            <a:ext cx="10866755" cy="1325880"/>
          </a:xfrm>
        </p:spPr>
        <p:txBody>
          <a:bodyPr>
            <a:noAutofit/>
          </a:bodyPr>
          <a:lstStyle/>
          <a:p>
            <a:r>
              <a:rPr lang="en-US" sz="2400" dirty="0">
                <a:latin typeface="Times New Roman" panose="02020603050405020304" pitchFamily="18" charset="0"/>
                <a:cs typeface="Times New Roman" panose="02020603050405020304" pitchFamily="18" charset="0"/>
              </a:rPr>
              <a:t> Step 4: converting a query tree during heuristic optimization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 Replacing CARTESIAN PRODUCT and SELECT with JOIN operations.</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a:t>  </a:t>
            </a:r>
            <a:endParaRPr lang="en-US"/>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pic>
        <p:nvPicPr>
          <p:cNvPr id="6" name="Picture 5"/>
          <p:cNvPicPr>
            <a:picLocks noChangeAspect="1"/>
          </p:cNvPicPr>
          <p:nvPr/>
        </p:nvPicPr>
        <p:blipFill>
          <a:blip r:embed="rId1"/>
          <a:stretch>
            <a:fillRect/>
          </a:stretch>
        </p:blipFill>
        <p:spPr>
          <a:xfrm>
            <a:off x="2059305" y="1825625"/>
            <a:ext cx="7477125" cy="4126230"/>
          </a:xfrm>
          <a:prstGeom prst="rect">
            <a:avLst/>
          </a:prstGeom>
        </p:spPr>
      </p:pic>
      <p:sp>
        <p:nvSpPr>
          <p:cNvPr id="7" name="Rectangle 6"/>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00062"/>
            <a:ext cx="10515600" cy="1325563"/>
          </a:xfrm>
        </p:spPr>
        <p:txBody>
          <a:bodyPr>
            <a:noAutofit/>
          </a:bodyPr>
          <a:lstStyle/>
          <a:p>
            <a:r>
              <a:rPr lang="en-US" sz="2400" dirty="0">
                <a:latin typeface="Times New Roman" panose="02020603050405020304" pitchFamily="18" charset="0"/>
                <a:cs typeface="Times New Roman" panose="02020603050405020304" pitchFamily="18" charset="0"/>
              </a:rPr>
              <a:t> Step 5:  converting a query tree during heuristic optimization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 Moving PROJECT operations down the query tree</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p:txBody>
          <a:bodyPr/>
          <a:lstStyle/>
          <a:p>
            <a:pPr marL="0" indent="0">
              <a:buNone/>
            </a:pPr>
            <a:r>
              <a:rPr lang="en-US"/>
              <a:t>  </a:t>
            </a:r>
            <a:endParaRPr lang="en-US"/>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pic>
        <p:nvPicPr>
          <p:cNvPr id="6" name="Picture 5"/>
          <p:cNvPicPr>
            <a:picLocks noChangeAspect="1"/>
          </p:cNvPicPr>
          <p:nvPr/>
        </p:nvPicPr>
        <p:blipFill>
          <a:blip r:embed="rId1"/>
          <a:stretch>
            <a:fillRect/>
          </a:stretch>
        </p:blipFill>
        <p:spPr>
          <a:xfrm>
            <a:off x="2527935" y="1588135"/>
            <a:ext cx="6600825" cy="3924300"/>
          </a:xfrm>
          <a:prstGeom prst="rect">
            <a:avLst/>
          </a:prstGeom>
        </p:spPr>
      </p:pic>
      <p:sp>
        <p:nvSpPr>
          <p:cNvPr id="7" name="Rectangle 6"/>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8640"/>
          </a:xfrm>
        </p:spPr>
        <p:txBody>
          <a:bodyPr/>
          <a:lstStyle/>
          <a:p>
            <a:pPr algn="ctr"/>
            <a:r>
              <a:rPr lang="en-US" sz="2400">
                <a:effectLst>
                  <a:outerShdw blurRad="38100" dist="38100" dir="2700000" algn="tl">
                    <a:srgbClr val="000000">
                      <a:alpha val="43137"/>
                    </a:srgbClr>
                  </a:outerShdw>
                </a:effectLst>
                <a:sym typeface="+mn-ea"/>
              </a:rPr>
              <a:t>Query graph</a:t>
            </a:r>
            <a:endParaRPr lang="en-US" sz="240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38200" y="913765"/>
            <a:ext cx="11072495" cy="5443220"/>
          </a:xfrm>
        </p:spPr>
        <p:txBody>
          <a:bodyPr>
            <a:normAutofit fontScale="90000" lnSpcReduction="20000"/>
          </a:bodyPr>
          <a:lstStyle/>
          <a:p>
            <a:pPr marL="0" indent="0">
              <a:lnSpc>
                <a:spcPct val="150000"/>
              </a:lnSpc>
              <a:buNone/>
            </a:pPr>
            <a:r>
              <a:rPr lang="en-US">
                <a:latin typeface="Times New Roman" panose="02020603050405020304" pitchFamily="18" charset="0"/>
                <a:cs typeface="Times New Roman" panose="02020603050405020304" pitchFamily="18" charset="0"/>
              </a:rPr>
              <a:t>Query graph:</a:t>
            </a:r>
            <a:endParaRPr lang="en-US">
              <a:latin typeface="Times New Roman" panose="02020603050405020304" pitchFamily="18" charset="0"/>
              <a:cs typeface="Times New Roman" panose="02020603050405020304" pitchFamily="18" charset="0"/>
            </a:endParaRPr>
          </a:p>
          <a:p>
            <a:pPr marL="0" indent="0">
              <a:lnSpc>
                <a:spcPct val="150000"/>
              </a:lnSpc>
              <a:buNone/>
            </a:pPr>
            <a:r>
              <a:rPr lang="en-US">
                <a:latin typeface="Times New Roman" panose="02020603050405020304" pitchFamily="18" charset="0"/>
                <a:cs typeface="Times New Roman" panose="02020603050405020304" pitchFamily="18" charset="0"/>
              </a:rPr>
              <a:t>A graph data structure that corresponds to a </a:t>
            </a:r>
            <a:r>
              <a:rPr lang="en-US">
                <a:solidFill>
                  <a:srgbClr val="FF0000"/>
                </a:solidFill>
                <a:latin typeface="Times New Roman" panose="02020603050405020304" pitchFamily="18" charset="0"/>
                <a:cs typeface="Times New Roman" panose="02020603050405020304" pitchFamily="18" charset="0"/>
              </a:rPr>
              <a:t>relational calculus expression</a:t>
            </a:r>
            <a:r>
              <a:rPr lang="en-US">
                <a:latin typeface="Times New Roman" panose="02020603050405020304" pitchFamily="18" charset="0"/>
                <a:cs typeface="Times New Roman" panose="02020603050405020304" pitchFamily="18" charset="0"/>
              </a:rPr>
              <a:t>. It does not indicate an order on which operations to perform first. </a:t>
            </a:r>
            <a:endParaRPr lang="en-US">
              <a:latin typeface="Times New Roman" panose="02020603050405020304" pitchFamily="18" charset="0"/>
              <a:cs typeface="Times New Roman" panose="02020603050405020304" pitchFamily="18" charset="0"/>
            </a:endParaRPr>
          </a:p>
          <a:p>
            <a:pPr>
              <a:lnSpc>
                <a:spcPct val="150000"/>
              </a:lnSpc>
              <a:buClr>
                <a:srgbClr val="1F4E79"/>
              </a:buClr>
              <a:buFont typeface="Wingdings" panose="05000000000000000000" charset="0"/>
              <a:buChar char="ü"/>
            </a:pPr>
            <a:r>
              <a:rPr lang="en-US">
                <a:solidFill>
                  <a:srgbClr val="C00000"/>
                </a:solidFill>
                <a:latin typeface="Times New Roman" panose="02020603050405020304" pitchFamily="18" charset="0"/>
                <a:cs typeface="Times New Roman" panose="02020603050405020304" pitchFamily="18" charset="0"/>
              </a:rPr>
              <a:t>Nodes represent Relations</a:t>
            </a:r>
            <a:r>
              <a:rPr lang="en-US">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a:p>
            <a:pPr>
              <a:lnSpc>
                <a:spcPct val="150000"/>
              </a:lnSpc>
              <a:buClr>
                <a:srgbClr val="1F4E79"/>
              </a:buClr>
              <a:buFont typeface="Wingdings" panose="05000000000000000000" charset="0"/>
              <a:buChar char="ü"/>
            </a:pPr>
            <a:r>
              <a:rPr lang="en-US">
                <a:solidFill>
                  <a:srgbClr val="C00000"/>
                </a:solidFill>
                <a:latin typeface="Times New Roman" panose="02020603050405020304" pitchFamily="18" charset="0"/>
                <a:cs typeface="Times New Roman" panose="02020603050405020304" pitchFamily="18" charset="0"/>
              </a:rPr>
              <a:t>Ovals/Double circles represent constant nodes</a:t>
            </a:r>
            <a:r>
              <a:rPr lang="en-US">
                <a:latin typeface="Times New Roman" panose="02020603050405020304" pitchFamily="18" charset="0"/>
                <a:cs typeface="Times New Roman" panose="02020603050405020304" pitchFamily="18" charset="0"/>
              </a:rPr>
              <a:t>. </a:t>
            </a:r>
            <a:endParaRPr lang="en-US">
              <a:latin typeface="Times New Roman" panose="02020603050405020304" pitchFamily="18" charset="0"/>
              <a:cs typeface="Times New Roman" panose="02020603050405020304" pitchFamily="18" charset="0"/>
            </a:endParaRPr>
          </a:p>
          <a:p>
            <a:pPr>
              <a:lnSpc>
                <a:spcPct val="150000"/>
              </a:lnSpc>
              <a:buClr>
                <a:srgbClr val="1F4E79"/>
              </a:buClr>
              <a:buFont typeface="Wingdings" panose="05000000000000000000" charset="0"/>
              <a:buChar char="ü"/>
            </a:pPr>
            <a:r>
              <a:rPr lang="en-US">
                <a:solidFill>
                  <a:srgbClr val="C00000"/>
                </a:solidFill>
                <a:latin typeface="Times New Roman" panose="02020603050405020304" pitchFamily="18" charset="0"/>
                <a:cs typeface="Times New Roman" panose="02020603050405020304" pitchFamily="18" charset="0"/>
              </a:rPr>
              <a:t>Edges represent Join &amp; Selection conditions. </a:t>
            </a:r>
            <a:endParaRPr lang="en-US">
              <a:solidFill>
                <a:srgbClr val="C00000"/>
              </a:solidFill>
              <a:latin typeface="Times New Roman" panose="02020603050405020304" pitchFamily="18" charset="0"/>
              <a:cs typeface="Times New Roman" panose="02020603050405020304" pitchFamily="18" charset="0"/>
            </a:endParaRPr>
          </a:p>
          <a:p>
            <a:pPr>
              <a:lnSpc>
                <a:spcPct val="150000"/>
              </a:lnSpc>
              <a:buClr>
                <a:srgbClr val="1F4E79"/>
              </a:buClr>
              <a:buFont typeface="Wingdings" panose="05000000000000000000" charset="0"/>
              <a:buChar char="ü"/>
            </a:pPr>
            <a:r>
              <a:rPr lang="en-US">
                <a:solidFill>
                  <a:srgbClr val="C00000"/>
                </a:solidFill>
                <a:latin typeface="Times New Roman" panose="02020603050405020304" pitchFamily="18" charset="0"/>
                <a:cs typeface="Times New Roman" panose="02020603050405020304" pitchFamily="18" charset="0"/>
              </a:rPr>
              <a:t>Attributes</a:t>
            </a:r>
            <a:r>
              <a:rPr lang="en-US">
                <a:latin typeface="Times New Roman" panose="02020603050405020304" pitchFamily="18" charset="0"/>
                <a:cs typeface="Times New Roman" panose="02020603050405020304" pitchFamily="18" charset="0"/>
              </a:rPr>
              <a:t> to be retrieved from relations represented in </a:t>
            </a:r>
            <a:r>
              <a:rPr lang="en-US">
                <a:solidFill>
                  <a:srgbClr val="C00000"/>
                </a:solidFill>
                <a:latin typeface="Times New Roman" panose="02020603050405020304" pitchFamily="18" charset="0"/>
                <a:cs typeface="Times New Roman" panose="02020603050405020304" pitchFamily="18" charset="0"/>
              </a:rPr>
              <a:t>square brackets</a:t>
            </a:r>
            <a:r>
              <a:rPr lang="en-US">
                <a:latin typeface="Times New Roman" panose="02020603050405020304" pitchFamily="18" charset="0"/>
                <a:cs typeface="Times New Roman" panose="02020603050405020304" pitchFamily="18" charset="0"/>
              </a:rPr>
              <a:t>.</a:t>
            </a:r>
            <a:endParaRPr lang="en-US">
              <a:latin typeface="Times New Roman" panose="02020603050405020304" pitchFamily="18" charset="0"/>
              <a:cs typeface="Times New Roman" panose="02020603050405020304" pitchFamily="18" charset="0"/>
            </a:endParaRPr>
          </a:p>
          <a:p>
            <a:pPr marL="0" indent="0">
              <a:lnSpc>
                <a:spcPct val="150000"/>
              </a:lnSpc>
              <a:buNone/>
            </a:pPr>
            <a:r>
              <a:rPr lang="en-US">
                <a:latin typeface="Times New Roman" panose="02020603050405020304" pitchFamily="18" charset="0"/>
                <a:cs typeface="Times New Roman" panose="02020603050405020304" pitchFamily="18" charset="0"/>
              </a:rPr>
              <a:t>Drawback: - Does not indicate an order on which operations are performed first.</a:t>
            </a:r>
            <a:endParaRPr lang="en-US">
              <a:latin typeface="Times New Roman" panose="02020603050405020304" pitchFamily="18" charset="0"/>
              <a:cs typeface="Times New Roman" panose="02020603050405020304" pitchFamily="18" charset="0"/>
            </a:endParaRPr>
          </a:p>
          <a:p>
            <a:pPr marL="0" indent="0">
              <a:lnSpc>
                <a:spcPct val="150000"/>
              </a:lnSpc>
              <a:buNone/>
            </a:pPr>
            <a:r>
              <a:rPr lang="en-US">
                <a:latin typeface="Times New Roman" panose="02020603050405020304" pitchFamily="18" charset="0"/>
                <a:cs typeface="Times New Roman" panose="02020603050405020304" pitchFamily="18" charset="0"/>
              </a:rPr>
              <a:t>There is only a single graph corresponding to each query.</a:t>
            </a:r>
            <a:endParaRPr lang="en-US">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sp>
        <p:nvSpPr>
          <p:cNvPr id="5" name="Rectangle 4"/>
          <p:cNvSpPr/>
          <p:nvPr/>
        </p:nvSpPr>
        <p:spPr>
          <a:xfrm>
            <a:off x="281305" y="926382"/>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175375" y="926382"/>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5976"/>
            <a:ext cx="10515600" cy="281363"/>
          </a:xfrm>
        </p:spPr>
        <p:txBody>
          <a:bodyPr>
            <a:normAutofit fontScale="90000"/>
          </a:bodyPr>
          <a:lstStyle/>
          <a:p>
            <a:pPr algn="ctr"/>
            <a:r>
              <a:rPr lang="en-US" dirty="0">
                <a:effectLst>
                  <a:outerShdw blurRad="38100" dist="38100" dir="2700000" algn="tl">
                    <a:srgbClr val="000000">
                      <a:alpha val="43137"/>
                    </a:srgbClr>
                  </a:outerShdw>
                </a:effectLst>
              </a:rPr>
              <a:t>Cont’d...</a:t>
            </a:r>
            <a:endParaRPr lang="en-US" dirty="0">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pic>
        <p:nvPicPr>
          <p:cNvPr id="21" name="Picture 2"/>
          <p:cNvPicPr>
            <a:picLocks noGrp="1" noChangeAspect="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667510" y="1691005"/>
            <a:ext cx="7591425" cy="2619375"/>
          </a:xfrm>
          <a:prstGeom prst="rect">
            <a:avLst/>
          </a:prstGeom>
          <a:noFill/>
          <a:ln>
            <a:noFill/>
          </a:ln>
        </p:spPr>
      </p:pic>
      <p:sp>
        <p:nvSpPr>
          <p:cNvPr id="3" name="Rectangle 2"/>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12020" cy="602284"/>
          </a:xfrm>
        </p:spPr>
        <p:txBody>
          <a:bodyPr>
            <a:normAutofit fontScale="90000"/>
          </a:bodyPr>
          <a:lstStyle/>
          <a:p>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2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Cost-Based Optimization</a:t>
            </a: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(CBO)</a:t>
            </a:r>
            <a:b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Using Selectivity &amp; Cost Estimates</a:t>
            </a:r>
            <a:endPar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graphicFrame>
        <p:nvGraphicFramePr>
          <p:cNvPr id="5" name="Table 4"/>
          <p:cNvGraphicFramePr>
            <a:graphicFrameLocks noGrp="1"/>
          </p:cNvGraphicFramePr>
          <p:nvPr/>
        </p:nvGraphicFramePr>
        <p:xfrm>
          <a:off x="1179444" y="1907322"/>
          <a:ext cx="5398139" cy="2805535"/>
        </p:xfrm>
        <a:graphic>
          <a:graphicData uri="http://schemas.openxmlformats.org/drawingml/2006/table">
            <a:tbl>
              <a:tblPr/>
              <a:tblGrid>
                <a:gridCol w="1873060"/>
                <a:gridCol w="3525079"/>
              </a:tblGrid>
              <a:tr h="434640">
                <a:tc>
                  <a:txBody>
                    <a:bodyPr/>
                    <a:lstStyle/>
                    <a:p>
                      <a:pPr>
                        <a:buNone/>
                      </a:pPr>
                      <a:r>
                        <a:rPr lang="en-US" sz="2000" dirty="0">
                          <a:solidFill>
                            <a:srgbClr val="C00000"/>
                          </a:solidFill>
                          <a:effectLst>
                            <a:outerShdw blurRad="38100" dist="38100" dir="2700000" algn="tl">
                              <a:srgbClr val="000000">
                                <a:alpha val="43137"/>
                              </a:srgbClr>
                            </a:outerShdw>
                          </a:effectLst>
                        </a:rPr>
                        <a:t>Factor</a:t>
                      </a:r>
                      <a:endParaRPr lang="en-US" sz="2000" dirty="0">
                        <a:solidFill>
                          <a:srgbClr val="C00000"/>
                        </a:solidFill>
                        <a:effectLst>
                          <a:outerShdw blurRad="38100" dist="38100" dir="2700000" algn="tl">
                            <a:srgbClr val="000000">
                              <a:alpha val="43137"/>
                            </a:srgbClr>
                          </a:outerShdw>
                        </a:effectLst>
                      </a:endParaRPr>
                    </a:p>
                  </a:txBody>
                  <a:tcPr anchor="ctr">
                    <a:lnL>
                      <a:noFill/>
                    </a:lnL>
                    <a:lnR>
                      <a:noFill/>
                    </a:lnR>
                    <a:lnT>
                      <a:noFill/>
                    </a:lnT>
                    <a:lnB>
                      <a:noFill/>
                    </a:lnB>
                    <a:noFill/>
                  </a:tcPr>
                </a:tc>
                <a:tc>
                  <a:txBody>
                    <a:bodyPr/>
                    <a:lstStyle/>
                    <a:p>
                      <a:pPr>
                        <a:buNone/>
                      </a:pPr>
                      <a:r>
                        <a:rPr lang="en-US" sz="2000" dirty="0">
                          <a:solidFill>
                            <a:srgbClr val="C00000"/>
                          </a:solidFill>
                          <a:effectLst>
                            <a:outerShdw blurRad="38100" dist="38100" dir="2700000" algn="tl">
                              <a:srgbClr val="000000">
                                <a:alpha val="43137"/>
                              </a:srgbClr>
                            </a:outerShdw>
                          </a:effectLst>
                        </a:rPr>
                        <a:t>Meaning</a:t>
                      </a:r>
                      <a:endParaRPr lang="en-US" sz="2000" dirty="0">
                        <a:solidFill>
                          <a:srgbClr val="C00000"/>
                        </a:solidFill>
                        <a:effectLst>
                          <a:outerShdw blurRad="38100" dist="38100" dir="2700000" algn="tl">
                            <a:srgbClr val="000000">
                              <a:alpha val="43137"/>
                            </a:srgbClr>
                          </a:outerShdw>
                        </a:effectLst>
                      </a:endParaRPr>
                    </a:p>
                  </a:txBody>
                  <a:tcPr anchor="ctr">
                    <a:lnL>
                      <a:noFill/>
                    </a:lnL>
                    <a:lnR>
                      <a:noFill/>
                    </a:lnR>
                    <a:lnT>
                      <a:noFill/>
                    </a:lnT>
                    <a:lnB>
                      <a:noFill/>
                    </a:lnB>
                    <a:noFill/>
                  </a:tcPr>
                </a:tc>
              </a:tr>
              <a:tr h="423616">
                <a:tc>
                  <a:txBody>
                    <a:bodyPr/>
                    <a:lstStyle/>
                    <a:p>
                      <a:pPr>
                        <a:buNone/>
                      </a:pPr>
                      <a:r>
                        <a:rPr lang="en-US" b="1" dirty="0"/>
                        <a:t>Selectivity</a:t>
                      </a:r>
                      <a:endParaRPr lang="en-US" dirty="0"/>
                    </a:p>
                  </a:txBody>
                  <a:tcPr anchor="ctr">
                    <a:lnL>
                      <a:noFill/>
                    </a:lnL>
                    <a:lnR>
                      <a:noFill/>
                    </a:lnR>
                    <a:lnT>
                      <a:noFill/>
                    </a:lnT>
                    <a:lnB>
                      <a:noFill/>
                    </a:lnB>
                    <a:noFill/>
                  </a:tcPr>
                </a:tc>
                <a:tc>
                  <a:txBody>
                    <a:bodyPr/>
                    <a:lstStyle/>
                    <a:p>
                      <a:pPr>
                        <a:buNone/>
                      </a:pPr>
                      <a:r>
                        <a:rPr lang="en-US" dirty="0"/>
                        <a:t>How many rows match a condition</a:t>
                      </a:r>
                      <a:endParaRPr lang="en-US" dirty="0"/>
                    </a:p>
                  </a:txBody>
                  <a:tcPr anchor="ctr">
                    <a:lnL>
                      <a:noFill/>
                    </a:lnL>
                    <a:lnR>
                      <a:noFill/>
                    </a:lnR>
                    <a:lnT>
                      <a:noFill/>
                    </a:lnT>
                    <a:lnB>
                      <a:noFill/>
                    </a:lnB>
                    <a:noFill/>
                  </a:tcPr>
                </a:tc>
              </a:tr>
              <a:tr h="676431">
                <a:tc>
                  <a:txBody>
                    <a:bodyPr/>
                    <a:lstStyle/>
                    <a:p>
                      <a:pPr>
                        <a:buNone/>
                      </a:pPr>
                      <a:r>
                        <a:rPr lang="en-US" b="1" dirty="0"/>
                        <a:t>I/O Cost</a:t>
                      </a:r>
                      <a:endParaRPr lang="en-US" dirty="0"/>
                    </a:p>
                  </a:txBody>
                  <a:tcPr anchor="ctr">
                    <a:lnL>
                      <a:noFill/>
                    </a:lnL>
                    <a:lnR>
                      <a:noFill/>
                    </a:lnR>
                    <a:lnT>
                      <a:noFill/>
                    </a:lnT>
                    <a:lnB>
                      <a:noFill/>
                    </a:lnB>
                    <a:noFill/>
                  </a:tcPr>
                </a:tc>
                <a:tc>
                  <a:txBody>
                    <a:bodyPr/>
                    <a:lstStyle/>
                    <a:p>
                      <a:pPr>
                        <a:buNone/>
                      </a:pPr>
                      <a:r>
                        <a:rPr lang="en-US"/>
                        <a:t>Disk reads required</a:t>
                      </a:r>
                      <a:endParaRPr lang="en-US"/>
                    </a:p>
                  </a:txBody>
                  <a:tcPr anchor="ctr">
                    <a:lnL>
                      <a:noFill/>
                    </a:lnL>
                    <a:lnR>
                      <a:noFill/>
                    </a:lnR>
                    <a:lnT>
                      <a:noFill/>
                    </a:lnT>
                    <a:lnB>
                      <a:noFill/>
                    </a:lnB>
                    <a:noFill/>
                  </a:tcPr>
                </a:tc>
              </a:tr>
              <a:tr h="423616">
                <a:tc>
                  <a:txBody>
                    <a:bodyPr/>
                    <a:lstStyle/>
                    <a:p>
                      <a:pPr>
                        <a:buNone/>
                      </a:pPr>
                      <a:r>
                        <a:rPr lang="en-US" b="1"/>
                        <a:t>CPU Cost</a:t>
                      </a:r>
                      <a:endParaRPr lang="en-US"/>
                    </a:p>
                  </a:txBody>
                  <a:tcPr anchor="ctr">
                    <a:lnL>
                      <a:noFill/>
                    </a:lnL>
                    <a:lnR>
                      <a:noFill/>
                    </a:lnR>
                    <a:lnT>
                      <a:noFill/>
                    </a:lnT>
                    <a:lnB>
                      <a:noFill/>
                    </a:lnB>
                    <a:noFill/>
                  </a:tcPr>
                </a:tc>
                <a:tc>
                  <a:txBody>
                    <a:bodyPr/>
                    <a:lstStyle/>
                    <a:p>
                      <a:pPr>
                        <a:buNone/>
                      </a:pPr>
                      <a:r>
                        <a:rPr lang="en-US" dirty="0"/>
                        <a:t>Time taken to process data</a:t>
                      </a:r>
                      <a:endParaRPr lang="en-US" dirty="0"/>
                    </a:p>
                  </a:txBody>
                  <a:tcPr anchor="ctr">
                    <a:lnL>
                      <a:noFill/>
                    </a:lnL>
                    <a:lnR>
                      <a:noFill/>
                    </a:lnR>
                    <a:lnT>
                      <a:noFill/>
                    </a:lnT>
                    <a:lnB>
                      <a:noFill/>
                    </a:lnB>
                    <a:noFill/>
                  </a:tcPr>
                </a:tc>
              </a:tr>
              <a:tr h="423616">
                <a:tc>
                  <a:txBody>
                    <a:bodyPr/>
                    <a:lstStyle/>
                    <a:p>
                      <a:pPr>
                        <a:buNone/>
                      </a:pPr>
                      <a:r>
                        <a:rPr lang="en-US" b="1"/>
                        <a:t>Available Indexes</a:t>
                      </a:r>
                      <a:endParaRPr lang="en-US"/>
                    </a:p>
                  </a:txBody>
                  <a:tcPr anchor="ctr">
                    <a:lnL>
                      <a:noFill/>
                    </a:lnL>
                    <a:lnR>
                      <a:noFill/>
                    </a:lnR>
                    <a:lnT>
                      <a:noFill/>
                    </a:lnT>
                    <a:lnB>
                      <a:noFill/>
                    </a:lnB>
                    <a:noFill/>
                  </a:tcPr>
                </a:tc>
                <a:tc>
                  <a:txBody>
                    <a:bodyPr/>
                    <a:lstStyle/>
                    <a:p>
                      <a:pPr>
                        <a:buNone/>
                      </a:pPr>
                      <a:r>
                        <a:rPr lang="en-US" dirty="0"/>
                        <a:t>Can we quickly search?</a:t>
                      </a:r>
                      <a:endParaRPr lang="en-US" dirty="0"/>
                    </a:p>
                  </a:txBody>
                  <a:tcPr anchor="ctr">
                    <a:lnL>
                      <a:noFill/>
                    </a:lnL>
                    <a:lnR>
                      <a:noFill/>
                    </a:lnR>
                    <a:lnT>
                      <a:noFill/>
                    </a:lnT>
                    <a:lnB>
                      <a:noFill/>
                    </a:lnB>
                    <a:noFill/>
                  </a:tcPr>
                </a:tc>
              </a:tr>
              <a:tr h="423616">
                <a:tc>
                  <a:txBody>
                    <a:bodyPr/>
                    <a:lstStyle/>
                    <a:p>
                      <a:pPr>
                        <a:buNone/>
                      </a:pPr>
                      <a:r>
                        <a:rPr lang="en-US" b="1" dirty="0"/>
                        <a:t>Join Methods</a:t>
                      </a:r>
                      <a:endParaRPr lang="en-US" dirty="0"/>
                    </a:p>
                  </a:txBody>
                  <a:tcPr anchor="ctr">
                    <a:lnL>
                      <a:noFill/>
                    </a:lnL>
                    <a:lnR>
                      <a:noFill/>
                    </a:lnR>
                    <a:lnT>
                      <a:noFill/>
                    </a:lnT>
                    <a:lnB>
                      <a:noFill/>
                    </a:lnB>
                    <a:noFill/>
                  </a:tcPr>
                </a:tc>
                <a:tc>
                  <a:txBody>
                    <a:bodyPr/>
                    <a:lstStyle/>
                    <a:p>
                      <a:pPr>
                        <a:buNone/>
                      </a:pPr>
                      <a:r>
                        <a:rPr lang="en-US" dirty="0"/>
                        <a:t>Which algorithm is better?</a:t>
                      </a:r>
                      <a:endParaRPr lang="en-US" dirty="0"/>
                    </a:p>
                  </a:txBody>
                  <a:tcPr anchor="ctr">
                    <a:lnL>
                      <a:noFill/>
                    </a:lnL>
                    <a:lnR>
                      <a:noFill/>
                    </a:lnR>
                    <a:lnT>
                      <a:noFill/>
                    </a:lnT>
                    <a:lnB>
                      <a:noFill/>
                    </a:lnB>
                    <a:noFill/>
                  </a:tcPr>
                </a:tc>
              </a:tr>
            </a:tbl>
          </a:graphicData>
        </a:graphic>
      </p:graphicFrame>
      <p:sp>
        <p:nvSpPr>
          <p:cNvPr id="7" name="TextBox 6"/>
          <p:cNvSpPr txBox="1"/>
          <p:nvPr/>
        </p:nvSpPr>
        <p:spPr>
          <a:xfrm>
            <a:off x="470535" y="1076325"/>
            <a:ext cx="10316735" cy="830997"/>
          </a:xfrm>
          <a:prstGeom prst="rect">
            <a:avLst/>
          </a:prstGeom>
          <a:noFill/>
        </p:spPr>
        <p:txBody>
          <a:bodyPr wrap="square">
            <a:spAutoFit/>
          </a:bodyPr>
          <a:lstStyle/>
          <a:p>
            <a:pPr>
              <a:buNone/>
            </a:pPr>
            <a:r>
              <a:rPr lang="en-US" sz="2400" dirty="0">
                <a:latin typeface="Times New Roman" panose="02020603050405020304" pitchFamily="18" charset="0"/>
                <a:cs typeface="Times New Roman" panose="02020603050405020304" pitchFamily="18" charset="0"/>
              </a:rPr>
              <a:t>Cost-Based Optimization is a method used by the DBMS </a:t>
            </a:r>
            <a:r>
              <a:rPr lang="en-US" sz="2400" b="1" dirty="0">
                <a:latin typeface="Times New Roman" panose="02020603050405020304" pitchFamily="18" charset="0"/>
                <a:cs typeface="Times New Roman" panose="02020603050405020304" pitchFamily="18" charset="0"/>
              </a:rPr>
              <a:t>query optimizer</a:t>
            </a:r>
            <a:r>
              <a:rPr lang="en-US" sz="2400" dirty="0">
                <a:latin typeface="Times New Roman" panose="02020603050405020304" pitchFamily="18" charset="0"/>
                <a:cs typeface="Times New Roman" panose="02020603050405020304" pitchFamily="18" charset="0"/>
              </a:rPr>
              <a:t> to choose the </a:t>
            </a:r>
            <a:r>
              <a:rPr lang="en-US" sz="2400" b="1" dirty="0">
                <a:latin typeface="Times New Roman" panose="02020603050405020304" pitchFamily="18" charset="0"/>
                <a:cs typeface="Times New Roman" panose="02020603050405020304" pitchFamily="18" charset="0"/>
              </a:rPr>
              <a:t>best (fastest) execution plan</a:t>
            </a:r>
            <a:r>
              <a:rPr lang="en-US" sz="2400" dirty="0">
                <a:latin typeface="Times New Roman" panose="02020603050405020304" pitchFamily="18" charset="0"/>
                <a:cs typeface="Times New Roman" panose="02020603050405020304" pitchFamily="18" charset="0"/>
              </a:rPr>
              <a:t> based on:</a:t>
            </a:r>
            <a:endParaRPr lang="en-US" sz="2400" dirty="0">
              <a:latin typeface="Times New Roman" panose="02020603050405020304" pitchFamily="18" charset="0"/>
              <a:cs typeface="Times New Roman" panose="02020603050405020304" pitchFamily="18" charset="0"/>
            </a:endParaRPr>
          </a:p>
        </p:txBody>
      </p:sp>
      <p:graphicFrame>
        <p:nvGraphicFramePr>
          <p:cNvPr id="14" name="Table 13"/>
          <p:cNvGraphicFramePr>
            <a:graphicFrameLocks noGrp="1"/>
          </p:cNvGraphicFramePr>
          <p:nvPr/>
        </p:nvGraphicFramePr>
        <p:xfrm>
          <a:off x="838200" y="5233035"/>
          <a:ext cx="5398140" cy="1097280"/>
        </p:xfrm>
        <a:graphic>
          <a:graphicData uri="http://schemas.openxmlformats.org/drawingml/2006/table">
            <a:tbl>
              <a:tblPr/>
              <a:tblGrid>
                <a:gridCol w="1799380"/>
                <a:gridCol w="1799380"/>
                <a:gridCol w="1799380"/>
              </a:tblGrid>
              <a:tr h="0">
                <a:tc>
                  <a:txBody>
                    <a:bodyPr/>
                    <a:lstStyle/>
                    <a:p>
                      <a:pPr>
                        <a:buNone/>
                      </a:pPr>
                      <a:r>
                        <a:rPr lang="en-US" dirty="0"/>
                        <a:t>Table</a:t>
                      </a:r>
                      <a:endParaRPr lang="en-US" dirty="0"/>
                    </a:p>
                  </a:txBody>
                  <a:tcPr anchor="ctr">
                    <a:lnL>
                      <a:noFill/>
                    </a:lnL>
                    <a:lnR>
                      <a:noFill/>
                    </a:lnR>
                    <a:lnT>
                      <a:noFill/>
                    </a:lnT>
                    <a:lnB>
                      <a:noFill/>
                    </a:lnB>
                    <a:noFill/>
                  </a:tcPr>
                </a:tc>
                <a:tc>
                  <a:txBody>
                    <a:bodyPr/>
                    <a:lstStyle/>
                    <a:p>
                      <a:pPr>
                        <a:buNone/>
                      </a:pPr>
                      <a:r>
                        <a:rPr lang="en-US"/>
                        <a:t>Rows</a:t>
                      </a:r>
                      <a:endParaRPr lang="en-US"/>
                    </a:p>
                  </a:txBody>
                  <a:tcPr anchor="ctr">
                    <a:lnL>
                      <a:noFill/>
                    </a:lnL>
                    <a:lnR>
                      <a:noFill/>
                    </a:lnR>
                    <a:lnT>
                      <a:noFill/>
                    </a:lnT>
                    <a:lnB>
                      <a:noFill/>
                    </a:lnB>
                    <a:noFill/>
                  </a:tcPr>
                </a:tc>
                <a:tc>
                  <a:txBody>
                    <a:bodyPr/>
                    <a:lstStyle/>
                    <a:p>
                      <a:pPr>
                        <a:buNone/>
                      </a:pPr>
                      <a:r>
                        <a:rPr lang="en-US" dirty="0"/>
                        <a:t>Indexed Column</a:t>
                      </a:r>
                      <a:endParaRPr lang="en-US" dirty="0"/>
                    </a:p>
                  </a:txBody>
                  <a:tcPr anchor="ctr">
                    <a:lnL>
                      <a:noFill/>
                    </a:lnL>
                    <a:lnR>
                      <a:noFill/>
                    </a:lnR>
                    <a:lnT>
                      <a:noFill/>
                    </a:lnT>
                    <a:lnB>
                      <a:noFill/>
                    </a:lnB>
                    <a:noFill/>
                  </a:tcPr>
                </a:tc>
              </a:tr>
              <a:tr h="0">
                <a:tc>
                  <a:txBody>
                    <a:bodyPr/>
                    <a:lstStyle/>
                    <a:p>
                      <a:pPr>
                        <a:buNone/>
                      </a:pPr>
                      <a:r>
                        <a:rPr lang="en-US" b="1" dirty="0"/>
                        <a:t>Students</a:t>
                      </a:r>
                      <a:endParaRPr lang="en-US" dirty="0"/>
                    </a:p>
                  </a:txBody>
                  <a:tcPr anchor="ctr">
                    <a:lnL>
                      <a:noFill/>
                    </a:lnL>
                    <a:lnR>
                      <a:noFill/>
                    </a:lnR>
                    <a:lnT>
                      <a:noFill/>
                    </a:lnT>
                    <a:lnB>
                      <a:noFill/>
                    </a:lnB>
                    <a:noFill/>
                  </a:tcPr>
                </a:tc>
                <a:tc>
                  <a:txBody>
                    <a:bodyPr/>
                    <a:lstStyle/>
                    <a:p>
                      <a:pPr>
                        <a:buNone/>
                      </a:pPr>
                      <a:r>
                        <a:rPr lang="en-US" dirty="0"/>
                        <a:t>10,000</a:t>
                      </a:r>
                      <a:endParaRPr lang="en-US" dirty="0"/>
                    </a:p>
                  </a:txBody>
                  <a:tcPr anchor="ctr">
                    <a:lnL>
                      <a:noFill/>
                    </a:lnL>
                    <a:lnR>
                      <a:noFill/>
                    </a:lnR>
                    <a:lnT>
                      <a:noFill/>
                    </a:lnT>
                    <a:lnB>
                      <a:noFill/>
                    </a:lnB>
                    <a:noFill/>
                  </a:tcPr>
                </a:tc>
                <a:tc>
                  <a:txBody>
                    <a:bodyPr/>
                    <a:lstStyle/>
                    <a:p>
                      <a:pPr>
                        <a:buNone/>
                      </a:pPr>
                      <a:r>
                        <a:rPr lang="en-US" dirty="0"/>
                        <a:t>Dept</a:t>
                      </a:r>
                      <a:endParaRPr lang="en-US" dirty="0"/>
                    </a:p>
                  </a:txBody>
                  <a:tcPr anchor="ctr">
                    <a:lnL>
                      <a:noFill/>
                    </a:lnL>
                    <a:lnR>
                      <a:noFill/>
                    </a:lnR>
                    <a:lnT>
                      <a:noFill/>
                    </a:lnT>
                    <a:lnB>
                      <a:noFill/>
                    </a:lnB>
                    <a:noFill/>
                  </a:tcPr>
                </a:tc>
              </a:tr>
              <a:tr h="0">
                <a:tc>
                  <a:txBody>
                    <a:bodyPr/>
                    <a:lstStyle/>
                    <a:p>
                      <a:pPr>
                        <a:buNone/>
                      </a:pPr>
                      <a:r>
                        <a:rPr lang="en-US" b="1" dirty="0"/>
                        <a:t>Departments</a:t>
                      </a:r>
                      <a:endParaRPr lang="en-US" dirty="0"/>
                    </a:p>
                  </a:txBody>
                  <a:tcPr anchor="ctr">
                    <a:lnL>
                      <a:noFill/>
                    </a:lnL>
                    <a:lnR>
                      <a:noFill/>
                    </a:lnR>
                    <a:lnT>
                      <a:noFill/>
                    </a:lnT>
                    <a:lnB>
                      <a:noFill/>
                    </a:lnB>
                    <a:noFill/>
                  </a:tcPr>
                </a:tc>
                <a:tc>
                  <a:txBody>
                    <a:bodyPr/>
                    <a:lstStyle/>
                    <a:p>
                      <a:pPr>
                        <a:buNone/>
                      </a:pPr>
                      <a:r>
                        <a:rPr lang="en-US" dirty="0"/>
                        <a:t>100</a:t>
                      </a:r>
                      <a:endParaRPr lang="en-US" dirty="0"/>
                    </a:p>
                  </a:txBody>
                  <a:tcPr anchor="ctr">
                    <a:lnL>
                      <a:noFill/>
                    </a:lnL>
                    <a:lnR>
                      <a:noFill/>
                    </a:lnR>
                    <a:lnT>
                      <a:noFill/>
                    </a:lnT>
                    <a:lnB>
                      <a:noFill/>
                    </a:lnB>
                    <a:noFill/>
                  </a:tcPr>
                </a:tc>
                <a:tc>
                  <a:txBody>
                    <a:bodyPr/>
                    <a:lstStyle/>
                    <a:p>
                      <a:pPr>
                        <a:buNone/>
                      </a:pPr>
                      <a:r>
                        <a:rPr lang="en-US" dirty="0" err="1"/>
                        <a:t>DeptID</a:t>
                      </a:r>
                      <a:endParaRPr lang="en-US" dirty="0"/>
                    </a:p>
                  </a:txBody>
                  <a:tcPr anchor="ctr">
                    <a:lnL>
                      <a:noFill/>
                    </a:lnL>
                    <a:lnR>
                      <a:noFill/>
                    </a:lnR>
                    <a:lnT>
                      <a:noFill/>
                    </a:lnT>
                    <a:lnB>
                      <a:noFill/>
                    </a:lnB>
                    <a:noFill/>
                  </a:tcPr>
                </a:tc>
              </a:tr>
            </a:tbl>
          </a:graphicData>
        </a:graphic>
      </p:graphicFrame>
      <p:sp>
        <p:nvSpPr>
          <p:cNvPr id="16" name="TextBox 15"/>
          <p:cNvSpPr txBox="1"/>
          <p:nvPr/>
        </p:nvSpPr>
        <p:spPr>
          <a:xfrm>
            <a:off x="830513" y="4863703"/>
            <a:ext cx="6096000" cy="369332"/>
          </a:xfrm>
          <a:prstGeom prst="rect">
            <a:avLst/>
          </a:prstGeom>
          <a:noFill/>
        </p:spPr>
        <p:txBody>
          <a:bodyPr wrap="square">
            <a:spAutoFit/>
          </a:bodyPr>
          <a:lstStyle/>
          <a:p>
            <a:pPr>
              <a:buNone/>
            </a:pPr>
            <a:r>
              <a:rPr lang="en-US" b="1" dirty="0"/>
              <a:t> Example Scenario</a:t>
            </a:r>
            <a:endParaRPr lang="en-US" b="1" dirty="0"/>
          </a:p>
        </p:txBody>
      </p:sp>
      <p:sp>
        <p:nvSpPr>
          <p:cNvPr id="18" name="TextBox 17"/>
          <p:cNvSpPr txBox="1"/>
          <p:nvPr/>
        </p:nvSpPr>
        <p:spPr>
          <a:xfrm>
            <a:off x="6926513" y="2228671"/>
            <a:ext cx="5189336" cy="1572866"/>
          </a:xfrm>
          <a:prstGeom prst="rect">
            <a:avLst/>
          </a:prstGeom>
          <a:noFill/>
        </p:spPr>
        <p:txBody>
          <a:bodyPr wrap="square">
            <a:spAutoFit/>
          </a:bodyPr>
          <a:lstStyle/>
          <a:p>
            <a:r>
              <a:rPr lang="en-US" dirty="0"/>
              <a:t>SQL query:- </a:t>
            </a:r>
            <a:endParaRPr lang="en-US" dirty="0"/>
          </a:p>
          <a:p>
            <a:pPr>
              <a:lnSpc>
                <a:spcPct val="150000"/>
              </a:lnSpc>
            </a:pPr>
            <a:r>
              <a:rPr lang="en-US" dirty="0">
                <a:solidFill>
                  <a:srgbClr val="0070C0"/>
                </a:solidFill>
              </a:rPr>
              <a:t>SELECT </a:t>
            </a:r>
            <a:r>
              <a:rPr lang="en-US" dirty="0" err="1">
                <a:solidFill>
                  <a:srgbClr val="0070C0"/>
                </a:solidFill>
              </a:rPr>
              <a:t>S.Name</a:t>
            </a:r>
            <a:r>
              <a:rPr lang="en-US" dirty="0">
                <a:solidFill>
                  <a:srgbClr val="0070C0"/>
                </a:solidFill>
              </a:rPr>
              <a:t>, D.HOD</a:t>
            </a:r>
            <a:endParaRPr lang="en-US" dirty="0">
              <a:solidFill>
                <a:srgbClr val="0070C0"/>
              </a:solidFill>
            </a:endParaRPr>
          </a:p>
          <a:p>
            <a:pPr>
              <a:lnSpc>
                <a:spcPct val="150000"/>
              </a:lnSpc>
            </a:pPr>
            <a:r>
              <a:rPr lang="en-US" dirty="0">
                <a:solidFill>
                  <a:srgbClr val="0070C0"/>
                </a:solidFill>
              </a:rPr>
              <a:t>FROM Students S, Departments D</a:t>
            </a:r>
            <a:endParaRPr lang="en-US" dirty="0">
              <a:solidFill>
                <a:srgbClr val="0070C0"/>
              </a:solidFill>
            </a:endParaRPr>
          </a:p>
          <a:p>
            <a:pPr>
              <a:lnSpc>
                <a:spcPct val="150000"/>
              </a:lnSpc>
            </a:pPr>
            <a:r>
              <a:rPr lang="en-US" dirty="0">
                <a:solidFill>
                  <a:srgbClr val="0070C0"/>
                </a:solidFill>
              </a:rPr>
              <a:t>WHERE </a:t>
            </a:r>
            <a:r>
              <a:rPr lang="en-US" dirty="0" err="1">
                <a:solidFill>
                  <a:srgbClr val="0070C0"/>
                </a:solidFill>
              </a:rPr>
              <a:t>S.Dept</a:t>
            </a:r>
            <a:r>
              <a:rPr lang="en-US" dirty="0">
                <a:solidFill>
                  <a:srgbClr val="0070C0"/>
                </a:solidFill>
              </a:rPr>
              <a:t> = </a:t>
            </a:r>
            <a:r>
              <a:rPr lang="en-US" dirty="0" err="1">
                <a:solidFill>
                  <a:srgbClr val="0070C0"/>
                </a:solidFill>
              </a:rPr>
              <a:t>D.DeptID</a:t>
            </a:r>
            <a:r>
              <a:rPr lang="en-US" dirty="0">
                <a:solidFill>
                  <a:srgbClr val="0070C0"/>
                </a:solidFill>
              </a:rPr>
              <a:t> AND </a:t>
            </a:r>
            <a:r>
              <a:rPr lang="en-US" dirty="0" err="1">
                <a:solidFill>
                  <a:srgbClr val="0070C0"/>
                </a:solidFill>
              </a:rPr>
              <a:t>S.Dept</a:t>
            </a:r>
            <a:r>
              <a:rPr lang="en-US" dirty="0">
                <a:solidFill>
                  <a:srgbClr val="0070C0"/>
                </a:solidFill>
              </a:rPr>
              <a:t> = 'CS';</a:t>
            </a:r>
            <a:endParaRPr lang="en-US" dirty="0">
              <a:solidFill>
                <a:srgbClr val="0070C0"/>
              </a:solidFill>
            </a:endParaRPr>
          </a:p>
        </p:txBody>
      </p:sp>
    </p:spTree>
  </p:cSld>
  <p:clrMapOvr>
    <a:masterClrMapping/>
  </p:clrMapOvr>
  <p:transition spd="slow">
    <p:cov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20"/>
            <a:ext cx="10515600" cy="430887"/>
          </a:xfrm>
        </p:spPr>
        <p:txBody>
          <a:bodyPr>
            <a:noAutofit/>
          </a:bodyPr>
          <a:lstStyle/>
          <a:p>
            <a:pPr algn="ctr"/>
            <a:r>
              <a:rPr lang="en-US" sz="3200" dirty="0">
                <a:effectLst>
                  <a:outerShdw blurRad="38100" dist="38100" dir="2700000" algn="tl">
                    <a:srgbClr val="000000">
                      <a:alpha val="43137"/>
                    </a:srgbClr>
                  </a:outerShdw>
                </a:effectLst>
              </a:rPr>
              <a:t>CBO…</a:t>
            </a:r>
            <a:endParaRPr lang="en-US" sz="3200" dirty="0">
              <a:effectLst>
                <a:outerShdw blurRad="38100" dist="38100" dir="2700000" algn="tl">
                  <a:srgbClr val="000000">
                    <a:alpha val="43137"/>
                  </a:srgbClr>
                </a:outerShdw>
              </a:effectLst>
            </a:endParaRPr>
          </a:p>
        </p:txBody>
      </p:sp>
      <p:graphicFrame>
        <p:nvGraphicFramePr>
          <p:cNvPr id="12" name="Content Placeholder 11"/>
          <p:cNvGraphicFramePr>
            <a:graphicFrameLocks noGrp="1"/>
          </p:cNvGraphicFramePr>
          <p:nvPr>
            <p:ph idx="1"/>
          </p:nvPr>
        </p:nvGraphicFramePr>
        <p:xfrm>
          <a:off x="6096000" y="1876525"/>
          <a:ext cx="5923723" cy="2103120"/>
        </p:xfrm>
        <a:graphic>
          <a:graphicData uri="http://schemas.openxmlformats.org/drawingml/2006/table">
            <a:tbl>
              <a:tblPr>
                <a:tableStyleId>{BDBED569-4797-4DF1-A0F4-6AAB3CD982D8}</a:tableStyleId>
              </a:tblPr>
              <a:tblGrid>
                <a:gridCol w="834887"/>
                <a:gridCol w="2960534"/>
                <a:gridCol w="2128302"/>
              </a:tblGrid>
              <a:tr h="365317">
                <a:tc>
                  <a:txBody>
                    <a:bodyPr/>
                    <a:lstStyle/>
                    <a:p>
                      <a:pPr>
                        <a:buNone/>
                      </a:pPr>
                      <a:r>
                        <a:rPr lang="en-US" sz="2000" dirty="0"/>
                        <a:t>Plan</a:t>
                      </a:r>
                      <a:endParaRPr lang="en-US" sz="2000" dirty="0"/>
                    </a:p>
                  </a:txBody>
                  <a:tcPr anchor="ctr"/>
                </a:tc>
                <a:tc>
                  <a:txBody>
                    <a:bodyPr/>
                    <a:lstStyle/>
                    <a:p>
                      <a:pPr>
                        <a:buNone/>
                      </a:pPr>
                      <a:r>
                        <a:rPr lang="en-US" sz="2000" dirty="0"/>
                        <a:t>Method</a:t>
                      </a:r>
                      <a:endParaRPr lang="en-US" sz="2000" dirty="0"/>
                    </a:p>
                  </a:txBody>
                  <a:tcPr anchor="ctr"/>
                </a:tc>
                <a:tc>
                  <a:txBody>
                    <a:bodyPr/>
                    <a:lstStyle/>
                    <a:p>
                      <a:pPr>
                        <a:buNone/>
                      </a:pPr>
                      <a:r>
                        <a:rPr lang="en-US" sz="2000"/>
                        <a:t>Estimated Cost</a:t>
                      </a:r>
                      <a:endParaRPr lang="en-US" sz="2000"/>
                    </a:p>
                  </a:txBody>
                  <a:tcPr anchor="ctr"/>
                </a:tc>
              </a:tr>
              <a:tr h="646331">
                <a:tc>
                  <a:txBody>
                    <a:bodyPr/>
                    <a:lstStyle/>
                    <a:p>
                      <a:pPr>
                        <a:buNone/>
                      </a:pPr>
                      <a:r>
                        <a:rPr lang="en-US" sz="1800" b="1" dirty="0"/>
                        <a:t>Plan A</a:t>
                      </a:r>
                      <a:endParaRPr lang="en-US" sz="1800" dirty="0"/>
                    </a:p>
                  </a:txBody>
                  <a:tcPr anchor="ctr"/>
                </a:tc>
                <a:tc>
                  <a:txBody>
                    <a:bodyPr/>
                    <a:lstStyle/>
                    <a:p>
                      <a:pPr>
                        <a:buNone/>
                      </a:pPr>
                      <a:r>
                        <a:rPr lang="en-US" sz="2000" dirty="0"/>
                        <a:t>Full Table Scan on Students + Join</a:t>
                      </a:r>
                      <a:endParaRPr lang="en-US" sz="2000" dirty="0"/>
                    </a:p>
                  </a:txBody>
                  <a:tcPr anchor="ctr"/>
                </a:tc>
                <a:tc>
                  <a:txBody>
                    <a:bodyPr/>
                    <a:lstStyle/>
                    <a:p>
                      <a:pPr>
                        <a:buNone/>
                      </a:pPr>
                      <a:r>
                        <a:rPr lang="en-US" sz="2000" dirty="0"/>
                        <a:t>Read 10,000 rows</a:t>
                      </a:r>
                      <a:endParaRPr lang="en-US" sz="2000" dirty="0"/>
                    </a:p>
                  </a:txBody>
                  <a:tcPr anchor="ctr"/>
                </a:tc>
              </a:tr>
              <a:tr h="927344">
                <a:tc>
                  <a:txBody>
                    <a:bodyPr/>
                    <a:lstStyle/>
                    <a:p>
                      <a:pPr>
                        <a:buNone/>
                      </a:pPr>
                      <a:r>
                        <a:rPr lang="en-US" sz="1800" b="1" dirty="0"/>
                        <a:t>Plan B</a:t>
                      </a:r>
                      <a:endParaRPr lang="en-US" sz="1800" dirty="0"/>
                    </a:p>
                  </a:txBody>
                  <a:tcPr anchor="ctr"/>
                </a:tc>
                <a:tc>
                  <a:txBody>
                    <a:bodyPr/>
                    <a:lstStyle/>
                    <a:p>
                      <a:pPr>
                        <a:buNone/>
                      </a:pPr>
                      <a:r>
                        <a:rPr lang="en-US" sz="2000" dirty="0"/>
                        <a:t>Index Scan on Students(Dept) → Fetch only CS rows + Join</a:t>
                      </a:r>
                      <a:endParaRPr lang="en-US" sz="2000" dirty="0"/>
                    </a:p>
                  </a:txBody>
                  <a:tcPr anchor="ctr"/>
                </a:tc>
                <a:tc>
                  <a:txBody>
                    <a:bodyPr/>
                    <a:lstStyle/>
                    <a:p>
                      <a:pPr>
                        <a:buNone/>
                      </a:pPr>
                      <a:r>
                        <a:rPr lang="en-US" sz="2000" dirty="0"/>
                        <a:t>Read 1,000 rows</a:t>
                      </a:r>
                      <a:endParaRPr lang="en-US" sz="2000" dirty="0"/>
                    </a:p>
                  </a:txBody>
                  <a:tcPr anchor="ctr"/>
                </a:tc>
              </a:tr>
            </a:tbl>
          </a:graphicData>
        </a:graphic>
      </p:graphicFrame>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graphicFrame>
        <p:nvGraphicFramePr>
          <p:cNvPr id="13" name="Table 12"/>
          <p:cNvGraphicFramePr>
            <a:graphicFrameLocks noGrp="1"/>
          </p:cNvGraphicFramePr>
          <p:nvPr/>
        </p:nvGraphicFramePr>
        <p:xfrm>
          <a:off x="391657" y="3961278"/>
          <a:ext cx="5909164" cy="1982650"/>
        </p:xfrm>
        <a:graphic>
          <a:graphicData uri="http://schemas.openxmlformats.org/drawingml/2006/table">
            <a:tbl>
              <a:tblPr>
                <a:tableStyleId>{0505E3EF-67EA-436B-97B2-0124C06EBD24}</a:tableStyleId>
              </a:tblPr>
              <a:tblGrid>
                <a:gridCol w="1633455"/>
                <a:gridCol w="1067462"/>
                <a:gridCol w="3208247"/>
              </a:tblGrid>
              <a:tr h="279847">
                <a:tc>
                  <a:txBody>
                    <a:bodyPr/>
                    <a:lstStyle/>
                    <a:p>
                      <a:pPr>
                        <a:buNone/>
                      </a:pPr>
                      <a:r>
                        <a:rPr lang="en-US" b="1" dirty="0">
                          <a:solidFill>
                            <a:srgbClr val="C00000"/>
                          </a:solidFill>
                        </a:rPr>
                        <a:t>Join Method</a:t>
                      </a:r>
                      <a:endParaRPr lang="en-US" b="1" dirty="0">
                        <a:solidFill>
                          <a:srgbClr val="C00000"/>
                        </a:solidFill>
                      </a:endParaRPr>
                    </a:p>
                  </a:txBody>
                  <a:tcPr anchor="ctr"/>
                </a:tc>
                <a:tc>
                  <a:txBody>
                    <a:bodyPr/>
                    <a:lstStyle/>
                    <a:p>
                      <a:pPr>
                        <a:buNone/>
                      </a:pPr>
                      <a:r>
                        <a:rPr lang="en-US" b="1" dirty="0">
                          <a:solidFill>
                            <a:srgbClr val="C00000"/>
                          </a:solidFill>
                        </a:rPr>
                        <a:t>Cost</a:t>
                      </a:r>
                      <a:endParaRPr lang="en-US" b="1" dirty="0">
                        <a:solidFill>
                          <a:srgbClr val="C00000"/>
                        </a:solidFill>
                      </a:endParaRPr>
                    </a:p>
                  </a:txBody>
                  <a:tcPr anchor="ctr"/>
                </a:tc>
                <a:tc>
                  <a:txBody>
                    <a:bodyPr/>
                    <a:lstStyle/>
                    <a:p>
                      <a:pPr>
                        <a:buNone/>
                      </a:pPr>
                      <a:r>
                        <a:rPr lang="en-US" b="1" dirty="0">
                          <a:solidFill>
                            <a:srgbClr val="C00000"/>
                          </a:solidFill>
                        </a:rPr>
                        <a:t>Best When</a:t>
                      </a:r>
                      <a:endParaRPr lang="en-US" b="1" dirty="0">
                        <a:solidFill>
                          <a:srgbClr val="C00000"/>
                        </a:solidFill>
                      </a:endParaRPr>
                    </a:p>
                  </a:txBody>
                  <a:tcPr anchor="ctr"/>
                </a:tc>
              </a:tr>
              <a:tr h="343781">
                <a:tc>
                  <a:txBody>
                    <a:bodyPr/>
                    <a:lstStyle/>
                    <a:p>
                      <a:pPr>
                        <a:buNone/>
                      </a:pPr>
                      <a:r>
                        <a:rPr lang="en-US" b="1" dirty="0"/>
                        <a:t>Nested Loop Join</a:t>
                      </a:r>
                      <a:endParaRPr lang="en-US" dirty="0"/>
                    </a:p>
                  </a:txBody>
                  <a:tcPr anchor="ctr"/>
                </a:tc>
                <a:tc>
                  <a:txBody>
                    <a:bodyPr/>
                    <a:lstStyle/>
                    <a:p>
                      <a:pPr>
                        <a:buNone/>
                      </a:pPr>
                      <a:r>
                        <a:rPr lang="en-US"/>
                        <a:t>High</a:t>
                      </a:r>
                      <a:endParaRPr lang="en-US"/>
                    </a:p>
                  </a:txBody>
                  <a:tcPr anchor="ctr"/>
                </a:tc>
                <a:tc>
                  <a:txBody>
                    <a:bodyPr/>
                    <a:lstStyle/>
                    <a:p>
                      <a:pPr>
                        <a:buNone/>
                      </a:pPr>
                      <a:r>
                        <a:rPr lang="en-US" dirty="0"/>
                        <a:t>Small tables</a:t>
                      </a:r>
                      <a:endParaRPr lang="en-US" dirty="0"/>
                    </a:p>
                  </a:txBody>
                  <a:tcPr anchor="ctr"/>
                </a:tc>
              </a:tr>
              <a:tr h="488405">
                <a:tc>
                  <a:txBody>
                    <a:bodyPr/>
                    <a:lstStyle/>
                    <a:p>
                      <a:pPr>
                        <a:buNone/>
                      </a:pPr>
                      <a:r>
                        <a:rPr lang="en-US" b="1" dirty="0"/>
                        <a:t>Hash Join</a:t>
                      </a:r>
                      <a:endParaRPr lang="en-US" dirty="0"/>
                    </a:p>
                  </a:txBody>
                  <a:tcPr anchor="ctr"/>
                </a:tc>
                <a:tc>
                  <a:txBody>
                    <a:bodyPr/>
                    <a:lstStyle/>
                    <a:p>
                      <a:pPr>
                        <a:buNone/>
                      </a:pPr>
                      <a:r>
                        <a:rPr lang="en-US" dirty="0"/>
                        <a:t>Medium</a:t>
                      </a:r>
                      <a:endParaRPr lang="en-US" dirty="0"/>
                    </a:p>
                  </a:txBody>
                  <a:tcPr anchor="ctr"/>
                </a:tc>
                <a:tc>
                  <a:txBody>
                    <a:bodyPr/>
                    <a:lstStyle/>
                    <a:p>
                      <a:pPr>
                        <a:buNone/>
                      </a:pPr>
                      <a:r>
                        <a:rPr lang="en-US" dirty="0"/>
                        <a:t>No index, large tables</a:t>
                      </a:r>
                      <a:endParaRPr lang="en-US" dirty="0"/>
                    </a:p>
                  </a:txBody>
                  <a:tcPr anchor="ctr"/>
                </a:tc>
              </a:tr>
              <a:tr h="488405">
                <a:tc>
                  <a:txBody>
                    <a:bodyPr/>
                    <a:lstStyle/>
                    <a:p>
                      <a:pPr>
                        <a:buNone/>
                      </a:pPr>
                      <a:r>
                        <a:rPr lang="en-US" b="1" dirty="0"/>
                        <a:t>Merge Join</a:t>
                      </a:r>
                      <a:endParaRPr lang="en-US" dirty="0"/>
                    </a:p>
                  </a:txBody>
                  <a:tcPr anchor="ctr"/>
                </a:tc>
                <a:tc>
                  <a:txBody>
                    <a:bodyPr/>
                    <a:lstStyle/>
                    <a:p>
                      <a:pPr>
                        <a:buNone/>
                      </a:pPr>
                      <a:r>
                        <a:rPr lang="en-US"/>
                        <a:t>Low</a:t>
                      </a:r>
                      <a:endParaRPr lang="en-US"/>
                    </a:p>
                  </a:txBody>
                  <a:tcPr anchor="ctr"/>
                </a:tc>
                <a:tc>
                  <a:txBody>
                    <a:bodyPr/>
                    <a:lstStyle/>
                    <a:p>
                      <a:pPr>
                        <a:buNone/>
                      </a:pPr>
                      <a:r>
                        <a:rPr lang="en-US" dirty="0"/>
                        <a:t>Both sides sorted or indexed</a:t>
                      </a:r>
                      <a:endParaRPr lang="en-US" dirty="0"/>
                    </a:p>
                  </a:txBody>
                  <a:tcPr anchor="ctr"/>
                </a:tc>
              </a:tr>
            </a:tbl>
          </a:graphicData>
        </a:graphic>
      </p:graphicFrame>
      <p:sp>
        <p:nvSpPr>
          <p:cNvPr id="14" name="Rectangle 6"/>
          <p:cNvSpPr>
            <a:spLocks noChangeArrowheads="1"/>
          </p:cNvSpPr>
          <p:nvPr/>
        </p:nvSpPr>
        <p:spPr bwMode="auto">
          <a:xfrm>
            <a:off x="391657" y="655647"/>
            <a:ext cx="586336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200" b="1" i="0" u="none" strike="noStrike" cap="none" normalizeH="0" baseline="0" dirty="0">
                <a:ln>
                  <a:noFill/>
                </a:ln>
                <a:solidFill>
                  <a:schemeClr val="tx1"/>
                </a:solidFill>
                <a:effectLst/>
                <a:latin typeface="Arial" panose="020B0604020202020204" pitchFamily="34" charset="0"/>
              </a:rPr>
              <a:t>Step 1: Estimate Selectivity</a:t>
            </a: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Total students = 10,000</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Suppose </a:t>
            </a:r>
            <a:r>
              <a:rPr kumimoji="0" lang="en-US" altLang="en-US" sz="2000" b="1" i="0" u="none" strike="noStrike" cap="none" normalizeH="0" baseline="0" dirty="0">
                <a:ln>
                  <a:noFill/>
                </a:ln>
                <a:solidFill>
                  <a:schemeClr val="tx1"/>
                </a:solidFill>
                <a:effectLst/>
                <a:latin typeface="Arial" panose="020B0604020202020204" pitchFamily="34" charset="0"/>
              </a:rPr>
              <a:t>10% are CS students</a:t>
            </a:r>
            <a:r>
              <a:rPr kumimoji="0" lang="en-US" altLang="en-US" sz="2000" b="0" i="0" u="none" strike="noStrike" cap="none" normalizeH="0" baseline="0" dirty="0">
                <a:ln>
                  <a:noFill/>
                </a:ln>
                <a:solidFill>
                  <a:schemeClr val="tx1"/>
                </a:solidFill>
                <a:effectLst/>
                <a:latin typeface="Arial" panose="020B0604020202020204" pitchFamily="34" charset="0"/>
              </a:rPr>
              <a:t> → 1000 rows match</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Arial" panose="020B0604020202020204" pitchFamily="34" charset="0"/>
              </a:rPr>
              <a:t>Selectivity = 1000 / 10,000 = 0.1 (10%)</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6" name="Rectangle 8"/>
          <p:cNvSpPr>
            <a:spLocks noChangeArrowheads="1"/>
          </p:cNvSpPr>
          <p:nvPr/>
        </p:nvSpPr>
        <p:spPr bwMode="auto">
          <a:xfrm>
            <a:off x="6255026" y="1194256"/>
            <a:ext cx="547905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200" b="1" i="0" u="none" strike="noStrike" cap="none" normalizeH="0" baseline="0" dirty="0">
                <a:ln>
                  <a:noFill/>
                </a:ln>
                <a:solidFill>
                  <a:schemeClr val="tx1"/>
                </a:solidFill>
                <a:effectLst/>
                <a:latin typeface="Arial" panose="020B0604020202020204" pitchFamily="34" charset="0"/>
              </a:rPr>
              <a:t>Step 2: Consider Two Possible Plans</a:t>
            </a:r>
            <a:endParaRPr kumimoji="0" lang="en-US" altLang="en-US" sz="2200" b="1" i="0" u="none" strike="noStrike" cap="none" normalizeH="0" baseline="0" dirty="0">
              <a:ln>
                <a:noFill/>
              </a:ln>
              <a:solidFill>
                <a:schemeClr val="tx1"/>
              </a:solidFill>
              <a:effectLst/>
              <a:latin typeface="Arial" panose="020B0604020202020204" pitchFamily="34" charset="0"/>
            </a:endParaRPr>
          </a:p>
        </p:txBody>
      </p:sp>
      <p:sp>
        <p:nvSpPr>
          <p:cNvPr id="18" name="Rectangle 10"/>
          <p:cNvSpPr>
            <a:spLocks noChangeArrowheads="1"/>
          </p:cNvSpPr>
          <p:nvPr/>
        </p:nvSpPr>
        <p:spPr bwMode="auto">
          <a:xfrm>
            <a:off x="391657" y="3213556"/>
            <a:ext cx="480291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200" b="1" i="0" u="none" strike="noStrike" cap="none" normalizeH="0" baseline="0" dirty="0">
                <a:ln>
                  <a:noFill/>
                </a:ln>
                <a:solidFill>
                  <a:schemeClr val="tx1"/>
                </a:solidFill>
                <a:effectLst/>
                <a:latin typeface="Arial" panose="020B0604020202020204" pitchFamily="34" charset="0"/>
              </a:rPr>
              <a:t>Step 3: Choose Best Join Strategy</a:t>
            </a:r>
            <a:endParaRPr kumimoji="0" lang="en-US" altLang="en-US" sz="2200" b="1" i="0" u="none" strike="noStrike" cap="none" normalizeH="0" baseline="0" dirty="0">
              <a:ln>
                <a:noFill/>
              </a:ln>
              <a:solidFill>
                <a:schemeClr val="tx1"/>
              </a:solidFill>
              <a:effectLst/>
              <a:latin typeface="Arial" panose="020B0604020202020204" pitchFamily="34" charset="0"/>
            </a:endParaRPr>
          </a:p>
        </p:txBody>
      </p:sp>
      <p:sp>
        <p:nvSpPr>
          <p:cNvPr id="20" name="TextBox 19"/>
          <p:cNvSpPr txBox="1"/>
          <p:nvPr/>
        </p:nvSpPr>
        <p:spPr>
          <a:xfrm>
            <a:off x="211923" y="6002407"/>
            <a:ext cx="11297591" cy="70788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0" i="0" u="none" strike="noStrike" cap="none" normalizeH="0" baseline="0" dirty="0">
                <a:ln>
                  <a:noFill/>
                </a:ln>
                <a:solidFill>
                  <a:srgbClr val="C00000"/>
                </a:solidFill>
                <a:effectLst/>
                <a:latin typeface="Times New Roman" panose="02020603050405020304" pitchFamily="18" charset="0"/>
                <a:cs typeface="Times New Roman" panose="02020603050405020304" pitchFamily="18" charset="0"/>
              </a:rPr>
              <a:t>Since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DeptID</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Departments is indexed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filtered Students = 1,000 rows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optimizer chooses: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Index Nested Loop Join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Lowest Cost!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1" name="Rectangle 20"/>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3017"/>
            <a:ext cx="10515600" cy="522357"/>
          </a:xfrm>
        </p:spPr>
        <p:txBody>
          <a:bodyPr>
            <a:normAutofit/>
          </a:bodyPr>
          <a:lstStyle/>
          <a:p>
            <a:r>
              <a:rPr lang="en-US" sz="24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How Cost is Calculated in Query Optimization </a:t>
            </a:r>
            <a:endParaRPr lang="en-US" sz="2400" dirty="0">
              <a:solidFill>
                <a:srgbClr val="C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8052" y="821635"/>
            <a:ext cx="11741426" cy="4351338"/>
          </a:xfrm>
        </p:spPr>
        <p:txBody>
          <a:bodyPr/>
          <a:lstStyle/>
          <a:p>
            <a:pPr marL="0" indent="0">
              <a:buNone/>
            </a:pPr>
            <a:r>
              <a:rPr lang="en-US" sz="2000" dirty="0">
                <a:latin typeface="Times New Roman" panose="02020603050405020304" pitchFamily="18" charset="0"/>
                <a:cs typeface="Times New Roman" panose="02020603050405020304" pitchFamily="18" charset="0"/>
              </a:rPr>
              <a:t>The DBMS </a:t>
            </a:r>
            <a:r>
              <a:rPr lang="en-US" sz="2000" b="1" dirty="0">
                <a:latin typeface="Times New Roman" panose="02020603050405020304" pitchFamily="18" charset="0"/>
                <a:cs typeface="Times New Roman" panose="02020603050405020304" pitchFamily="18" charset="0"/>
              </a:rPr>
              <a:t>assigns a numeric value (cost)</a:t>
            </a:r>
            <a:r>
              <a:rPr lang="en-US" sz="2000" dirty="0">
                <a:latin typeface="Times New Roman" panose="02020603050405020304" pitchFamily="18" charset="0"/>
                <a:cs typeface="Times New Roman" panose="02020603050405020304" pitchFamily="18" charset="0"/>
              </a:rPr>
              <a:t> to different query execution strategies based on </a:t>
            </a:r>
            <a:r>
              <a:rPr lang="en-US" sz="2000" b="1" dirty="0">
                <a:solidFill>
                  <a:srgbClr val="C00000"/>
                </a:solidFill>
                <a:latin typeface="Times New Roman" panose="02020603050405020304" pitchFamily="18" charset="0"/>
                <a:cs typeface="Times New Roman" panose="02020603050405020304" pitchFamily="18" charset="0"/>
              </a:rPr>
              <a:t>Disk I/O + CPU </a:t>
            </a:r>
            <a:r>
              <a:rPr lang="en-US" sz="2000" b="1" dirty="0">
                <a:latin typeface="Times New Roman" panose="02020603050405020304" pitchFamily="18" charset="0"/>
                <a:cs typeface="Times New Roman" panose="02020603050405020304" pitchFamily="18" charset="0"/>
              </a:rPr>
              <a:t>operations</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mc:AlternateContent xmlns:mc="http://schemas.openxmlformats.org/markup-compatibility/2006">
        <mc:Choice xmlns:a14="http://schemas.microsoft.com/office/drawing/2010/main" Requires="a14">
          <p:sp>
            <p:nvSpPr>
              <p:cNvPr id="6" name="TextBox 5"/>
              <p:cNvSpPr txBox="1"/>
              <p:nvPr/>
            </p:nvSpPr>
            <p:spPr>
              <a:xfrm>
                <a:off x="318052" y="1472992"/>
                <a:ext cx="6096000" cy="4197559"/>
              </a:xfrm>
              <a:prstGeom prst="rect">
                <a:avLst/>
              </a:prstGeom>
              <a:noFill/>
            </p:spPr>
            <p:txBody>
              <a:bodyPr wrap="square">
                <a:spAutoFit/>
              </a:bodyPr>
              <a:lstStyle/>
              <a:p>
                <a:pPr>
                  <a:lnSpc>
                    <a:spcPct val="150000"/>
                  </a:lnSpc>
                  <a:buNone/>
                </a:pPr>
                <a:r>
                  <a:rPr lang="en-US" b="1" dirty="0">
                    <a:latin typeface="Times New Roman" panose="02020603050405020304" pitchFamily="18" charset="0"/>
                    <a:cs typeface="Times New Roman" panose="02020603050405020304" pitchFamily="18" charset="0"/>
                  </a:rPr>
                  <a:t>1. Basic Cost Formula</a:t>
                </a:r>
                <a:endParaRPr lang="en-US" b="1" dirty="0">
                  <a:latin typeface="Times New Roman" panose="02020603050405020304" pitchFamily="18" charset="0"/>
                  <a:cs typeface="Times New Roman" panose="02020603050405020304" pitchFamily="18" charset="0"/>
                </a:endParaRPr>
              </a:p>
              <a:p>
                <a:pPr>
                  <a:lnSpc>
                    <a:spcPct val="150000"/>
                  </a:lnSpc>
                  <a:buNone/>
                </a:pPr>
                <a:r>
                  <a:rPr lang="en-US" dirty="0">
                    <a:latin typeface="Times New Roman" panose="02020603050405020304" pitchFamily="18" charset="0"/>
                    <a:cs typeface="Times New Roman" panose="02020603050405020304" pitchFamily="18" charset="0"/>
                  </a:rPr>
                  <a:t>Most DBMS optimizers use a simplified formula:</a:t>
                </a:r>
                <a:endParaRPr lang="en-US" dirty="0">
                  <a:latin typeface="Times New Roman" panose="02020603050405020304" pitchFamily="18" charset="0"/>
                  <a:cs typeface="Times New Roman" panose="02020603050405020304" pitchFamily="18" charset="0"/>
                </a:endParaRPr>
              </a:p>
              <a:p>
                <a:pPr>
                  <a:lnSpc>
                    <a:spcPct val="150000"/>
                  </a:lnSpc>
                  <a:buNone/>
                </a:pPr>
                <a14:m>
                  <m:oMathPara xmlns:m="http://schemas.openxmlformats.org/officeDocument/2006/math">
                    <m:oMathParaPr>
                      <m:jc m:val="centerGroup"/>
                    </m:oMathParaPr>
                    <m:oMath xmlns:m="http://schemas.openxmlformats.org/officeDocument/2006/math">
                      <m:r>
                        <m:rPr>
                          <m:nor/>
                        </m:rPr>
                        <a:rPr lang="en-US" b="0">
                          <a:latin typeface="Times New Roman" panose="02020603050405020304" pitchFamily="18" charset="0"/>
                          <a:cs typeface="Times New Roman" panose="02020603050405020304" pitchFamily="18" charset="0"/>
                        </a:rPr>
                        <m:t>Total</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Cost</m:t>
                      </m:r>
                      <m:r>
                        <a:rPr lang="en-US" b="0" i="0">
                          <a:latin typeface="Cambria Math" panose="02040503050406030204" pitchFamily="18" charset="0"/>
                        </a:rPr>
                        <m:t>=</m:t>
                      </m:r>
                      <m:r>
                        <m:rPr>
                          <m:nor/>
                        </m:rPr>
                        <a:rPr lang="en-US" b="0" i="1">
                          <a:latin typeface="Times New Roman" panose="02020603050405020304" pitchFamily="18" charset="0"/>
                          <a:cs typeface="Times New Roman" panose="02020603050405020304" pitchFamily="18" charset="0"/>
                        </a:rPr>
                        <m:t>Disk</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I</m:t>
                      </m:r>
                      <m:r>
                        <m:rPr>
                          <m:nor/>
                        </m:rPr>
                        <a:rPr lang="en-US" b="0" i="1">
                          <a:latin typeface="Times New Roman" panose="02020603050405020304" pitchFamily="18" charset="0"/>
                          <a:cs typeface="Times New Roman" panose="02020603050405020304" pitchFamily="18" charset="0"/>
                        </a:rPr>
                        <m:t>/</m:t>
                      </m:r>
                      <m:r>
                        <m:rPr>
                          <m:nor/>
                        </m:rPr>
                        <a:rPr lang="en-US" b="0" i="1">
                          <a:latin typeface="Times New Roman" panose="02020603050405020304" pitchFamily="18" charset="0"/>
                          <a:cs typeface="Times New Roman" panose="02020603050405020304" pitchFamily="18" charset="0"/>
                        </a:rPr>
                        <m:t>O</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Cost</m:t>
                      </m:r>
                      <m:r>
                        <a:rPr lang="en-US" b="0" i="0">
                          <a:latin typeface="Cambria Math" panose="02040503050406030204" pitchFamily="18" charset="0"/>
                        </a:rPr>
                        <m:t>+</m:t>
                      </m:r>
                      <m:r>
                        <m:rPr>
                          <m:nor/>
                        </m:rPr>
                        <a:rPr lang="en-US" b="0" i="1">
                          <a:latin typeface="Times New Roman" panose="02020603050405020304" pitchFamily="18" charset="0"/>
                          <a:cs typeface="Times New Roman" panose="02020603050405020304" pitchFamily="18" charset="0"/>
                        </a:rPr>
                        <m:t>CPU</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Cost</m:t>
                      </m:r>
                    </m:oMath>
                  </m:oMathPara>
                </a14:m>
                <a:endParaRPr lang="en-US" b="0" dirty="0">
                  <a:latin typeface="Times New Roman" panose="02020603050405020304" pitchFamily="18" charset="0"/>
                  <a:cs typeface="Times New Roman" panose="02020603050405020304" pitchFamily="18" charset="0"/>
                </a:endParaRPr>
              </a:p>
              <a:p>
                <a:pPr>
                  <a:lnSpc>
                    <a:spcPct val="150000"/>
                  </a:lnSpc>
                  <a:buNone/>
                </a:pPr>
                <a:r>
                  <a:rPr lang="en-US" dirty="0">
                    <a:latin typeface="Times New Roman" panose="02020603050405020304" pitchFamily="18" charset="0"/>
                    <a:cs typeface="Times New Roman" panose="02020603050405020304" pitchFamily="18" charset="0"/>
                  </a:rPr>
                  <a:t>However, </a:t>
                </a:r>
                <a:r>
                  <a:rPr lang="en-US" b="1" dirty="0">
                    <a:latin typeface="Times New Roman" panose="02020603050405020304" pitchFamily="18" charset="0"/>
                    <a:cs typeface="Times New Roman" panose="02020603050405020304" pitchFamily="18" charset="0"/>
                  </a:rPr>
                  <a:t>Disk I/O is usually dominant</a:t>
                </a:r>
                <a:r>
                  <a:rPr lang="en-US" dirty="0">
                    <a:latin typeface="Times New Roman" panose="02020603050405020304" pitchFamily="18" charset="0"/>
                    <a:cs typeface="Times New Roman" panose="02020603050405020304" pitchFamily="18" charset="0"/>
                  </a:rPr>
                  <a:t>, so:</a:t>
                </a:r>
                <a:endParaRPr lang="en-US" dirty="0">
                  <a:latin typeface="Times New Roman" panose="02020603050405020304" pitchFamily="18" charset="0"/>
                  <a:cs typeface="Times New Roman" panose="02020603050405020304" pitchFamily="18" charset="0"/>
                </a:endParaRPr>
              </a:p>
              <a:p>
                <a:pPr>
                  <a:lnSpc>
                    <a:spcPct val="150000"/>
                  </a:lnSpc>
                  <a:buNone/>
                </a:pPr>
                <a14:m>
                  <m:oMathPara xmlns:m="http://schemas.openxmlformats.org/officeDocument/2006/math">
                    <m:oMathParaPr>
                      <m:jc m:val="centerGroup"/>
                    </m:oMathParaPr>
                    <m:oMath xmlns:m="http://schemas.openxmlformats.org/officeDocument/2006/math">
                      <m:r>
                        <m:rPr>
                          <m:nor/>
                        </m:rPr>
                        <a:rPr lang="en-US" b="0">
                          <a:latin typeface="Times New Roman" panose="02020603050405020304" pitchFamily="18" charset="0"/>
                          <a:cs typeface="Times New Roman" panose="02020603050405020304" pitchFamily="18" charset="0"/>
                        </a:rPr>
                        <m:t>Cost</m:t>
                      </m:r>
                      <m:r>
                        <a:rPr lang="en-US" b="0" i="0">
                          <a:latin typeface="Cambria Math" panose="02040503050406030204" pitchFamily="18" charset="0"/>
                        </a:rPr>
                        <m:t>≈</m:t>
                      </m:r>
                      <m:r>
                        <m:rPr>
                          <m:nor/>
                        </m:rPr>
                        <a:rPr lang="en-US" b="0" i="1">
                          <a:latin typeface="Times New Roman" panose="02020603050405020304" pitchFamily="18" charset="0"/>
                          <a:cs typeface="Times New Roman" panose="02020603050405020304" pitchFamily="18" charset="0"/>
                        </a:rPr>
                        <m:t>Number</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of</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Disk</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Page</m:t>
                      </m:r>
                      <m:r>
                        <m:rPr>
                          <m:nor/>
                        </m:rPr>
                        <a:rPr lang="en-US" b="0" i="1">
                          <a:latin typeface="Times New Roman" panose="02020603050405020304" pitchFamily="18" charset="0"/>
                          <a:cs typeface="Times New Roman" panose="02020603050405020304" pitchFamily="18" charset="0"/>
                        </a:rPr>
                        <m:t> </m:t>
                      </m:r>
                      <m:r>
                        <m:rPr>
                          <m:nor/>
                        </m:rPr>
                        <a:rPr lang="en-US" b="0" i="1">
                          <a:latin typeface="Times New Roman" panose="02020603050405020304" pitchFamily="18" charset="0"/>
                          <a:cs typeface="Times New Roman" panose="02020603050405020304" pitchFamily="18" charset="0"/>
                        </a:rPr>
                        <m:t>Reads</m:t>
                      </m:r>
                    </m:oMath>
                  </m:oMathPara>
                </a14:m>
                <a:endParaRPr lang="en-US" b="0" dirty="0">
                  <a:latin typeface="Times New Roman" panose="02020603050405020304" pitchFamily="18" charset="0"/>
                  <a:cs typeface="Times New Roman" panose="02020603050405020304" pitchFamily="18" charset="0"/>
                </a:endParaRPr>
              </a:p>
              <a:p>
                <a:pPr>
                  <a:lnSpc>
                    <a:spcPct val="150000"/>
                  </a:lnSpc>
                  <a:buNone/>
                </a:pPr>
                <a:r>
                  <a:rPr lang="en-US" b="1" dirty="0">
                    <a:latin typeface="Times New Roman" panose="02020603050405020304" pitchFamily="18" charset="0"/>
                    <a:cs typeface="Times New Roman" panose="02020603050405020304" pitchFamily="18" charset="0"/>
                  </a:rPr>
                  <a:t>2. Estimating Disk Pages</a:t>
                </a:r>
                <a:endParaRPr lang="en-US" b="1" dirty="0">
                  <a:latin typeface="Times New Roman" panose="02020603050405020304" pitchFamily="18" charset="0"/>
                  <a:cs typeface="Times New Roman" panose="02020603050405020304" pitchFamily="18" charset="0"/>
                </a:endParaRPr>
              </a:p>
              <a:p>
                <a:pPr>
                  <a:lnSpc>
                    <a:spcPct val="150000"/>
                  </a:lnSpc>
                  <a:buNone/>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table is stored in pages/blocks</a:t>
                </a:r>
                <a:r>
                  <a:rPr lang="en-US" dirty="0">
                    <a:latin typeface="Times New Roman" panose="02020603050405020304" pitchFamily="18" charset="0"/>
                    <a:cs typeface="Times New Roman" panose="02020603050405020304" pitchFamily="18" charset="0"/>
                  </a:rPr>
                  <a:t>. For example:</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each page stores </a:t>
                </a:r>
                <a:r>
                  <a:rPr lang="en-US" b="1" dirty="0">
                    <a:latin typeface="Times New Roman" panose="02020603050405020304" pitchFamily="18" charset="0"/>
                    <a:cs typeface="Times New Roman" panose="02020603050405020304" pitchFamily="18" charset="0"/>
                  </a:rPr>
                  <a:t>100 rows</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And your table has </a:t>
                </a:r>
                <a:r>
                  <a:rPr lang="en-US" b="1" dirty="0">
                    <a:latin typeface="Times New Roman" panose="02020603050405020304" pitchFamily="18" charset="0"/>
                    <a:cs typeface="Times New Roman" panose="02020603050405020304" pitchFamily="18" charset="0"/>
                  </a:rPr>
                  <a:t>10,000 rows</a:t>
                </a:r>
                <a:endParaRPr lang="en-US" dirty="0">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Then </a:t>
                </a:r>
                <a:r>
                  <a:rPr lang="en-US" b="1" dirty="0">
                    <a:latin typeface="Times New Roman" panose="02020603050405020304" pitchFamily="18" charset="0"/>
                    <a:cs typeface="Times New Roman" panose="02020603050405020304" pitchFamily="18" charset="0"/>
                  </a:rPr>
                  <a:t>Pages = 10000 / 100 = 100 pages</a:t>
                </a:r>
                <a:endParaRPr lang="en-US" dirty="0">
                  <a:latin typeface="Times New Roman" panose="02020603050405020304" pitchFamily="18" charset="0"/>
                  <a:cs typeface="Times New Roman" panose="02020603050405020304" pitchFamily="18" charset="0"/>
                </a:endParaRPr>
              </a:p>
            </p:txBody>
          </p:sp>
        </mc:Choice>
        <mc:Fallback>
          <p:sp>
            <p:nvSpPr>
              <p:cNvPr id="6" name="TextBox 5"/>
              <p:cNvSpPr txBox="1">
                <a:spLocks noRot="1" noChangeAspect="1" noMove="1" noResize="1" noEditPoints="1" noAdjustHandles="1" noChangeArrowheads="1" noChangeShapeType="1" noTextEdit="1"/>
              </p:cNvSpPr>
              <p:nvPr/>
            </p:nvSpPr>
            <p:spPr>
              <a:xfrm>
                <a:off x="318052" y="1472992"/>
                <a:ext cx="6096000" cy="4197559"/>
              </a:xfrm>
              <a:prstGeom prst="rect">
                <a:avLst/>
              </a:prstGeom>
              <a:blipFill rotWithShape="1">
                <a:blip r:embed="rId1"/>
                <a:stretch>
                  <a:fillRect l="-9" t="-10" r="9" b="-1225"/>
                </a:stretch>
              </a:blipFill>
            </p:spPr>
            <p:txBody>
              <a:bodyPr/>
              <a:lstStyle/>
              <a:p>
                <a:r>
                  <a:rPr lang="en-GB" altLang="en-US">
                    <a:noFill/>
                  </a:rPr>
                  <a:t> </a:t>
                </a:r>
              </a:p>
            </p:txBody>
          </p:sp>
        </mc:Fallback>
      </mc:AlternateContent>
      <p:sp>
        <p:nvSpPr>
          <p:cNvPr id="8" name="TextBox 7"/>
          <p:cNvSpPr txBox="1"/>
          <p:nvPr/>
        </p:nvSpPr>
        <p:spPr>
          <a:xfrm>
            <a:off x="5168348" y="1211470"/>
            <a:ext cx="7023652" cy="5444054"/>
          </a:xfrm>
          <a:prstGeom prst="rect">
            <a:avLst/>
          </a:prstGeom>
          <a:noFill/>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 3. Cost Example — Selection Query</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Query:</a:t>
            </a:r>
            <a:endParaRPr lang="en-US" dirty="0">
              <a:latin typeface="Times New Roman" panose="02020603050405020304" pitchFamily="18" charset="0"/>
              <a:cs typeface="Times New Roman" panose="02020603050405020304" pitchFamily="18" charset="0"/>
            </a:endParaRPr>
          </a:p>
          <a:p>
            <a:pPr>
              <a:lnSpc>
                <a:spcPct val="150000"/>
              </a:lnSpc>
            </a:pPr>
            <a:r>
              <a:rPr lang="en-US" dirty="0">
                <a:solidFill>
                  <a:schemeClr val="accent1"/>
                </a:solidFill>
                <a:latin typeface="Times New Roman" panose="02020603050405020304" pitchFamily="18" charset="0"/>
                <a:cs typeface="Times New Roman" panose="02020603050405020304" pitchFamily="18" charset="0"/>
              </a:rPr>
              <a:t>SELECT * FROM Students WHERE Dept = 'CS’;</a:t>
            </a:r>
            <a:endParaRPr lang="en-US"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dirty="0">
                <a:solidFill>
                  <a:schemeClr val="accent1"/>
                </a:solidFill>
                <a:latin typeface="Times New Roman" panose="02020603050405020304" pitchFamily="18" charset="0"/>
                <a:cs typeface="Times New Roman" panose="02020603050405020304" pitchFamily="18" charset="0"/>
              </a:rPr>
              <a:t>Case </a:t>
            </a:r>
            <a:endParaRPr lang="en-US"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1: </a:t>
            </a:r>
            <a:r>
              <a:rPr lang="en-US" b="1" dirty="0">
                <a:solidFill>
                  <a:schemeClr val="accent1"/>
                </a:solidFill>
                <a:latin typeface="Times New Roman" panose="02020603050405020304" pitchFamily="18" charset="0"/>
                <a:cs typeface="Times New Roman" panose="02020603050405020304" pitchFamily="18" charset="0"/>
              </a:rPr>
              <a:t>No Index </a:t>
            </a:r>
            <a:r>
              <a:rPr lang="en-US" dirty="0">
                <a:latin typeface="Times New Roman" panose="02020603050405020304" pitchFamily="18" charset="0"/>
                <a:cs typeface="Times New Roman" panose="02020603050405020304" pitchFamily="18" charset="0"/>
              </a:rPr>
              <a:t>→ Full Table Scan</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Pages = 100Cost = Read all 100 pages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Case </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2: </a:t>
            </a:r>
            <a:r>
              <a:rPr lang="en-US" dirty="0">
                <a:solidFill>
                  <a:schemeClr val="accent1"/>
                </a:solidFill>
                <a:latin typeface="Times New Roman" panose="02020603050405020304" pitchFamily="18" charset="0"/>
                <a:cs typeface="Times New Roman" panose="02020603050405020304" pitchFamily="18" charset="0"/>
              </a:rPr>
              <a:t>With Index on Dept: </a:t>
            </a:r>
            <a:endParaRPr lang="en-US"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Suppose only 10% students are CS (1000 rows → 10 pages)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Index Lookup Cost ≈ 2 pages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Fetch matching rows ≈ 10 pages</a:t>
            </a: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Total Cost = 2 + 10 = 12 pages</a:t>
            </a:r>
            <a:endParaRPr lang="en-US" dirty="0">
              <a:latin typeface="Times New Roman" panose="02020603050405020304" pitchFamily="18" charset="0"/>
              <a:cs typeface="Times New Roman" panose="02020603050405020304" pitchFamily="18" charset="0"/>
            </a:endParaRPr>
          </a:p>
          <a:p>
            <a:pPr>
              <a:lnSpc>
                <a:spcPct val="150000"/>
              </a:lnSpc>
            </a:pPr>
            <a:r>
              <a:rPr lang="en-US" b="1" dirty="0">
                <a:solidFill>
                  <a:schemeClr val="accent1"/>
                </a:solidFill>
                <a:latin typeface="Times New Roman" panose="02020603050405020304" pitchFamily="18" charset="0"/>
                <a:cs typeface="Times New Roman" panose="02020603050405020304" pitchFamily="18" charset="0"/>
              </a:rPr>
              <a:t>Optimizer chooses index plan (12 &lt; 100)</a:t>
            </a:r>
            <a:endParaRPr lang="en-US" b="1"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1" end="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
                                            <p:txEl>
                                              <p:pRg st="4" end="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
                                            <p:txEl>
                                              <p:pRg st="5" end="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
                                            <p:txEl>
                                              <p:pRg st="6" end="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
                                            <p:txEl>
                                              <p:pRg st="7" end="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xEl>
                                              <p:pRg st="8" end="8"/>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
                                            <p:txEl>
                                              <p:pRg st="9" end="9"/>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
                                            <p:txEl>
                                              <p:pRg st="10" end="10"/>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
                                            <p:txEl>
                                              <p:pRg st="11" end="11"/>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678" y="136525"/>
            <a:ext cx="10515600" cy="668545"/>
          </a:xfrm>
        </p:spPr>
        <p:txBody>
          <a:bodyPr>
            <a:normAutofit/>
          </a:bodyPr>
          <a:lstStyle/>
          <a:p>
            <a:pPr algn="ctr"/>
            <a:r>
              <a:rPr lang="en-US" sz="4000" dirty="0">
                <a:latin typeface="Times New Roman" panose="02020603050405020304" pitchFamily="18" charset="0"/>
                <a:cs typeface="Times New Roman" panose="02020603050405020304" pitchFamily="18" charset="0"/>
              </a:rPr>
              <a:t>CBO… </a:t>
            </a:r>
            <a:endParaRPr lang="en-US" sz="400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64874" y="791955"/>
                <a:ext cx="5676900" cy="592952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4. Cost Example — Join Operation</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Suppose:- </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Option 1: Nested Loop Join (Worst Case)</a:t>
                </a:r>
                <a:endParaRPr lang="en-US"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14:m>
                  <m:oMath xmlns:m="http://schemas.openxmlformats.org/officeDocument/2006/math">
                    <m:r>
                      <m:rPr>
                        <m:nor/>
                      </m:rPr>
                      <a:rPr lang="en-US" sz="2400" b="0">
                        <a:latin typeface="Times New Roman" panose="02020603050405020304" pitchFamily="18" charset="0"/>
                        <a:cs typeface="Times New Roman" panose="02020603050405020304" pitchFamily="18" charset="0"/>
                      </a:rPr>
                      <m:t>Cost</m:t>
                    </m:r>
                    <m:r>
                      <a:rPr lang="en-US" sz="2400">
                        <a:latin typeface="Cambria Math" panose="02040503050406030204" pitchFamily="18" charset="0"/>
                      </a:rPr>
                      <m:t>=</m:t>
                    </m:r>
                    <m:r>
                      <m:rPr>
                        <m:nor/>
                      </m:rPr>
                      <a:rPr lang="en-US" sz="2400" i="1">
                        <a:latin typeface="Times New Roman" panose="02020603050405020304" pitchFamily="18" charset="0"/>
                        <a:cs typeface="Times New Roman" panose="02020603050405020304" pitchFamily="18" charset="0"/>
                      </a:rPr>
                      <m:t>Pages</m:t>
                    </m:r>
                    <m:r>
                      <m:rPr>
                        <m:nor/>
                      </m:rPr>
                      <a:rPr lang="en-US" sz="2400" i="1">
                        <a:latin typeface="Times New Roman" panose="02020603050405020304" pitchFamily="18" charset="0"/>
                        <a:cs typeface="Times New Roman" panose="02020603050405020304" pitchFamily="18" charset="0"/>
                      </a:rPr>
                      <m:t> </m:t>
                    </m:r>
                    <m:r>
                      <m:rPr>
                        <m:nor/>
                      </m:rPr>
                      <a:rPr lang="en-US" sz="2400" i="1">
                        <a:latin typeface="Times New Roman" panose="02020603050405020304" pitchFamily="18" charset="0"/>
                        <a:cs typeface="Times New Roman" panose="02020603050405020304" pitchFamily="18" charset="0"/>
                      </a:rPr>
                      <m:t>of</m:t>
                    </m:r>
                    <m:r>
                      <m:rPr>
                        <m:nor/>
                      </m:rPr>
                      <a:rPr lang="en-US" sz="2400" i="1">
                        <a:latin typeface="Times New Roman" panose="02020603050405020304" pitchFamily="18" charset="0"/>
                        <a:cs typeface="Times New Roman" panose="02020603050405020304" pitchFamily="18" charset="0"/>
                      </a:rPr>
                      <m:t> </m:t>
                    </m:r>
                    <m:r>
                      <m:rPr>
                        <m:nor/>
                      </m:rPr>
                      <a:rPr lang="en-US" sz="2400" i="1">
                        <a:latin typeface="Times New Roman" panose="02020603050405020304" pitchFamily="18" charset="0"/>
                        <a:cs typeface="Times New Roman" panose="02020603050405020304" pitchFamily="18" charset="0"/>
                      </a:rPr>
                      <m:t>Students</m:t>
                    </m:r>
                    <m:r>
                      <a:rPr lang="en-US" sz="2400">
                        <a:latin typeface="Cambria Math" panose="02040503050406030204" pitchFamily="18" charset="0"/>
                      </a:rPr>
                      <m:t>×</m:t>
                    </m:r>
                    <m:r>
                      <m:rPr>
                        <m:nor/>
                      </m:rPr>
                      <a:rPr lang="en-US" sz="2400" i="1">
                        <a:latin typeface="Times New Roman" panose="02020603050405020304" pitchFamily="18" charset="0"/>
                        <a:cs typeface="Times New Roman" panose="02020603050405020304" pitchFamily="18" charset="0"/>
                      </a:rPr>
                      <m:t>Pages</m:t>
                    </m:r>
                    <m:r>
                      <m:rPr>
                        <m:nor/>
                      </m:rPr>
                      <a:rPr lang="en-US" sz="2400" i="1">
                        <a:latin typeface="Times New Roman" panose="02020603050405020304" pitchFamily="18" charset="0"/>
                        <a:cs typeface="Times New Roman" panose="02020603050405020304" pitchFamily="18" charset="0"/>
                      </a:rPr>
                      <m:t> </m:t>
                    </m:r>
                    <m:r>
                      <m:rPr>
                        <m:nor/>
                      </m:rPr>
                      <a:rPr lang="en-US" sz="2400" i="1">
                        <a:latin typeface="Times New Roman" panose="02020603050405020304" pitchFamily="18" charset="0"/>
                        <a:cs typeface="Times New Roman" panose="02020603050405020304" pitchFamily="18" charset="0"/>
                      </a:rPr>
                      <m:t>of</m:t>
                    </m:r>
                    <m:r>
                      <m:rPr>
                        <m:nor/>
                      </m:rPr>
                      <a:rPr lang="en-US" sz="2400" i="1">
                        <a:latin typeface="Times New Roman" panose="02020603050405020304" pitchFamily="18" charset="0"/>
                        <a:cs typeface="Times New Roman" panose="02020603050405020304" pitchFamily="18" charset="0"/>
                      </a:rPr>
                      <m:t> </m:t>
                    </m:r>
                    <m:r>
                      <m:rPr>
                        <m:nor/>
                      </m:rPr>
                      <a:rPr lang="en-US" sz="2400" i="1">
                        <a:latin typeface="Times New Roman" panose="02020603050405020304" pitchFamily="18" charset="0"/>
                        <a:cs typeface="Times New Roman" panose="02020603050405020304" pitchFamily="18" charset="0"/>
                      </a:rPr>
                      <m:t>Departments</m:t>
                    </m:r>
                  </m:oMath>
                </a14:m>
                <a:endParaRPr lang="en-US" sz="2400" i="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a:t>
                </a:r>
                <a14:m>
                  <m:oMath xmlns:m="http://schemas.openxmlformats.org/officeDocument/2006/math">
                    <m:r>
                      <a:rPr lang="en-US" sz="2400">
                        <a:latin typeface="Cambria Math" panose="02040503050406030204" pitchFamily="18" charset="0"/>
                      </a:rPr>
                      <m:t>=</m:t>
                    </m:r>
                    <m:r>
                      <a:rPr lang="en-US" sz="2400">
                        <a:latin typeface="Cambria Math" panose="02040503050406030204" pitchFamily="18" charset="0"/>
                      </a:rPr>
                      <m:t>100</m:t>
                    </m:r>
                    <m:r>
                      <a:rPr lang="en-US" sz="2400">
                        <a:latin typeface="Cambria Math" panose="02040503050406030204" pitchFamily="18" charset="0"/>
                      </a:rPr>
                      <m:t>×</m:t>
                    </m:r>
                    <m:r>
                      <a:rPr lang="en-US" sz="2400">
                        <a:latin typeface="Cambria Math" panose="02040503050406030204" pitchFamily="18" charset="0"/>
                      </a:rPr>
                      <m:t>2</m:t>
                    </m:r>
                    <m:r>
                      <a:rPr lang="en-US" sz="2400">
                        <a:latin typeface="Cambria Math" panose="02040503050406030204" pitchFamily="18" charset="0"/>
                      </a:rPr>
                      <m:t>=</m:t>
                    </m:r>
                    <m:r>
                      <a:rPr lang="en-US" sz="2400">
                        <a:latin typeface="Cambria Math" panose="02040503050406030204" pitchFamily="18" charset="0"/>
                      </a:rPr>
                      <m:t>200</m:t>
                    </m:r>
                    <m:r>
                      <a:rPr lang="en-US" sz="2400" i="1">
                        <a:latin typeface="Cambria Math" panose="02040503050406030204" pitchFamily="18" charset="0"/>
                      </a:rPr>
                      <m:t>𝑝𝑎𝑔𝑒𝑟𝑒𝑎𝑑𝑠</m:t>
                    </m:r>
                  </m:oMath>
                </a14:m>
                <a:endParaRPr lang="en-US" sz="2400" b="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Rot="1" noChangeAspect="1" noMove="1" noResize="1" noEditPoints="1" noAdjustHandles="1" noChangeArrowheads="1" noChangeShapeType="1" noTextEdit="1"/>
              </p:cNvSpPr>
              <p:nvPr>
                <p:ph idx="1"/>
              </p:nvPr>
            </p:nvSpPr>
            <p:spPr>
              <a:xfrm>
                <a:off x="564874" y="791955"/>
                <a:ext cx="5676900" cy="5929520"/>
              </a:xfrm>
              <a:blipFill rotWithShape="1">
                <a:blip r:embed="rId1"/>
                <a:stretch>
                  <a:fillRect l="-6" t="-2" r="6"/>
                </a:stretch>
              </a:blipFill>
            </p:spPr>
            <p:txBody>
              <a:bodyPr/>
              <a:lstStyle/>
              <a:p>
                <a:r>
                  <a:rPr lang="en-GB" altLang="en-US">
                    <a:noFill/>
                  </a:rPr>
                  <a:t> </a:t>
                </a:r>
              </a:p>
            </p:txBody>
          </p:sp>
        </mc:Fallback>
      </mc:AlternateContent>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graphicFrame>
        <p:nvGraphicFramePr>
          <p:cNvPr id="7" name="Table 6"/>
          <p:cNvGraphicFramePr>
            <a:graphicFrameLocks noGrp="1"/>
          </p:cNvGraphicFramePr>
          <p:nvPr/>
        </p:nvGraphicFramePr>
        <p:xfrm>
          <a:off x="564874" y="1620162"/>
          <a:ext cx="3723256" cy="1097280"/>
        </p:xfrm>
        <a:graphic>
          <a:graphicData uri="http://schemas.openxmlformats.org/drawingml/2006/table">
            <a:tbl>
              <a:tblPr>
                <a:tableStyleId>{7DF18680-E054-41AD-8BC1-D1AEF772440D}</a:tableStyleId>
              </a:tblPr>
              <a:tblGrid>
                <a:gridCol w="1457135"/>
                <a:gridCol w="2266121"/>
              </a:tblGrid>
              <a:tr h="164534">
                <a:tc>
                  <a:txBody>
                    <a:bodyPr/>
                    <a:lstStyle/>
                    <a:p>
                      <a:pPr>
                        <a:buNone/>
                      </a:pPr>
                      <a:r>
                        <a:rPr lang="en-US" dirty="0"/>
                        <a:t>Table</a:t>
                      </a:r>
                      <a:endParaRPr lang="en-US" dirty="0"/>
                    </a:p>
                  </a:txBody>
                  <a:tcPr anchor="ctr"/>
                </a:tc>
                <a:tc>
                  <a:txBody>
                    <a:bodyPr/>
                    <a:lstStyle/>
                    <a:p>
                      <a:pPr>
                        <a:buNone/>
                      </a:pPr>
                      <a:r>
                        <a:rPr lang="en-US" dirty="0"/>
                        <a:t>Pages</a:t>
                      </a:r>
                      <a:endParaRPr lang="en-US" dirty="0"/>
                    </a:p>
                  </a:txBody>
                  <a:tcPr anchor="ctr"/>
                </a:tc>
              </a:tr>
              <a:tr h="143330">
                <a:tc>
                  <a:txBody>
                    <a:bodyPr/>
                    <a:lstStyle/>
                    <a:p>
                      <a:pPr>
                        <a:buNone/>
                      </a:pPr>
                      <a:r>
                        <a:rPr lang="en-US" dirty="0"/>
                        <a:t>Students</a:t>
                      </a:r>
                      <a:endParaRPr lang="en-US" dirty="0"/>
                    </a:p>
                  </a:txBody>
                  <a:tcPr anchor="ctr"/>
                </a:tc>
                <a:tc>
                  <a:txBody>
                    <a:bodyPr/>
                    <a:lstStyle/>
                    <a:p>
                      <a:pPr>
                        <a:buNone/>
                      </a:pPr>
                      <a:r>
                        <a:rPr lang="en-US" dirty="0"/>
                        <a:t>100 pages</a:t>
                      </a:r>
                      <a:endParaRPr lang="en-US" dirty="0"/>
                    </a:p>
                  </a:txBody>
                  <a:tcPr anchor="ctr"/>
                </a:tc>
              </a:tr>
              <a:tr h="0">
                <a:tc>
                  <a:txBody>
                    <a:bodyPr/>
                    <a:lstStyle/>
                    <a:p>
                      <a:pPr>
                        <a:buNone/>
                      </a:pPr>
                      <a:r>
                        <a:rPr lang="en-US" dirty="0"/>
                        <a:t>Departments</a:t>
                      </a:r>
                      <a:endParaRPr lang="en-US" dirty="0"/>
                    </a:p>
                  </a:txBody>
                  <a:tcPr anchor="ctr"/>
                </a:tc>
                <a:tc>
                  <a:txBody>
                    <a:bodyPr/>
                    <a:lstStyle/>
                    <a:p>
                      <a:pPr>
                        <a:buNone/>
                      </a:pPr>
                      <a:r>
                        <a:rPr lang="en-US" dirty="0"/>
                        <a:t>2 pages</a:t>
                      </a:r>
                      <a:endParaRPr lang="en-US" dirty="0"/>
                    </a:p>
                  </a:txBody>
                  <a:tcPr anchor="ctr"/>
                </a:tc>
              </a:tr>
            </a:tbl>
          </a:graphicData>
        </a:graphic>
      </p:graphicFrame>
      <p:sp>
        <p:nvSpPr>
          <p:cNvPr id="9" name="TextBox 8"/>
          <p:cNvSpPr txBox="1"/>
          <p:nvPr/>
        </p:nvSpPr>
        <p:spPr>
          <a:xfrm>
            <a:off x="6307361" y="1190496"/>
            <a:ext cx="5676900" cy="5011949"/>
          </a:xfrm>
          <a:prstGeom prst="rect">
            <a:avLst/>
          </a:prstGeom>
          <a:noFill/>
        </p:spPr>
        <p:txBody>
          <a:bodyPr wrap="square">
            <a:spAutoFit/>
          </a:bodyPr>
          <a:lstStyle/>
          <a:p>
            <a:pPr>
              <a:lnSpc>
                <a:spcPct val="150000"/>
              </a:lnSpc>
            </a:pPr>
            <a:r>
              <a:rPr lang="en-US" sz="2400" dirty="0">
                <a:latin typeface="Times New Roman" panose="02020603050405020304" pitchFamily="18" charset="0"/>
                <a:cs typeface="Times New Roman" panose="02020603050405020304" pitchFamily="18" charset="0"/>
              </a:rPr>
              <a:t>Option 2: Index Nested Loop Join</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If </a:t>
            </a:r>
            <a:r>
              <a:rPr lang="en-US" sz="2400" dirty="0" err="1">
                <a:latin typeface="Times New Roman" panose="02020603050405020304" pitchFamily="18" charset="0"/>
                <a:cs typeface="Times New Roman" panose="02020603050405020304" pitchFamily="18" charset="0"/>
              </a:rPr>
              <a:t>DeptID</a:t>
            </a:r>
            <a:r>
              <a:rPr lang="en-US" sz="2400" dirty="0">
                <a:latin typeface="Times New Roman" panose="02020603050405020304" pitchFamily="18" charset="0"/>
                <a:cs typeface="Times New Roman" panose="02020603050405020304" pitchFamily="18" charset="0"/>
              </a:rPr>
              <a:t> in Departments is indexed:</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"Cost"="Pages of Students"+("Rows of Students" ×"Index Lookup Cost" )</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Assuming 10,000 students, each index lookup = 1 page</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100+(10ⓜ,000×1/100)≈200𝑝𝑎𝑔𝑒𝑠</a:t>
            </a:r>
            <a:endParaRPr lang="en-US" sz="2400"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anose="02020603050405020304" pitchFamily="18" charset="0"/>
                <a:cs typeface="Times New Roman" panose="02020603050405020304" pitchFamily="18" charset="0"/>
              </a:rPr>
              <a:t>(If selectivity is used to reduce rows first; cost becomes much lower!)</a:t>
            </a:r>
            <a:endParaRPr lang="en-US" sz="2400" dirty="0">
              <a:latin typeface="Times New Roman" panose="02020603050405020304" pitchFamily="18" charset="0"/>
              <a:cs typeface="Times New Roman" panose="02020603050405020304" pitchFamily="18" charset="0"/>
            </a:endParaRPr>
          </a:p>
        </p:txBody>
      </p:sp>
      <p:sp>
        <p:nvSpPr>
          <p:cNvPr id="10" name="Rectangle 9"/>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0472" y="181132"/>
            <a:ext cx="10515600" cy="555625"/>
          </a:xfrm>
        </p:spPr>
        <p:txBody>
          <a:bodyPr/>
          <a:lstStyle/>
          <a:p>
            <a:pPr algn="ctr"/>
            <a:r>
              <a:rPr lang="en-US"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Semantic Query Optimization:</a:t>
            </a:r>
            <a:endParaRPr lang="en-US"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5160" y="921385"/>
            <a:ext cx="11277600" cy="5434330"/>
          </a:xfrm>
        </p:spPr>
        <p:txBody>
          <a:bodyPr>
            <a:noAutofit/>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Uses </a:t>
            </a:r>
            <a:r>
              <a:rPr lang="en-US" sz="2000" dirty="0">
                <a:solidFill>
                  <a:srgbClr val="FF0000"/>
                </a:solidFill>
                <a:latin typeface="Times New Roman" panose="02020603050405020304" pitchFamily="18" charset="0"/>
                <a:cs typeface="Times New Roman" panose="02020603050405020304" pitchFamily="18" charset="0"/>
              </a:rPr>
              <a:t>constraints specified on the database schema in order to modify</a:t>
            </a:r>
            <a:r>
              <a:rPr lang="en-US" sz="2000" dirty="0">
                <a:latin typeface="Times New Roman" panose="02020603050405020304" pitchFamily="18" charset="0"/>
                <a:cs typeface="Times New Roman" panose="02020603050405020304" pitchFamily="18" charset="0"/>
              </a:rPr>
              <a:t> one query into another query that is more efficient to execute.  </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Consider the following SQL query, SELECT E. LNAME, M. LNAME FROM EMPLOYEE E M WHERE E. SUPERSSN=M.SSN AND E. SALARY&gt;M.SALARY </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Explanation:</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Suppose that we had a constraint on the database schema that stated that no employee can earn more than his or her direct supervisor. </a:t>
            </a:r>
            <a:endParaRPr lang="en-US" sz="2000" dirty="0">
              <a:latin typeface="Times New Roman" panose="02020603050405020304" pitchFamily="18" charset="0"/>
              <a:cs typeface="Times New Roman" panose="02020603050405020304" pitchFamily="18" charset="0"/>
            </a:endParaRPr>
          </a:p>
          <a:p>
            <a:pPr marL="0" indent="0">
              <a:lnSpc>
                <a:spcPct val="150000"/>
              </a:lnSpc>
              <a:buNone/>
            </a:pPr>
            <a:r>
              <a:rPr lang="en-US" sz="2000" dirty="0">
                <a:latin typeface="Times New Roman" panose="02020603050405020304" pitchFamily="18" charset="0"/>
                <a:cs typeface="Times New Roman" panose="02020603050405020304" pitchFamily="18" charset="0"/>
              </a:rPr>
              <a:t>If the semantic query optimizer checks for the existence of this constraint, it need not execute the query at all because it knows that the result of the query will be empty. Techniques known as theorem proving can be used for this purpose.</a:t>
            </a:r>
            <a:endParaRPr lang="en-US"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562B4C7C-EF45-43C3-A509-CBD9E58B894D}" type="slidenum">
              <a:rPr lang="en-US" smtClean="0"/>
            </a:fld>
            <a:endParaRPr lang="en-US"/>
          </a:p>
        </p:txBody>
      </p:sp>
      <p:sp>
        <p:nvSpPr>
          <p:cNvPr id="5" name="Rectangle 4"/>
          <p:cNvSpPr/>
          <p:nvPr/>
        </p:nvSpPr>
        <p:spPr>
          <a:xfrm>
            <a:off x="20965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6103729" y="646488"/>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cov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l"/>
            <a:r>
              <a:rPr lang="en-US" sz="3600">
                <a:latin typeface="Times New Roman" panose="02020603050405020304" pitchFamily="18" charset="0"/>
                <a:cs typeface="Times New Roman" panose="02020603050405020304" pitchFamily="18" charset="0"/>
              </a:rPr>
              <a:t>		Exersice (5%)</a:t>
            </a:r>
            <a:r>
              <a:rPr lang="en-US"/>
              <a:t> </a:t>
            </a:r>
            <a:endParaRPr lang="en-US"/>
          </a:p>
        </p:txBody>
      </p:sp>
      <p:sp>
        <p:nvSpPr>
          <p:cNvPr id="7" name="Rectangle 6"/>
          <p:cNvSpPr/>
          <p:nvPr/>
        </p:nvSpPr>
        <p:spPr>
          <a:xfrm>
            <a:off x="74930" y="1284824"/>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28055" y="1284725"/>
            <a:ext cx="5664200" cy="90269"/>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txBox="1"/>
          <p:nvPr/>
        </p:nvSpPr>
        <p:spPr>
          <a:xfrm>
            <a:off x="247650" y="1569085"/>
            <a:ext cx="11697335" cy="163449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n-US" sz="1800" b="1" dirty="0">
                <a:solidFill>
                  <a:srgbClr val="002060"/>
                </a:solidFill>
                <a:latin typeface="Adobe Kaiti Std R" panose="02020400000000000000" pitchFamily="18" charset="-128"/>
                <a:ea typeface="Adobe Kaiti Std R" panose="02020400000000000000" pitchFamily="18" charset="-128"/>
              </a:rPr>
              <a:t>Examples for query Optimization: Identify all managers who work in a London branch  </a:t>
            </a:r>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r>
              <a:rPr lang="en-US" sz="1800" b="1" dirty="0">
                <a:solidFill>
                  <a:srgbClr val="002060"/>
                </a:solidFill>
                <a:latin typeface="Adobe Kaiti Std R" panose="02020400000000000000" pitchFamily="18" charset="-128"/>
                <a:ea typeface="Adobe Kaiti Std R" panose="02020400000000000000" pitchFamily="18" charset="-128"/>
              </a:rPr>
              <a:t>SQL: - SELECT * FROM Staff s, Branch b WHERE s.branchNo = b.branchNo AND  s.position = ‘Manager’ AND  b.city = ‘london’;</a:t>
            </a:r>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r>
              <a:rPr lang="en-US" sz="1800" b="1" dirty="0">
                <a:solidFill>
                  <a:srgbClr val="002060"/>
                </a:solidFill>
                <a:latin typeface="Adobe Kaiti Std R" panose="02020400000000000000" pitchFamily="18" charset="-128"/>
                <a:ea typeface="Adobe Kaiti Std R" panose="02020400000000000000" pitchFamily="18" charset="-128"/>
              </a:rPr>
              <a:t> 	Results in these equivalent relational algebra statements</a:t>
            </a:r>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r>
              <a:rPr lang="en-US" sz="1800" b="1" dirty="0">
                <a:solidFill>
                  <a:srgbClr val="002060"/>
                </a:solidFill>
                <a:latin typeface="Adobe Kaiti Std R" panose="02020400000000000000" pitchFamily="18" charset="-128"/>
                <a:ea typeface="Adobe Kaiti Std R" panose="02020400000000000000" pitchFamily="18" charset="-128"/>
              </a:rPr>
              <a:t>	</a:t>
            </a:r>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a:p>
            <a:pPr algn="l"/>
            <a:endParaRPr lang="en-US" sz="1800" b="1" dirty="0">
              <a:solidFill>
                <a:srgbClr val="002060"/>
              </a:solidFill>
              <a:latin typeface="Adobe Kaiti Std R" panose="02020400000000000000" pitchFamily="18" charset="-128"/>
              <a:ea typeface="Adobe Kaiti Std R" panose="02020400000000000000" pitchFamily="18" charset="-128"/>
            </a:endParaRPr>
          </a:p>
        </p:txBody>
      </p:sp>
      <p:sp>
        <p:nvSpPr>
          <p:cNvPr id="12" name="Slide Number Placeholder 11"/>
          <p:cNvSpPr>
            <a:spLocks noGrp="1"/>
          </p:cNvSpPr>
          <p:nvPr>
            <p:ph type="sldNum" sz="quarter" idx="12"/>
          </p:nvPr>
        </p:nvSpPr>
        <p:spPr/>
        <p:txBody>
          <a:bodyPr/>
          <a:lstStyle/>
          <a:p>
            <a:fld id="{562B4C7C-EF45-43C3-A509-CBD9E58B894D}" type="slidenum">
              <a:rPr lang="en-US" smtClean="0"/>
            </a:fld>
            <a:endParaRPr lang="en-US"/>
          </a:p>
        </p:txBody>
      </p:sp>
      <p:pic>
        <p:nvPicPr>
          <p:cNvPr id="2" name="Content Placeholder 1"/>
          <p:cNvPicPr>
            <a:picLocks noGrp="1" noChangeAspect="1"/>
          </p:cNvPicPr>
          <p:nvPr>
            <p:ph sz="half" idx="1"/>
          </p:nvPr>
        </p:nvPicPr>
        <p:blipFill>
          <a:blip r:embed="rId1"/>
          <a:stretch>
            <a:fillRect/>
          </a:stretch>
        </p:blipFill>
        <p:spPr>
          <a:xfrm>
            <a:off x="838200" y="3432810"/>
            <a:ext cx="7642225" cy="2366645"/>
          </a:xfrm>
          <a:prstGeom prst="rect">
            <a:avLst/>
          </a:prstGeom>
        </p:spPr>
      </p:pic>
      <p:pic>
        <p:nvPicPr>
          <p:cNvPr id="4" name="Content Placeholder 3"/>
          <p:cNvPicPr>
            <a:picLocks noGrp="1" noChangeAspect="1"/>
          </p:cNvPicPr>
          <p:nvPr>
            <p:ph sz="half" idx="2"/>
          </p:nvPr>
        </p:nvPicPr>
        <p:blipFill>
          <a:blip r:embed="rId2"/>
          <a:stretch>
            <a:fillRect/>
          </a:stretch>
        </p:blipFill>
        <p:spPr>
          <a:xfrm>
            <a:off x="7724140" y="4515485"/>
            <a:ext cx="4220845" cy="1567180"/>
          </a:xfrm>
          <a:prstGeom prst="rect">
            <a:avLst/>
          </a:prstGeom>
        </p:spPr>
      </p:pic>
    </p:spTree>
  </p:cSld>
  <p:clrMapOvr>
    <a:masterClrMapping/>
  </p:clrMapOvr>
  <p:transition spd="slow">
    <p:cov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endParaRPr lang="en-US"/>
          </a:p>
        </p:txBody>
      </p:sp>
      <p:sp>
        <p:nvSpPr>
          <p:cNvPr id="3" name="Content Placeholder 2"/>
          <p:cNvSpPr>
            <a:spLocks noGrp="1"/>
          </p:cNvSpPr>
          <p:nvPr>
            <p:ph sz="half" idx="1"/>
          </p:nvPr>
        </p:nvSpPr>
        <p:spPr>
          <a:xfrm>
            <a:off x="2783205" y="3513455"/>
            <a:ext cx="5903595" cy="1851025"/>
          </a:xfrm>
        </p:spPr>
        <p:txBody>
          <a:bodyPr/>
          <a:lstStyle/>
          <a:p>
            <a:pPr marL="0" indent="0" algn="ctr">
              <a:buNone/>
            </a:pPr>
            <a:endParaRPr lang="en-US"/>
          </a:p>
          <a:p>
            <a:pPr marL="0" indent="0" algn="ctr">
              <a:buNone/>
            </a:pPr>
            <a:r>
              <a:rPr lang="en-US" b="1">
                <a:effectLst>
                  <a:outerShdw blurRad="38100" dist="38100" dir="2700000" algn="tl">
                    <a:srgbClr val="000000">
                      <a:alpha val="43137"/>
                    </a:srgbClr>
                  </a:outerShdw>
                </a:effectLst>
                <a:latin typeface="Bahnschrift SemiBold" panose="020B0502040204020203" charset="0"/>
                <a:cs typeface="Bahnschrift SemiBold" panose="020B0502040204020203" charset="0"/>
              </a:rPr>
              <a:t> END OF CHAPTER ONE</a:t>
            </a:r>
            <a:endParaRPr lang="en-US" b="1">
              <a:effectLst>
                <a:outerShdw blurRad="38100" dist="38100" dir="2700000" algn="tl">
                  <a:srgbClr val="000000">
                    <a:alpha val="43137"/>
                  </a:srgbClr>
                </a:outerShdw>
              </a:effectLst>
              <a:latin typeface="Bahnschrift SemiBold" panose="020B0502040204020203" charset="0"/>
              <a:cs typeface="Bahnschrift SemiBold" panose="020B0502040204020203" charset="0"/>
            </a:endParaRPr>
          </a:p>
        </p:txBody>
      </p:sp>
      <p:sp>
        <p:nvSpPr>
          <p:cNvPr id="4" name="Content Placeholder 3"/>
          <p:cNvSpPr>
            <a:spLocks noGrp="1"/>
          </p:cNvSpPr>
          <p:nvPr>
            <p:ph sz="half" idx="2"/>
          </p:nvPr>
        </p:nvSpPr>
        <p:spPr/>
        <p:txBody>
          <a:bodyPr/>
          <a:lstStyle/>
          <a:p>
            <a:pPr marL="0" indent="0">
              <a:buNone/>
            </a:pPr>
            <a:r>
              <a:rPr lang="en-US"/>
              <a:t>       </a:t>
            </a:r>
            <a:endParaRPr lang="en-US"/>
          </a:p>
        </p:txBody>
      </p:sp>
      <p:sp>
        <p:nvSpPr>
          <p:cNvPr id="5" name="Slide Number Placeholder 4"/>
          <p:cNvSpPr>
            <a:spLocks noGrp="1"/>
          </p:cNvSpPr>
          <p:nvPr>
            <p:ph type="sldNum" sz="quarter" idx="12"/>
          </p:nvPr>
        </p:nvSpPr>
        <p:spPr/>
        <p:txBody>
          <a:bodyPr/>
          <a:lstStyle/>
          <a:p>
            <a:fld id="{562B4C7C-EF45-43C3-A509-CBD9E58B894D}" type="slidenum">
              <a:rPr lang="en-US" smtClean="0"/>
            </a:fld>
            <a:endParaRPr lang="en-US"/>
          </a:p>
        </p:txBody>
      </p:sp>
    </p:spTree>
  </p:cSld>
  <p:clrMapOvr>
    <a:masterClrMapping/>
  </p:clrMapOvr>
  <p:transition spd="slow">
    <p:cove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Theme_vapor</Template>
  <TotalTime>0</TotalTime>
  <Words>21017</Words>
  <Application>WPS Presentation</Application>
  <PresentationFormat>Widescreen</PresentationFormat>
  <Paragraphs>994</Paragraphs>
  <Slides>50</Slides>
  <Notes>35</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50</vt:i4>
      </vt:variant>
    </vt:vector>
  </HeadingPairs>
  <TitlesOfParts>
    <vt:vector size="66" baseType="lpstr">
      <vt:lpstr>Arial</vt:lpstr>
      <vt:lpstr>SimSun</vt:lpstr>
      <vt:lpstr>Wingdings</vt:lpstr>
      <vt:lpstr>Times New Roman</vt:lpstr>
      <vt:lpstr>Tahoma</vt:lpstr>
      <vt:lpstr>Wingdings</vt:lpstr>
      <vt:lpstr>Cambria Math</vt:lpstr>
      <vt:lpstr>Calibri Light</vt:lpstr>
      <vt:lpstr>Microsoft YaHei</vt:lpstr>
      <vt:lpstr>Arial Unicode MS</vt:lpstr>
      <vt:lpstr>Calibri</vt:lpstr>
      <vt:lpstr>Adobe Kaiti Std R</vt:lpstr>
      <vt:lpstr>Yu Gothic UI Semilight</vt:lpstr>
      <vt:lpstr>Palatino Linotype</vt:lpstr>
      <vt:lpstr>Bahnschrift SemiBold</vt:lpstr>
      <vt:lpstr>Office Theme</vt:lpstr>
      <vt:lpstr>Advanced Database Management  (Advanced DBM) (ITec3071)</vt:lpstr>
      <vt:lpstr>PowerPoint 演示文稿</vt:lpstr>
      <vt:lpstr>Chapter Outline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Processing can be....</vt:lpstr>
      <vt:lpstr>   </vt:lpstr>
      <vt:lpstr>PowerPoint 演示文稿</vt:lpstr>
      <vt:lpstr>PowerPoint 演示文稿</vt:lpstr>
      <vt:lpstr>PowerPoint 演示文稿</vt:lpstr>
      <vt:lpstr>PowerPoint 演示文稿</vt:lpstr>
      <vt:lpstr>Cont’d...</vt:lpstr>
      <vt:lpstr>   </vt:lpstr>
      <vt:lpstr>Steps:1 Steps in converting a query tree during heuristic optimization. (a) Initial (canonical) query tree for SQL query Q.</vt:lpstr>
      <vt:lpstr>Step 2:  converting a query tree during heuristic optimization  (b) Moving SELECT operations down the query tree.</vt:lpstr>
      <vt:lpstr>Step 3: converting a query tree during heuristic optimization  (c) Applying the more restrictive SELECT operation first.</vt:lpstr>
      <vt:lpstr> Step 4: converting a query tree during heuristic optimization  (d) Replacing CARTESIAN PRODUCT and SELECT with JOIN operations.</vt:lpstr>
      <vt:lpstr> Step 5:  converting a query tree during heuristic optimization  (e) Moving PROJECT operations down the query tree</vt:lpstr>
      <vt:lpstr>Query graph</vt:lpstr>
      <vt:lpstr>Cont’d...</vt:lpstr>
      <vt:lpstr>		Cost-Based Optimization(CBO) 	Using Selectivity &amp; Cost Estimates</vt:lpstr>
      <vt:lpstr>CBO…</vt:lpstr>
      <vt:lpstr>How Cost is Calculated in Query Optimization </vt:lpstr>
      <vt:lpstr>CBO… </vt:lpstr>
      <vt:lpstr>Semantic Query Optimization:</vt:lpstr>
      <vt:lpstr>		Exersice (5%) </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MILKWAY</cp:lastModifiedBy>
  <cp:revision>414</cp:revision>
  <dcterms:created xsi:type="dcterms:W3CDTF">2018-07-08T13:35:00Z</dcterms:created>
  <dcterms:modified xsi:type="dcterms:W3CDTF">2025-11-17T16:03:26Z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4B8C735DF1F641BFA9713945830D3873</vt:lpwstr>
  </property>
  <property fmtid="{D5CDD505-2E9C-101B-9397-08002B2CF9AE}" pid="3" name="KSOProductBuildVer">
    <vt:lpwstr>2057-12.2.0.23155</vt:lpwstr>
  </property>
</Properties>
</file>